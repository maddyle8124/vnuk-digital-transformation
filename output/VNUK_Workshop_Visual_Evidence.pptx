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3.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4.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5.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c3b8671aaaf43ec" /><Relationship Type="http://schemas.openxmlformats.org/officeDocument/2006/relationships/extended-properties" Target="/docProps/app.xml" Id="R12e51e89d6e448e0" /><Relationship Type="http://schemas.openxmlformats.org/officeDocument/2006/relationships/officeDocument" Target="/ppt/presentation.xml" Id="R5ff64001788a45ea" /></Relationships>
</file>

<file path=ppt/presentation.xml><?xml version="1.0" encoding="utf-8"?>
<p:presentation xmlns:p="http://schemas.openxmlformats.org/presentationml/2006/main">
  <p:sldMasterIdLst>
    <p:sldMasterId xmlns:r="http://schemas.openxmlformats.org/officeDocument/2006/relationships" id="2147483648" r:id="R298d28dc03fd45b2"/>
  </p:sldMasterIdLst>
  <p:notesMasterIdLst>
    <p:notesMasterId xmlns:r="http://schemas.openxmlformats.org/officeDocument/2006/relationships" r:id="R5aa1e37882d94889"/>
  </p:notesMasterIdLst>
  <p:sldIdLst>
    <p:sldId xmlns:r="http://schemas.openxmlformats.org/officeDocument/2006/relationships" id="256" r:id="R9bf8a2e525ef474d"/>
    <p:sldId xmlns:r="http://schemas.openxmlformats.org/officeDocument/2006/relationships" id="257" r:id="Redc0026b8b034d3f"/>
    <p:sldId xmlns:r="http://schemas.openxmlformats.org/officeDocument/2006/relationships" id="258" r:id="R98dd3514731e46ce"/>
    <p:sldId xmlns:r="http://schemas.openxmlformats.org/officeDocument/2006/relationships" id="259" r:id="R82fb35a130974c7e"/>
    <p:sldId xmlns:r="http://schemas.openxmlformats.org/officeDocument/2006/relationships" id="260" r:id="R1e7054bd4f9b402a"/>
    <p:sldId xmlns:r="http://schemas.openxmlformats.org/officeDocument/2006/relationships" id="261" r:id="R215c0d7493594bd3"/>
    <p:sldId xmlns:r="http://schemas.openxmlformats.org/officeDocument/2006/relationships" id="262" r:id="R2cb56091279546d6"/>
    <p:sldId xmlns:r="http://schemas.openxmlformats.org/officeDocument/2006/relationships" id="263" r:id="R4b186c22865142c8"/>
    <p:sldId xmlns:r="http://schemas.openxmlformats.org/officeDocument/2006/relationships" id="264" r:id="R106e7b3048214157"/>
    <p:sldId xmlns:r="http://schemas.openxmlformats.org/officeDocument/2006/relationships" id="265" r:id="Rff19726db0c045d1"/>
    <p:sldId xmlns:r="http://schemas.openxmlformats.org/officeDocument/2006/relationships" id="266" r:id="Rfb461a56c808426a"/>
    <p:sldId xmlns:r="http://schemas.openxmlformats.org/officeDocument/2006/relationships" id="267" r:id="R3d13deba8d7b4b7d"/>
    <p:sldId xmlns:r="http://schemas.openxmlformats.org/officeDocument/2006/relationships" id="268" r:id="Ref8a652e83d54150"/>
    <p:sldId xmlns:r="http://schemas.openxmlformats.org/officeDocument/2006/relationships" id="269" r:id="Rcd2dc82e4d074150"/>
    <p:sldId xmlns:r="http://schemas.openxmlformats.org/officeDocument/2006/relationships" id="270" r:id="R569f6bb0e32a4389"/>
    <p:sldId xmlns:r="http://schemas.openxmlformats.org/officeDocument/2006/relationships" id="271" r:id="R82e91650abe949c3"/>
    <p:sldId xmlns:r="http://schemas.openxmlformats.org/officeDocument/2006/relationships" id="272" r:id="Rdaf059ea1c024309"/>
    <p:sldId xmlns:r="http://schemas.openxmlformats.org/officeDocument/2006/relationships" id="273" r:id="Rc8552731209e4921"/>
    <p:sldId xmlns:r="http://schemas.openxmlformats.org/officeDocument/2006/relationships" id="274" r:id="R80fa69baf23e41b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1d265b46535446d" /><Relationship Type="http://schemas.openxmlformats.org/officeDocument/2006/relationships/slideMaster" Target="/ppt/slideMasters/slideMaster1.xml" Id="R298d28dc03fd45b2" /><Relationship Type="http://schemas.openxmlformats.org/officeDocument/2006/relationships/notesMaster" Target="/ppt/notesMasters/notesMaster1.xml" Id="R5aa1e37882d94889" /><Relationship Type="http://schemas.openxmlformats.org/officeDocument/2006/relationships/presProps" Target="/ppt/presProps.xml" Id="Rde7d7fcfb4b94295" /><Relationship Type="http://schemas.openxmlformats.org/officeDocument/2006/relationships/tableStyles" Target="/ppt/tableStyles.xml" Id="R0dba345514aa43cb" /><Relationship Type="http://schemas.openxmlformats.org/officeDocument/2006/relationships/slide" Target="/ppt/slides/slide1.xml" Id="R9bf8a2e525ef474d" /><Relationship Type="http://schemas.openxmlformats.org/officeDocument/2006/relationships/slide" Target="/ppt/slides/slide2.xml" Id="Redc0026b8b034d3f" /><Relationship Type="http://schemas.openxmlformats.org/officeDocument/2006/relationships/slide" Target="/ppt/slides/slide3.xml" Id="R98dd3514731e46ce" /><Relationship Type="http://schemas.openxmlformats.org/officeDocument/2006/relationships/slide" Target="/ppt/slides/slide4.xml" Id="R82fb35a130974c7e" /><Relationship Type="http://schemas.openxmlformats.org/officeDocument/2006/relationships/slide" Target="/ppt/slides/slide5.xml" Id="R1e7054bd4f9b402a" /><Relationship Type="http://schemas.openxmlformats.org/officeDocument/2006/relationships/slide" Target="/ppt/slides/slide6.xml" Id="R215c0d7493594bd3" /><Relationship Type="http://schemas.openxmlformats.org/officeDocument/2006/relationships/slide" Target="/ppt/slides/slide7.xml" Id="R2cb56091279546d6" /><Relationship Type="http://schemas.openxmlformats.org/officeDocument/2006/relationships/slide" Target="/ppt/slides/slide8.xml" Id="R4b186c22865142c8" /><Relationship Type="http://schemas.openxmlformats.org/officeDocument/2006/relationships/slide" Target="/ppt/slides/slide9.xml" Id="R106e7b3048214157" /><Relationship Type="http://schemas.openxmlformats.org/officeDocument/2006/relationships/slide" Target="/ppt/slides/slide10.xml" Id="Rff19726db0c045d1" /><Relationship Type="http://schemas.openxmlformats.org/officeDocument/2006/relationships/slide" Target="/ppt/slides/slide11.xml" Id="Rfb461a56c808426a" /><Relationship Type="http://schemas.openxmlformats.org/officeDocument/2006/relationships/slide" Target="/ppt/slides/slide12.xml" Id="R3d13deba8d7b4b7d" /><Relationship Type="http://schemas.openxmlformats.org/officeDocument/2006/relationships/slide" Target="/ppt/slides/slide13.xml" Id="Ref8a652e83d54150" /><Relationship Type="http://schemas.openxmlformats.org/officeDocument/2006/relationships/slide" Target="/ppt/slides/slide14.xml" Id="Rcd2dc82e4d074150" /><Relationship Type="http://schemas.openxmlformats.org/officeDocument/2006/relationships/slide" Target="/ppt/slides/slide15.xml" Id="R569f6bb0e32a4389" /><Relationship Type="http://schemas.openxmlformats.org/officeDocument/2006/relationships/slide" Target="/ppt/slides/slide16.xml" Id="R82e91650abe949c3" /><Relationship Type="http://schemas.openxmlformats.org/officeDocument/2006/relationships/slide" Target="/ppt/slides/slide17.xml" Id="Rdaf059ea1c024309" /><Relationship Type="http://schemas.openxmlformats.org/officeDocument/2006/relationships/slide" Target="/ppt/slides/slide18.xml" Id="Rc8552731209e4921" /><Relationship Type="http://schemas.openxmlformats.org/officeDocument/2006/relationships/slide" Target="/ppt/slides/slide19.xml" Id="R80fa69baf23e41b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cdcfa6306b0409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0d50053b18c4a0a" /><Relationship Type="http://schemas.openxmlformats.org/officeDocument/2006/relationships/notesMaster" Target="/ppt/notesMasters/notesMaster1.xml" Id="Rbfb72becd7464049" /></Relationships>
</file>

<file path=ppt/notesSlides/_rels/notesSlide2.xml.rels>&#65279;<?xml version="1.0" encoding="utf-8"?><Relationships xmlns="http://schemas.openxmlformats.org/package/2006/relationships"><Relationship Type="http://schemas.openxmlformats.org/officeDocument/2006/relationships/slide" Target="/ppt/slides/slide2.xml" Id="Rce372aefa1dc43a9" /><Relationship Type="http://schemas.openxmlformats.org/officeDocument/2006/relationships/notesMaster" Target="/ppt/notesMasters/notesMaster1.xml" Id="Rd92cddaf1e074199" /></Relationships>
</file>

<file path=ppt/notesSlides/_rels/notesSlide3.xml.rels>&#65279;<?xml version="1.0" encoding="utf-8"?><Relationships xmlns="http://schemas.openxmlformats.org/package/2006/relationships"><Relationship Type="http://schemas.openxmlformats.org/officeDocument/2006/relationships/slide" Target="/ppt/slides/slide3.xml" Id="Ra9d7aa208fc14deb" /><Relationship Type="http://schemas.openxmlformats.org/officeDocument/2006/relationships/notesMaster" Target="/ppt/notesMasters/notesMaster1.xml" Id="R7709e725eb32456b" /></Relationships>
</file>

<file path=ppt/notesSlides/_rels/notesSlide4.xml.rels>&#65279;<?xml version="1.0" encoding="utf-8"?><Relationships xmlns="http://schemas.openxmlformats.org/package/2006/relationships"><Relationship Type="http://schemas.openxmlformats.org/officeDocument/2006/relationships/slide" Target="/ppt/slides/slide4.xml" Id="R82d4143252424729" /><Relationship Type="http://schemas.openxmlformats.org/officeDocument/2006/relationships/notesMaster" Target="/ppt/notesMasters/notesMaster1.xml" Id="R14258e28520b4caf" /></Relationships>
</file>

<file path=ppt/notesSlides/_rels/notesSlide5.xml.rels>&#65279;<?xml version="1.0" encoding="utf-8"?><Relationships xmlns="http://schemas.openxmlformats.org/package/2006/relationships"><Relationship Type="http://schemas.openxmlformats.org/officeDocument/2006/relationships/slide" Target="/ppt/slides/slide5.xml" Id="R4544db857adb4e15" /><Relationship Type="http://schemas.openxmlformats.org/officeDocument/2006/relationships/notesMaster" Target="/ppt/notesMasters/notesMaster1.xml" Id="Rb1a50f4968ef4163" /></Relationships>
</file>

<file path=ppt/notesSlides/_rels/notesSlide6.xml.rels>&#65279;<?xml version="1.0" encoding="utf-8"?><Relationships xmlns="http://schemas.openxmlformats.org/package/2006/relationships"><Relationship Type="http://schemas.openxmlformats.org/officeDocument/2006/relationships/slide" Target="/ppt/slides/slide6.xml" Id="R68c3d6d808604a4e" /><Relationship Type="http://schemas.openxmlformats.org/officeDocument/2006/relationships/notesMaster" Target="/ppt/notesMasters/notesMaster1.xml" Id="R4c5fd278ffdf4903" /></Relationships>
</file>

<file path=ppt/notesSlides/_rels/notesSlide7.xml.rels>&#65279;<?xml version="1.0" encoding="utf-8"?><Relationships xmlns="http://schemas.openxmlformats.org/package/2006/relationships"><Relationship Type="http://schemas.openxmlformats.org/officeDocument/2006/relationships/slide" Target="/ppt/slides/slide7.xml" Id="R9e8f5822c92c41ac" /><Relationship Type="http://schemas.openxmlformats.org/officeDocument/2006/relationships/notesMaster" Target="/ppt/notesMasters/notesMaster1.xml" Id="R779c1170b43e41c6" /></Relationships>
</file>

<file path=ppt/notesSlides/_rels/notesSlide8.xml.rels>&#65279;<?xml version="1.0" encoding="utf-8"?><Relationships xmlns="http://schemas.openxmlformats.org/package/2006/relationships"><Relationship Type="http://schemas.openxmlformats.org/officeDocument/2006/relationships/slide" Target="/ppt/slides/slide8.xml" Id="R339c12d577824ba1" /><Relationship Type="http://schemas.openxmlformats.org/officeDocument/2006/relationships/notesMaster" Target="/ppt/notesMasters/notesMaster1.xml" Id="R04a334f224fb49f7" /></Relationships>
</file>

<file path=ppt/notesSlides/_rels/notesSlide9.xml.rels>&#65279;<?xml version="1.0" encoding="utf-8"?><Relationships xmlns="http://schemas.openxmlformats.org/package/2006/relationships"><Relationship Type="http://schemas.openxmlformats.org/officeDocument/2006/relationships/slide" Target="/ppt/slides/slide9.xml" Id="R4e862a887bc9487b" /><Relationship Type="http://schemas.openxmlformats.org/officeDocument/2006/relationships/notesMaster" Target="/ppt/notesMasters/notesMaster1.xml" Id="Ra9f15706ef8e4ee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aa8fc49fcbc4e6c" /><Relationship Type="http://schemas.openxmlformats.org/officeDocument/2006/relationships/notesMaster" Target="/ppt/notesMasters/notesMaster1.xml" Id="Rd3674d43e508495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a9972a197d74d3a" /><Relationship Type="http://schemas.openxmlformats.org/officeDocument/2006/relationships/notesMaster" Target="/ppt/notesMasters/notesMaster1.xml" Id="R76f3eef78fd74ac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1d5b9abbde94761" /><Relationship Type="http://schemas.openxmlformats.org/officeDocument/2006/relationships/notesMaster" Target="/ppt/notesMasters/notesMaster1.xml" Id="Rc95ce616a6b54da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66bfdf701924ca0" /><Relationship Type="http://schemas.openxmlformats.org/officeDocument/2006/relationships/notesMaster" Target="/ppt/notesMasters/notesMaster1.xml" Id="R2067739dff82472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11c81bf77814a0e" /><Relationship Type="http://schemas.openxmlformats.org/officeDocument/2006/relationships/notesMaster" Target="/ppt/notesMasters/notesMaster1.xml" Id="R30c07f70ff0e424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6b3b864fbdc4fd2" /><Relationship Type="http://schemas.openxmlformats.org/officeDocument/2006/relationships/notesMaster" Target="/ppt/notesMasters/notesMaster1.xml" Id="R10e8c8a1285c42a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43c73b744b24434" /><Relationship Type="http://schemas.openxmlformats.org/officeDocument/2006/relationships/notesMaster" Target="/ppt/notesMasters/notesMaster1.xml" Id="Re5bdc091bb85451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186c707bb704877" /><Relationship Type="http://schemas.openxmlformats.org/officeDocument/2006/relationships/notesMaster" Target="/ppt/notesMasters/notesMaster1.xml" Id="R0481c0d415014e4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c25fab466fb47d8" /><Relationship Type="http://schemas.openxmlformats.org/officeDocument/2006/relationships/notesMaster" Target="/ppt/notesMasters/notesMaster1.xml" Id="R11099e9732c94f1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123bc85ad44408b" /><Relationship Type="http://schemas.openxmlformats.org/officeDocument/2006/relationships/notesMaster" Target="/ppt/notesMasters/notesMaster1.xml" Id="R5d83483ee08b4f7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Full sample reported by the team is CSE 15 students + 5 faculty; material reviewed covers 10 students/alumni and 1 faculty member. The two series are overlapping coverage, not additive samples. BMS survey contains 8 responses; aggregate charts reviewed. No cross-department prevalence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Huy Hoàng Q2/Q3 recalls 4–5 LMS login attempts and 4–5 day response. Đạt describes missing a graduation notice, faculty intervention and weekly supervision. These are two respondent accounts. Do not interpret one as a frequency out of all CSE students.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BMS report Figures 2–3, visually checked. Heat 7/8=87.5%; workload6/8=75%; rushing5/8=62.5%; insufficient practice4/8=50%; terminology2/8=25%. Different questions, no combined index.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BMS Figure1 rating counts [0,1,3,2,2] for ratings1–5. Sum8. Mean29/8=3.625, shown3.63. Four of eight rate4 or5. Source narrative approximately2/5 is incorrect. No causal connection is claimed between satisfaction score and heat answers.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BMS Figure5 stress counts for1–10:[1,0,1,0,1,0,3,2,0,0]. Five respondents rate7/8. Fig4 hands-on preference8/8; Fig6 family tuition pressure7/8; Fig7 zero select advisor contact as coping, not proof service unavailable. No diagnosis or fixed learning style inferred.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Sources: CSE CSE student interviews, Huy Hoàng; BMS Customer Experience module BMS report §§3.1.1–3.1.2 and 3.3. BMS borrowing and afternoon technical guidance are report-level qualitative findings, not a supplied transcript. No financial, retention or productivity effect is quantified.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The operational domains derive from the module research. Coverage is uneven. Grouping does not establish equal evidence across departments.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Analytical grouping, not a value ranking. Support resolves information needs and routes requests. Progression owns formal milestone checks and exceptions. Practical operations coordinates access and maintenance. Avoid counting the same benefit twice.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CSE student interviews document mixed access and responsiveness. BMS module report describes fragmented feedback; BMS enquiry volume is unknown.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BMS survey Figure 3: 4/8 insufficient practice time. Figure 2: 7/8 heat-related effects. CSE interviews describe computing constraints. Scheduling does not fix physical scarcity.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CSE interview evidence spans registration, thesis and graduation. BMS applicability needs validation. These are linked administrative milestones, not an automated degree-awarding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Analyst ratings relative to the three broader domains. The BMS report describes roles but not staffing coverage; CSE shows academic expertise. No approved implementation owner or budget has been provided.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Sources: CSE student interviews and BMS module report §§2.4–2.5 and 5.3. Proposed lab systems are not current capability. Data ownership, permissions and system integrations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assessment for the workshop, not survey findings or measured ROI. Ratings compare bounded entry projects within each domain, not complete university-wide implementation. A assumes an approved knowledge source and staff handoff. B is access/supervision coordination and remains exposed to physical-resource limits. C requires authoritative academic rules and records. Customer Experience module research informs the directional judgments. Value 1=limited potential, 5=strong outcome potential. Feasibility 1=major unresolved dependencies, 5=few. A=(4,4), B=(2,4), C=(2,5). Plot coordinates are judgments, not measurements. A drops to feasibility 2 if no content owner or staff capacity is secured.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assessment for the workshop, not survey findings or measured ROI. Ratings compare bounded entry projects within each domain, not complete university-wide implementation. A assumes an approved knowledge source and staff handoff. B is access/supervision coordination and remains exposed to physical-resource limits. C requires authoritative academic rules and records. Illustrative scores, not empirical findings. Value ratings reflect breadth and seriousness of possible outcomes; they do not quantify benefits. Strategic relevance and urgency are both 4 for all candidates because no comparative leadership preference or deadline evidence is available. Learning is 5 for support due to potentially reusable knowledge ownership and routing, 4 otherwise. A=4*.30+4*.25+4*.20+4*.15+5*.10=4.10. B=4*.30+2*.25+4*.20+4*.15+4*.10=3.50. C=5*.30+2*.25+4*.20+4*.15+4*.10=3.80. If A feasibility is 2 instead of 4, A=3.60 and C becomes first at 3.80.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Proposed service, not a deployed product. Research supports fragmented guidance and uneven responsiveness. AI answers should retrieve from approved institutional content with cohort context and sources. Requests need staff ownership. Reminder functionality is conditional on validated deadlines; no automatic eligibility decisions or new integrations are assumed.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Illustrative proposed interaction based on CSE registration uncertainty. Not a real product screenshot, tested workflow or quotation from a specific student. No invented VNUK procedure or deadline is supplied. Without live portal integration, the AI cannot confirm registration and must explicitly say so. Student consent/access rules govern collection of case details. Staff verify authoritative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Proposed pilot evaluation, not existing results or guaranteed savings. Compare comparable registration periods or comparable enquiry types. Assess all sampled answers against staff-approved references. Track harmful/wrong cohort answers and staff handling time. No numeric improvement targets are invented.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Customer Experience module research, including interviews, survey data and journey analyses. Research approximately Dec 2025–Jan 2026. Team confirms in the current discussion that issues persist, but percentages have not been remeasured. Full claimed sample: CSE 15 students + 5 faculty; BMS 8 respondents. Supplied CSE interview material covers 10 students/alumni + 1 faculty member. Research summaries and researcher interpretations are not independent observations. Proposed sequencing for future roadmap discussion, not approved dates or funding. Stage 1 uses approved guidance; Stage 2 tests structured case resolution; Stage 3 requires verified personal records, access controls and evidence of service benefit. No automated eligibility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5933c9d855c48d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a615c9c9adc459a" /><Relationship Type="http://schemas.openxmlformats.org/officeDocument/2006/relationships/slideLayout" Target="/ppt/slideLayouts/slideLayout1.xml" Id="R81cedd1a8bb94ff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1cedd1a8bb94ff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e3a2b9f4ebe44e1" /><Relationship Type="http://schemas.openxmlformats.org/officeDocument/2006/relationships/chart" Target="/ppt/slides/charts/chart1.xml" Id="R72fb647313ed43d2" /><Relationship Type="http://schemas.openxmlformats.org/officeDocument/2006/relationships/notesSlide" Target="/ppt/notesSlides/notesSlide1.xml" Id="R0234df6bcd9e46f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0bf6de402674d8d" /><Relationship Type="http://schemas.openxmlformats.org/officeDocument/2006/relationships/notesSlide" Target="/ppt/notesSlides/notesSlide2.xml" Id="R13b66df870e446c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cb427a2a95d441c" /><Relationship Type="http://schemas.openxmlformats.org/officeDocument/2006/relationships/chart" Target="/ppt/slides/charts/chart2.xml" Id="R7c3729268d8d4c25" /><Relationship Type="http://schemas.openxmlformats.org/officeDocument/2006/relationships/notesSlide" Target="/ppt/notesSlides/notesSlide3.xml" Id="Ree942d3a30fe4df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5e93ab67843435a" /><Relationship Type="http://schemas.openxmlformats.org/officeDocument/2006/relationships/chart" Target="/ppt/slides/charts/chart3.xml" Id="R13890ec0495d46cc" /><Relationship Type="http://schemas.openxmlformats.org/officeDocument/2006/relationships/notesSlide" Target="/ppt/notesSlides/notesSlide4.xml" Id="R22c3e1698b594dd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7d65c5c243941fe" /><Relationship Type="http://schemas.openxmlformats.org/officeDocument/2006/relationships/chart" Target="/ppt/slides/charts/chart4.xml" Id="Rdb430a7c928141aa" /><Relationship Type="http://schemas.openxmlformats.org/officeDocument/2006/relationships/notesSlide" Target="/ppt/notesSlides/notesSlide5.xml" Id="R7c72e09b0da74cb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2cb30b9577b4ca1" /><Relationship Type="http://schemas.openxmlformats.org/officeDocument/2006/relationships/notesSlide" Target="/ppt/notesSlides/notesSlide6.xml" Id="R2c35b657af1540d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8c92526b84e45a8" /><Relationship Type="http://schemas.openxmlformats.org/officeDocument/2006/relationships/notesSlide" Target="/ppt/notesSlides/notesSlide7.xml" Id="R595ce73eee674dd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3a1bed19db94455" /><Relationship Type="http://schemas.openxmlformats.org/officeDocument/2006/relationships/notesSlide" Target="/ppt/notesSlides/notesSlide8.xml" Id="R585a7d37a4ad4d8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a6d57ed86b9486c" /><Relationship Type="http://schemas.openxmlformats.org/officeDocument/2006/relationships/notesSlide" Target="/ppt/notesSlides/notesSlide9.xml" Id="R5dae6d22c020481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94e1e702da64e9d" /><Relationship Type="http://schemas.openxmlformats.org/officeDocument/2006/relationships/notesSlide" Target="/ppt/notesSlides/notesSlide10.xml" Id="R217ea5909b79406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a55996a90f042b3" /><Relationship Type="http://schemas.openxmlformats.org/officeDocument/2006/relationships/notesSlide" Target="/ppt/notesSlides/notesSlide11.xml" Id="R4072617e5d784f0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861ce809ea645c7" /><Relationship Type="http://schemas.openxmlformats.org/officeDocument/2006/relationships/notesSlide" Target="/ppt/notesSlides/notesSlide12.xml" Id="R2f1f25a9201943e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14cc9edbfec4757" /><Relationship Type="http://schemas.openxmlformats.org/officeDocument/2006/relationships/notesSlide" Target="/ppt/notesSlides/notesSlide13.xml" Id="R624e81017262407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554c1dc648847f3" /><Relationship Type="http://schemas.openxmlformats.org/officeDocument/2006/relationships/chart" Target="/ppt/slides/charts/chart5.xml" Id="R0ec91f9f37794e08" /><Relationship Type="http://schemas.openxmlformats.org/officeDocument/2006/relationships/notesSlide" Target="/ppt/notesSlides/notesSlide14.xml" Id="R1a9fb35352dc484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ba107be0f524c50" /><Relationship Type="http://schemas.openxmlformats.org/officeDocument/2006/relationships/notesSlide" Target="/ppt/notesSlides/notesSlide15.xml" Id="R19956af345ca438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742849cdb574729" /><Relationship Type="http://schemas.openxmlformats.org/officeDocument/2006/relationships/notesSlide" Target="/ppt/notesSlides/notesSlide16.xml" Id="R3664cd6fb7a440e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665fb5273dc4427" /><Relationship Type="http://schemas.openxmlformats.org/officeDocument/2006/relationships/notesSlide" Target="/ppt/notesSlides/notesSlide17.xml" Id="R19ddb3ce75b54fb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f66475a027340d6" /><Relationship Type="http://schemas.openxmlformats.org/officeDocument/2006/relationships/notesSlide" Target="/ppt/notesSlides/notesSlide18.xml" Id="R33f1965684b14c0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f06e8f22354403e" /><Relationship Type="http://schemas.openxmlformats.org/officeDocument/2006/relationships/notesSlide" Target="/ppt/notesSlides/notesSlide19.xml" Id="Re12046439d2448c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Reported full study</c:v>
          </c:tx>
          <c:spPr>
            <a:solidFill xmlns:a="http://schemas.openxmlformats.org/drawingml/2006/main">
              <a:srgbClr val="183449"/>
            </a:solidFill>
          </c:spPr>
          <c:cat>
            <c:strRef>
              <c:f>'Chart Data'!$A$2:$A$3</c:f>
              <c:strCache>
                <c:ptCount val="2"/>
                <c:pt idx="0">
                  <c:v>Students / alumni</c:v>
                </c:pt>
                <c:pt idx="1">
                  <c:v>Faculty</c:v>
                </c:pt>
              </c:strCache>
            </c:strRef>
          </c:cat>
          <c:val>
            <c:numRef>
              <c:f>'Chart Data'!$B$2:$B$3</c:f>
              <c:numCache>
                <c:formatCode>0</c:formatCode>
                <c:ptCount val="2"/>
                <c:pt idx="0">
                  <c:v>15</c:v>
                </c:pt>
                <c:pt idx="1">
                  <c:v>5</c:v>
                </c:pt>
              </c:numCache>
            </c:numRef>
          </c:val>
        </c:ser>
        <c:ser>
          <c:idx val="1"/>
          <c:order val="1"/>
          <c:tx>
            <c:v>Material reviewed</c:v>
          </c:tx>
          <c:spPr>
            <a:solidFill xmlns:a="http://schemas.openxmlformats.org/drawingml/2006/main">
              <a:srgbClr val="16878A"/>
            </a:solidFill>
          </c:spPr>
          <c:cat>
            <c:strRef>
              <c:f>'Chart Data'!$C$2:$C$3</c:f>
              <c:strCache>
                <c:ptCount val="2"/>
                <c:pt idx="0">
                  <c:v>Students / alumni</c:v>
                </c:pt>
                <c:pt idx="1">
                  <c:v>Faculty</c:v>
                </c:pt>
              </c:strCache>
            </c:strRef>
          </c:cat>
          <c:val>
            <c:numRef>
              <c:f>'Chart Data'!$D$2:$D$3</c:f>
              <c:numCache>
                <c:formatCode>0</c:formatCode>
                <c:ptCount val="2"/>
                <c:pt idx="0">
                  <c:v>10</c:v>
                </c:pt>
                <c:pt idx="1">
                  <c:v>1</c:v>
                </c:pt>
              </c:numCache>
            </c:numRef>
          </c:val>
        </c:ser>
        <c:dLbls>
          <c:txPr>
            <a:bodyPr xmlns:a="http://schemas.openxmlformats.org/drawingml/2006/main" anchorCtr="1"/>
            <a:lstStyle xmlns:a="http://schemas.openxmlformats.org/drawingml/2006/main"/>
            <a:p xmlns:a="http://schemas.openxmlformats.org/drawingml/2006/main">
              <a:pPr>
                <a:defRPr sz="2025" b="1">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Helvetica Neue"/>
                <a:ea typeface="Helvetica Neue"/>
                <a:cs typeface="Helvetica Neue"/>
              </a:defRPr>
            </a:pPr>
          </a:p>
        </c:txPr>
        <c:crossAx val="48672768"/>
      </c:catAx>
      <c:valAx>
        <c:axId val="48672768"/>
        <c:scaling>
          <c:orientation val="minMax"/>
          <c:max val="16"/>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50112"/>
        <c:crossBetween val="between"/>
        <c:majorUnit val="5"/>
      </c:valAx>
    </c:plotArea>
    <c:legend>
      <c:legendPos val="b"/>
      <c:overlay val="0"/>
      <c:txPr>
        <a:bodyPr xmlns:a="http://schemas.openxmlformats.org/drawingml/2006/main" anchorCtr="1"/>
        <a:lstStyle xmlns:a="http://schemas.openxmlformats.org/drawingml/2006/main"/>
        <a:p xmlns:a="http://schemas.openxmlformats.org/drawingml/2006/main">
          <a:pPr>
            <a:defRPr sz="1350">
              <a:latin typeface="Helvetica Neue"/>
              <a:ea typeface="Helvetica Neue"/>
              <a:cs typeface="Helvetica Neue"/>
            </a:defRPr>
          </a:pPr>
        </a:p>
      </c:txPr>
    </c:legend>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Selected (out of 8)</c:v>
          </c:tx>
          <c:spPr>
            <a:solidFill xmlns:a="http://schemas.openxmlformats.org/drawingml/2006/main">
              <a:srgbClr val="16878A"/>
            </a:solidFill>
          </c:spPr>
          <c:cat>
            <c:strRef>
              <c:f>'Chart Data'!$A$2:$A$6</c:f>
              <c:strCache>
                <c:ptCount val="5"/>
                <c:pt idx="0">
                  <c:v>Specialist English terminology</c:v>
                </c:pt>
                <c:pt idx="1">
                  <c:v>Insufficient practical time</c:v>
                </c:pt>
                <c:pt idx="2">
                  <c:v>Rushing to leave the hot lab</c:v>
                </c:pt>
                <c:pt idx="3">
                  <c:v>Heavy academic workload</c:v>
                </c:pt>
                <c:pt idx="4">
                  <c:v>Heat-related fatigue / productivity</c:v>
                </c:pt>
              </c:strCache>
            </c:strRef>
          </c:cat>
          <c:val>
            <c:numRef>
              <c:f>'Chart Data'!$B$2:$B$6</c:f>
              <c:numCache>
                <c:formatCode>General</c:formatCode>
                <c:ptCount val="5"/>
                <c:pt idx="0">
                  <c:v>2</c:v>
                </c:pt>
                <c:pt idx="1">
                  <c:v>4</c:v>
                </c:pt>
                <c:pt idx="2">
                  <c:v>5</c:v>
                </c:pt>
                <c:pt idx="3">
                  <c:v>6</c:v>
                </c:pt>
                <c:pt idx="4">
                  <c:v>7</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183449"/>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Helvetica Neue"/>
                <a:ea typeface="Helvetica Neue"/>
                <a:cs typeface="Helvetica Neue"/>
              </a:defRPr>
            </a:pPr>
          </a:p>
        </c:txPr>
        <c:crossAx val="48650112"/>
        <c:crossBetween val="between"/>
      </c:valAx>
    </c:plotArea>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Respondents</c:v>
          </c:tx>
          <c:spPr>
            <a:solidFill xmlns:a="http://schemas.openxmlformats.org/drawingml/2006/main">
              <a:srgbClr val="16878A"/>
            </a:solidFill>
          </c:spPr>
          <c:cat>
            <c:numRef>
              <c:f>'Chart Data'!$A$2:$A$6</c:f>
              <c:numCache>
                <c:formatCode>General</c:formatCode>
                <c:ptCount val="5"/>
                <c:pt idx="0">
                  <c:v>1</c:v>
                </c:pt>
                <c:pt idx="1">
                  <c:v>2</c:v>
                </c:pt>
                <c:pt idx="2">
                  <c:v>3</c:v>
                </c:pt>
                <c:pt idx="3">
                  <c:v>4</c:v>
                </c:pt>
                <c:pt idx="4">
                  <c:v>5</c:v>
                </c:pt>
              </c:numCache>
            </c:numRef>
          </c:cat>
          <c:val>
            <c:numRef>
              <c:f>'Chart Data'!$B$2:$B$6</c:f>
              <c:numCache>
                <c:formatCode>0</c:formatCode>
                <c:ptCount val="5"/>
                <c:pt idx="0">
                  <c:v>0</c:v>
                </c:pt>
                <c:pt idx="1">
                  <c:v>1</c:v>
                </c:pt>
                <c:pt idx="2">
                  <c:v>3</c:v>
                </c:pt>
                <c:pt idx="3">
                  <c:v>2</c:v>
                </c:pt>
                <c:pt idx="4">
                  <c:v>2</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83449"/>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Satisfaction rating (1–5)</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Helvetica Neue"/>
                <a:ea typeface="Helvetica Neue"/>
                <a:cs typeface="Helvetica Neue"/>
              </a:defRPr>
            </a:pPr>
          </a:p>
        </c:txPr>
        <c:crossAx val="48672768"/>
      </c:catAx>
      <c:valAx>
        <c:axId val="48672768"/>
        <c:scaling>
          <c:orientation val="minMax"/>
          <c:max val="4"/>
          <c:min val="0"/>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Respondents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50112"/>
        <c:crossBetween val="between"/>
        <c:majorUnit val="1"/>
      </c:valAx>
    </c:plotArea>
    <c:plotVisOnly val="1"/>
  </c:chart>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Respondents</c:v>
          </c:tx>
          <c:spPr>
            <a:solidFill xmlns:a="http://schemas.openxmlformats.org/drawingml/2006/main">
              <a:srgbClr val="16878A"/>
            </a:solidFill>
          </c:spPr>
          <c:cat>
            <c:numRef>
              <c:f>'Chart Data'!$A$2:$A$11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Data'!$B$2:$B$11</c:f>
              <c:numCache>
                <c:formatCode>0</c:formatCode>
                <c:ptCount val="10"/>
                <c:pt idx="0">
                  <c:v>1</c:v>
                </c:pt>
                <c:pt idx="1">
                  <c:v>0</c:v>
                </c:pt>
                <c:pt idx="2">
                  <c:v>1</c:v>
                </c:pt>
                <c:pt idx="3">
                  <c:v>0</c:v>
                </c:pt>
                <c:pt idx="4">
                  <c:v>1</c:v>
                </c:pt>
                <c:pt idx="5">
                  <c:v>0</c:v>
                </c:pt>
                <c:pt idx="6">
                  <c:v>3</c:v>
                </c:pt>
                <c:pt idx="7">
                  <c:v>2</c:v>
                </c:pt>
                <c:pt idx="8">
                  <c:v>0</c:v>
                </c:pt>
                <c:pt idx="9">
                  <c:v>0</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83449"/>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Self-reported stress (1–10)</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Helvetica Neue"/>
                <a:ea typeface="Helvetica Neue"/>
                <a:cs typeface="Helvetica Neue"/>
              </a:defRPr>
            </a:pPr>
          </a:p>
        </c:txPr>
        <c:crossAx val="48672768"/>
      </c:catAx>
      <c:valAx>
        <c:axId val="48672768"/>
        <c:scaling>
          <c:orientation val="minMax"/>
          <c:max val="4"/>
          <c:min val="0"/>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Respondents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50112"/>
        <c:crossBetween val="between"/>
        <c:majorUnit val="1"/>
      </c:valAx>
    </c:plotArea>
    <c:plotVisOnly val="1"/>
  </c:chart>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marker"/>
        <c:ser>
          <c:idx val="0"/>
          <c:order val="0"/>
          <c:tx>
            <c:v>A  Student support</c:v>
          </c:tx>
          <c:spPr>
            <a:solidFill xmlns:a="http://schemas.openxmlformats.org/drawingml/2006/main">
              <a:srgbClr val="16878A"/>
            </a:solidFill>
          </c:spPr>
          <c:marker>
            <c:symbol val="circle"/>
            <c:size val="15"/>
          </c:marker>
          <c:xVal>
            <c:numRef>
              <c:f>'Chart Data'!$A$2:$A$2</c:f>
              <c:numCache>
                <c:formatCode>General</c:formatCode>
                <c:ptCount val="1"/>
                <c:pt idx="0">
                  <c:v>4</c:v>
                </c:pt>
              </c:numCache>
            </c:numRef>
          </c:xVal>
          <c:yVal>
            <c:numRef>
              <c:f>'Chart Data'!$B$2:$B$2</c:f>
              <c:numCache>
                <c:formatCode>General</c:formatCode>
                <c:ptCount val="1"/>
                <c:pt idx="0">
                  <c:v>4</c:v>
                </c:pt>
              </c:numCache>
            </c:numRef>
          </c:yVal>
        </c:ser>
        <c:ser>
          <c:idx val="1"/>
          <c:order val="1"/>
          <c:tx>
            <c:v>B  Practical learning</c:v>
          </c:tx>
          <c:spPr>
            <a:solidFill xmlns:a="http://schemas.openxmlformats.org/drawingml/2006/main">
              <a:srgbClr val="D98D35"/>
            </a:solidFill>
          </c:spPr>
          <c:marker>
            <c:symbol val="square"/>
            <c:size val="15"/>
          </c:marker>
          <c:xVal>
            <c:numRef>
              <c:f>'Chart Data'!$C$2:$C$2</c:f>
              <c:numCache>
                <c:formatCode>General</c:formatCode>
                <c:ptCount val="1"/>
                <c:pt idx="0">
                  <c:v>2</c:v>
                </c:pt>
              </c:numCache>
            </c:numRef>
          </c:xVal>
          <c:yVal>
            <c:numRef>
              <c:f>'Chart Data'!$D$2:$D$2</c:f>
              <c:numCache>
                <c:formatCode>General</c:formatCode>
                <c:ptCount val="1"/>
                <c:pt idx="0">
                  <c:v>4</c:v>
                </c:pt>
              </c:numCache>
            </c:numRef>
          </c:yVal>
        </c:ser>
        <c:ser>
          <c:idx val="2"/>
          <c:order val="2"/>
          <c:tx>
            <c:v>C  Progression</c:v>
          </c:tx>
          <c:spPr>
            <a:solidFill xmlns:a="http://schemas.openxmlformats.org/drawingml/2006/main">
              <a:srgbClr val="183449"/>
            </a:solidFill>
          </c:spPr>
          <c:marker>
            <c:symbol val="diamond"/>
            <c:size val="15"/>
          </c:marker>
          <c:xVal>
            <c:numRef>
              <c:f>'Chart Data'!$E$2:$E$2</c:f>
              <c:numCache>
                <c:formatCode>General</c:formatCode>
                <c:ptCount val="1"/>
                <c:pt idx="0">
                  <c:v>2</c:v>
                </c:pt>
              </c:numCache>
            </c:numRef>
          </c:xVal>
          <c:yVal>
            <c:numRef>
              <c:f>'Chart Data'!$F$2:$F$2</c:f>
              <c:numCache>
                <c:formatCode>General</c:formatCode>
                <c:ptCount val="1"/>
                <c:pt idx="0">
                  <c:v>5</c:v>
                </c:pt>
              </c:numCache>
            </c:numRef>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1"/>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Value potential</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50112"/>
        <c:majorUnit val="1"/>
      </c:valAx>
      <c:valAx>
        <c:axId val="48650112"/>
        <c:scaling>
          <c:orientation val="minMax"/>
          <c:max val="5"/>
          <c:min val="1"/>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Feasibility</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72768"/>
        <c:majorUnit val="1"/>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D9E4E12-138A-48E7-BD30-503E85E0FE1D}"/>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01  CURRENT-STATE ANALYSIS</a:t>
            </a:r>
          </a:p>
        </p:txBody>
      </p:sp>
      <p:sp>
        <p:nvSpPr>
          <p:cNvPr id="2" name="">
            <a:extLst xmlns:a="http://schemas.openxmlformats.org/drawingml/2006/main">
              <a:ext uri="{FF2B5EF4-FFF2-40B4-BE49-F238E27FC236}">
                <a16:creationId xmlns:a16="http://schemas.microsoft.com/office/drawing/2014/main" id="{FDCC47AB-A6FC-4B37-8C4A-FA49427A34B7}"/>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VNUK: the research behind the diagnosis</a:t>
            </a:r>
          </a:p>
        </p:txBody>
      </p:sp>
      <p:sp>
        <p:nvSpPr>
          <p:cNvPr id="3" name="">
            <a:extLst xmlns:a="http://schemas.openxmlformats.org/drawingml/2006/main">
              <a:ext uri="{FF2B5EF4-FFF2-40B4-BE49-F238E27FC236}">
                <a16:creationId xmlns:a16="http://schemas.microsoft.com/office/drawing/2014/main" id="{480C9351-B0D8-4716-81EF-66770C047F2B}"/>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Customer Experience module research across BMS and CSE, December 2025–January 2026.</a:t>
            </a:r>
          </a:p>
        </p:txBody>
      </p:sp>
      <p:sp>
        <p:nvSpPr>
          <p:cNvPr id="4" name="">
            <a:extLst xmlns:a="http://schemas.openxmlformats.org/drawingml/2006/main">
              <a:ext uri="{FF2B5EF4-FFF2-40B4-BE49-F238E27FC236}">
                <a16:creationId xmlns:a16="http://schemas.microsoft.com/office/drawing/2014/main" id="{FB0464B7-D1E7-4434-8E19-F25EDD238E5F}"/>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C6363534-EB72-4FA7-80E4-C5835874C5DA}"/>
              </a:ext>
            </a:extLst>
          </p:cNvPr>
          <p:cNvSpPr>
            <a:spLocks xmlns:a="http://schemas.openxmlformats.org/drawingml/2006/main" noGrp="1"/>
          </p:cNvSpPr>
          <p:nvPr/>
        </p:nvSpPr>
        <p:spPr>
          <a:xfrm xmlns:a="http://schemas.openxmlformats.org/drawingml/2006/main">
            <a:off x="533400" y="2390775"/>
            <a:ext cx="742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449"/>
                </a:solidFill>
                <a:latin typeface="Helvetica Neue"/>
                <a:ea typeface="Helvetica Neue"/>
                <a:cs typeface="Helvetica Neue"/>
              </a:defRPr>
            </a:pPr>
            <a:r>
              <a:rPr sz="2175" b="1">
                <a:solidFill>
                  <a:srgbClr val="183449"/>
                </a:solidFill>
                <a:latin typeface="Helvetica Neue"/>
                <a:ea typeface="Helvetica Neue"/>
                <a:cs typeface="Helvetica Neue"/>
              </a:rPr>
              <a:t>CSE interview coverage</a:t>
            </a:r>
          </a:p>
        </p:txBody>
      </p:sp>
      <p:graphicFrame>
        <p:nvGraphicFramePr>
          <p:cNvPr id="16" name="Chart"/>
          <p:cNvGraphicFramePr/>
          <p:nvPr/>
        </p:nvGraphicFramePr>
        <p:xfrm>
          <a:off xmlns:a="http://schemas.openxmlformats.org/drawingml/2006/main" x="533400" y="2933700"/>
          <a:ext xmlns:a="http://schemas.openxmlformats.org/drawingml/2006/main" cx="7000875" cy="2714625"/>
        </p:xfrm>
        <a:graphic xmlns:a="http://schemas.openxmlformats.org/drawingml/2006/main">
          <a:graphicData uri="http://schemas.openxmlformats.org/drawingml/2006/chart">
            <c:chart xmlns:r="http://schemas.openxmlformats.org/officeDocument/2006/relationships" xmlns:c="http://schemas.openxmlformats.org/drawingml/2006/chart" r:id="R72fb647313ed43d2"/>
          </a:graphicData>
        </a:graphic>
      </p:graphicFrame>
      <p:sp>
        <p:nvSpPr>
          <p:cNvPr id="7" name="">
            <a:extLst xmlns:a="http://schemas.openxmlformats.org/drawingml/2006/main">
              <a:ext uri="{FF2B5EF4-FFF2-40B4-BE49-F238E27FC236}">
                <a16:creationId xmlns:a16="http://schemas.microsoft.com/office/drawing/2014/main" id="{9BBF252C-602B-49FF-9707-537D7291B7EA}"/>
              </a:ext>
            </a:extLst>
          </p:cNvPr>
          <p:cNvSpPr>
            <a:spLocks xmlns:a="http://schemas.openxmlformats.org/drawingml/2006/main" noGrp="1"/>
          </p:cNvSpPr>
          <p:nvPr/>
        </p:nvSpPr>
        <p:spPr>
          <a:xfrm xmlns:a="http://schemas.openxmlformats.org/drawingml/2006/main">
            <a:off x="8429625" y="2543175"/>
            <a:ext cx="2762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16878A"/>
                </a:solidFill>
                <a:latin typeface="Helvetica Neue"/>
                <a:ea typeface="Helvetica Neue"/>
                <a:cs typeface="Helvetica Neue"/>
              </a:defRPr>
            </a:pPr>
            <a:r>
              <a:rPr sz="6600" b="1">
                <a:solidFill>
                  <a:srgbClr val="16878A"/>
                </a:solidFill>
                <a:latin typeface="Helvetica Neue"/>
                <a:ea typeface="Helvetica Neue"/>
                <a:cs typeface="Helvetica Neue"/>
              </a:rPr>
              <a:t>8</a:t>
            </a:r>
          </a:p>
        </p:txBody>
      </p:sp>
      <p:sp>
        <p:nvSpPr>
          <p:cNvPr id="8" name="">
            <a:extLst xmlns:a="http://schemas.openxmlformats.org/drawingml/2006/main">
              <a:ext uri="{FF2B5EF4-FFF2-40B4-BE49-F238E27FC236}">
                <a16:creationId xmlns:a16="http://schemas.microsoft.com/office/drawing/2014/main" id="{CD7A16D5-EBDE-4F22-95E5-2D49D0490BFC}"/>
              </a:ext>
            </a:extLst>
          </p:cNvPr>
          <p:cNvSpPr>
            <a:spLocks xmlns:a="http://schemas.openxmlformats.org/drawingml/2006/main" noGrp="1"/>
          </p:cNvSpPr>
          <p:nvPr/>
        </p:nvSpPr>
        <p:spPr>
          <a:xfrm xmlns:a="http://schemas.openxmlformats.org/drawingml/2006/main">
            <a:off x="8429625" y="3648075"/>
            <a:ext cx="285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33746"/>
                </a:solidFill>
                <a:latin typeface="Helvetica Neue"/>
                <a:ea typeface="Helvetica Neue"/>
                <a:cs typeface="Helvetica Neue"/>
              </a:defRPr>
            </a:pPr>
            <a:r>
              <a:rPr sz="2175" b="1">
                <a:solidFill>
                  <a:srgbClr val="233746"/>
                </a:solidFill>
                <a:latin typeface="Helvetica Neue"/>
                <a:ea typeface="Helvetica Neue"/>
                <a:cs typeface="Helvetica Neue"/>
              </a:rPr>
              <a:t>BMS survey respondents</a:t>
            </a:r>
          </a:p>
        </p:txBody>
      </p:sp>
      <p:sp>
        <p:nvSpPr>
          <p:cNvPr id="9" name="">
            <a:extLst xmlns:a="http://schemas.openxmlformats.org/drawingml/2006/main">
              <a:ext uri="{FF2B5EF4-FFF2-40B4-BE49-F238E27FC236}">
                <a16:creationId xmlns:a16="http://schemas.microsoft.com/office/drawing/2014/main" id="{9B622AA4-6EFB-4341-A1D3-C8D52B5894D6}"/>
              </a:ext>
            </a:extLst>
          </p:cNvPr>
          <p:cNvSpPr>
            <a:spLocks xmlns:a="http://schemas.openxmlformats.org/drawingml/2006/main" noGrp="1"/>
          </p:cNvSpPr>
          <p:nvPr/>
        </p:nvSpPr>
        <p:spPr>
          <a:xfrm xmlns:a="http://schemas.openxmlformats.org/drawingml/2006/main">
            <a:off x="8429625" y="4695825"/>
            <a:ext cx="2857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3746"/>
                </a:solidFill>
                <a:latin typeface="Helvetica Neue"/>
                <a:ea typeface="Helvetica Neue"/>
                <a:cs typeface="Helvetica Neue"/>
              </a:defRPr>
            </a:pPr>
            <a:r>
              <a:rPr sz="1875" b="0">
                <a:solidFill>
                  <a:srgbClr val="233746"/>
                </a:solidFill>
                <a:latin typeface="Helvetica Neue"/>
                <a:ea typeface="Helvetica Neue"/>
                <a:cs typeface="Helvetica Neue"/>
              </a:rPr>
              <a:t>Aggregate response charts reviewed.</a:t>
            </a:r>
          </a:p>
          <a:p xmlns:a="http://schemas.openxmlformats.org/drawingml/2006/main">
            <a:pPr>
              <a:defRPr sz="1875" b="0">
                <a:solidFill>
                  <a:srgbClr val="233746"/>
                </a:solidFill>
                <a:latin typeface="Helvetica Neue"/>
                <a:ea typeface="Helvetica Neue"/>
                <a:cs typeface="Helvetica Neue"/>
              </a:defRPr>
            </a:pPr>
            <a:r>
              <a:rPr sz="1875" b="0">
                <a:solidFill>
                  <a:srgbClr val="233746"/>
                </a:solidFill>
                <a:latin typeface="Helvetica Neue"/>
                <a:ea typeface="Helvetica Neue"/>
                <a:cs typeface="Helvetica Neue"/>
              </a:rPr>
              <a:t>No new survey collected.</a:t>
            </a:r>
          </a:p>
        </p:txBody>
      </p:sp>
      <p:sp>
        <p:nvSpPr>
          <p:cNvPr id="10" name="">
            <a:extLst xmlns:a="http://schemas.openxmlformats.org/drawingml/2006/main">
              <a:ext uri="{FF2B5EF4-FFF2-40B4-BE49-F238E27FC236}">
                <a16:creationId xmlns:a16="http://schemas.microsoft.com/office/drawing/2014/main" id="{5CA69640-738A-44FB-89CB-3EB35126A9CF}"/>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Reviewed interviews are a subset of the reported CSE study. The team says issues continue; rates are historical.</a:t>
            </a:r>
          </a:p>
        </p:txBody>
      </p:sp>
    </p:spTree>
    <p:extLst>
      <p:ext uri="{BB962C8B-B14F-4D97-AF65-F5344CB8AC3E}">
        <p14:creationId xmlns:p14="http://schemas.microsoft.com/office/powerpoint/2010/main" val="1176089977"/>
      </p:ext>
    </p:extLst>
  </p:cSld>
</p:sld>
</file>

<file path=ppt/slides/slide2.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0F6BD55-B001-4CF3-9A05-9C7A3BFEB2F1}"/>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01  CURRENT-STATE ANALYSIS</a:t>
            </a:r>
          </a:p>
        </p:txBody>
      </p:sp>
      <p:sp>
        <p:nvSpPr>
          <p:cNvPr id="2" name="">
            <a:extLst xmlns:a="http://schemas.openxmlformats.org/drawingml/2006/main">
              <a:ext uri="{FF2B5EF4-FFF2-40B4-BE49-F238E27FC236}">
                <a16:creationId xmlns:a16="http://schemas.microsoft.com/office/drawing/2014/main" id="{E7389AD1-A6BB-4E8E-9A41-2432AA5DB798}"/>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CSE: friction and support in the same journeys</a:t>
            </a:r>
          </a:p>
        </p:txBody>
      </p:sp>
      <p:sp>
        <p:nvSpPr>
          <p:cNvPr id="3" name="">
            <a:extLst xmlns:a="http://schemas.openxmlformats.org/drawingml/2006/main">
              <a:ext uri="{FF2B5EF4-FFF2-40B4-BE49-F238E27FC236}">
                <a16:creationId xmlns:a16="http://schemas.microsoft.com/office/drawing/2014/main" id="{1AACD09A-D1AB-4D2A-89D1-48F695757B3B}"/>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Individual interview accounts. These measures have different units and are not population averages.</a:t>
            </a:r>
          </a:p>
        </p:txBody>
      </p:sp>
      <p:sp>
        <p:nvSpPr>
          <p:cNvPr id="4" name="">
            <a:extLst xmlns:a="http://schemas.openxmlformats.org/drawingml/2006/main">
              <a:ext uri="{FF2B5EF4-FFF2-40B4-BE49-F238E27FC236}">
                <a16:creationId xmlns:a16="http://schemas.microsoft.com/office/drawing/2014/main" id="{1C67F2CB-3B0A-4ED0-9DF0-86AA9C26D850}"/>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C4D71D88-16EA-4550-A114-34C64ACEFB17}"/>
              </a:ext>
            </a:extLst>
          </p:cNvPr>
          <p:cNvSpPr>
            <a:spLocks xmlns:a="http://schemas.openxmlformats.org/drawingml/2006/main" noGrp="1"/>
          </p:cNvSpPr>
          <p:nvPr/>
        </p:nvSpPr>
        <p:spPr>
          <a:xfrm xmlns:a="http://schemas.openxmlformats.org/drawingml/2006/main">
            <a:off x="533400" y="2486025"/>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449"/>
                </a:solidFill>
                <a:latin typeface="Helvetica Neue"/>
                <a:ea typeface="Helvetica Neue"/>
                <a:cs typeface="Helvetica Neue"/>
              </a:defRPr>
            </a:pPr>
            <a:r>
              <a:rPr sz="2175" b="1">
                <a:solidFill>
                  <a:srgbClr val="183449"/>
                </a:solidFill>
                <a:latin typeface="Helvetica Neue"/>
                <a:ea typeface="Helvetica Neue"/>
                <a:cs typeface="Helvetica Neue"/>
              </a:rPr>
              <a:t>Student account</a:t>
            </a:r>
          </a:p>
        </p:txBody>
      </p:sp>
      <p:sp>
        <p:nvSpPr>
          <p:cNvPr id="6" name="">
            <a:extLst xmlns:a="http://schemas.openxmlformats.org/drawingml/2006/main">
              <a:ext uri="{FF2B5EF4-FFF2-40B4-BE49-F238E27FC236}">
                <a16:creationId xmlns:a16="http://schemas.microsoft.com/office/drawing/2014/main" id="{C6B76A93-842E-4476-89FE-615460C68D29}"/>
              </a:ext>
            </a:extLst>
          </p:cNvPr>
          <p:cNvSpPr>
            <a:spLocks xmlns:a="http://schemas.openxmlformats.org/drawingml/2006/main" noGrp="1"/>
          </p:cNvSpPr>
          <p:nvPr/>
        </p:nvSpPr>
        <p:spPr>
          <a:xfrm xmlns:a="http://schemas.openxmlformats.org/drawingml/2006/main">
            <a:off x="533400" y="3086100"/>
            <a:ext cx="5048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1">
                <a:solidFill>
                  <a:srgbClr val="16878A"/>
                </a:solidFill>
                <a:latin typeface="Helvetica Neue"/>
                <a:ea typeface="Helvetica Neue"/>
                <a:cs typeface="Helvetica Neue"/>
              </a:defRPr>
            </a:pPr>
            <a:r>
              <a:rPr sz="4875" b="1">
                <a:solidFill>
                  <a:srgbClr val="16878A"/>
                </a:solidFill>
                <a:latin typeface="Helvetica Neue"/>
                <a:ea typeface="Helvetica Neue"/>
                <a:cs typeface="Helvetica Neue"/>
              </a:rPr>
              <a:t>4–5 days</a:t>
            </a:r>
          </a:p>
        </p:txBody>
      </p:sp>
      <p:sp>
        <p:nvSpPr>
          <p:cNvPr id="7" name="">
            <a:extLst xmlns:a="http://schemas.openxmlformats.org/drawingml/2006/main">
              <a:ext uri="{FF2B5EF4-FFF2-40B4-BE49-F238E27FC236}">
                <a16:creationId xmlns:a16="http://schemas.microsoft.com/office/drawing/2014/main" id="{D07C82F5-7C0E-4891-9E4D-895E24FF1538}"/>
              </a:ext>
            </a:extLst>
          </p:cNvPr>
          <p:cNvSpPr>
            <a:spLocks xmlns:a="http://schemas.openxmlformats.org/drawingml/2006/main" noGrp="1"/>
          </p:cNvSpPr>
          <p:nvPr/>
        </p:nvSpPr>
        <p:spPr>
          <a:xfrm xmlns:a="http://schemas.openxmlformats.org/drawingml/2006/main">
            <a:off x="533400" y="4000500"/>
            <a:ext cx="5048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33746"/>
                </a:solidFill>
                <a:latin typeface="Helvetica Neue"/>
                <a:ea typeface="Helvetica Neue"/>
                <a:cs typeface="Helvetica Neue"/>
              </a:defRPr>
            </a:pPr>
            <a:r>
              <a:rPr sz="2100" b="0">
                <a:solidFill>
                  <a:srgbClr val="233746"/>
                </a:solidFill>
                <a:latin typeface="Helvetica Neue"/>
                <a:ea typeface="Helvetica Neue"/>
                <a:cs typeface="Helvetica Neue"/>
              </a:rPr>
              <a:t>Waiting for an advising email reply</a:t>
            </a:r>
          </a:p>
        </p:txBody>
      </p:sp>
      <p:sp>
        <p:nvSpPr>
          <p:cNvPr id="8" name="">
            <a:extLst xmlns:a="http://schemas.openxmlformats.org/drawingml/2006/main">
              <a:ext uri="{FF2B5EF4-FFF2-40B4-BE49-F238E27FC236}">
                <a16:creationId xmlns:a16="http://schemas.microsoft.com/office/drawing/2014/main" id="{5343650E-17AF-4CA6-A300-0A6A92A8CAB3}"/>
              </a:ext>
            </a:extLst>
          </p:cNvPr>
          <p:cNvSpPr>
            <a:spLocks xmlns:a="http://schemas.openxmlformats.org/drawingml/2006/main" noGrp="1"/>
          </p:cNvSpPr>
          <p:nvPr/>
        </p:nvSpPr>
        <p:spPr>
          <a:xfrm xmlns:a="http://schemas.openxmlformats.org/drawingml/2006/main">
            <a:off x="533400" y="4895850"/>
            <a:ext cx="5048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83449"/>
                </a:solidFill>
                <a:latin typeface="Helvetica Neue"/>
                <a:ea typeface="Helvetica Neue"/>
                <a:cs typeface="Helvetica Neue"/>
              </a:defRPr>
            </a:pPr>
            <a:r>
              <a:rPr sz="2550" b="1">
                <a:solidFill>
                  <a:srgbClr val="183449"/>
                </a:solidFill>
                <a:latin typeface="Helvetica Neue"/>
                <a:ea typeface="Helvetica Neue"/>
                <a:cs typeface="Helvetica Neue"/>
              </a:rPr>
              <a:t>4–5 login attempts</a:t>
            </a:r>
          </a:p>
        </p:txBody>
      </p:sp>
      <p:sp>
        <p:nvSpPr>
          <p:cNvPr id="9" name="">
            <a:extLst xmlns:a="http://schemas.openxmlformats.org/drawingml/2006/main">
              <a:ext uri="{FF2B5EF4-FFF2-40B4-BE49-F238E27FC236}">
                <a16:creationId xmlns:a16="http://schemas.microsoft.com/office/drawing/2014/main" id="{B19CB156-D09F-428B-8DCE-3BB0B628ABAF}"/>
              </a:ext>
            </a:extLst>
          </p:cNvPr>
          <p:cNvSpPr>
            <a:spLocks xmlns:a="http://schemas.openxmlformats.org/drawingml/2006/main" noGrp="1"/>
          </p:cNvSpPr>
          <p:nvPr/>
        </p:nvSpPr>
        <p:spPr>
          <a:xfrm xmlns:a="http://schemas.openxmlformats.org/drawingml/2006/main">
            <a:off x="533400" y="5486400"/>
            <a:ext cx="5095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33746"/>
                </a:solidFill>
                <a:latin typeface="Helvetica Neue"/>
                <a:ea typeface="Helvetica Neue"/>
                <a:cs typeface="Helvetica Neue"/>
              </a:defRPr>
            </a:pPr>
            <a:r>
              <a:rPr sz="1725" b="0">
                <a:solidFill>
                  <a:srgbClr val="233746"/>
                </a:solidFill>
                <a:latin typeface="Helvetica Neue"/>
                <a:ea typeface="Helvetica Neue"/>
                <a:cs typeface="Helvetica Neue"/>
              </a:rPr>
              <a:t>The same student’s LMS access experience</a:t>
            </a:r>
          </a:p>
        </p:txBody>
      </p:sp>
      <p:sp>
        <p:nvSpPr>
          <p:cNvPr id="10" name="">
            <a:extLst xmlns:a="http://schemas.openxmlformats.org/drawingml/2006/main">
              <a:ext uri="{FF2B5EF4-FFF2-40B4-BE49-F238E27FC236}">
                <a16:creationId xmlns:a16="http://schemas.microsoft.com/office/drawing/2014/main" id="{C34BD4A5-B027-4961-B52D-F9709DC9F71D}"/>
              </a:ext>
            </a:extLst>
          </p:cNvPr>
          <p:cNvSpPr>
            <a:spLocks xmlns:a="http://schemas.openxmlformats.org/drawingml/2006/main" noGrp="1"/>
          </p:cNvSpPr>
          <p:nvPr/>
        </p:nvSpPr>
        <p:spPr>
          <a:xfrm xmlns:a="http://schemas.openxmlformats.org/drawingml/2006/main">
            <a:off x="6477000" y="2486025"/>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449"/>
                </a:solidFill>
                <a:latin typeface="Helvetica Neue"/>
                <a:ea typeface="Helvetica Neue"/>
                <a:cs typeface="Helvetica Neue"/>
              </a:defRPr>
            </a:pPr>
            <a:r>
              <a:rPr sz="2175" b="1">
                <a:solidFill>
                  <a:srgbClr val="183449"/>
                </a:solidFill>
                <a:latin typeface="Helvetica Neue"/>
                <a:ea typeface="Helvetica Neue"/>
                <a:cs typeface="Helvetica Neue"/>
              </a:rPr>
              <a:t>Alumnus account</a:t>
            </a:r>
          </a:p>
        </p:txBody>
      </p:sp>
      <p:sp>
        <p:nvSpPr>
          <p:cNvPr id="11" name="">
            <a:extLst xmlns:a="http://schemas.openxmlformats.org/drawingml/2006/main">
              <a:ext uri="{FF2B5EF4-FFF2-40B4-BE49-F238E27FC236}">
                <a16:creationId xmlns:a16="http://schemas.microsoft.com/office/drawing/2014/main" id="{BD5BBABE-ADD6-4785-976C-AAA469480849}"/>
              </a:ext>
            </a:extLst>
          </p:cNvPr>
          <p:cNvSpPr>
            <a:spLocks xmlns:a="http://schemas.openxmlformats.org/drawingml/2006/main" noGrp="1"/>
          </p:cNvSpPr>
          <p:nvPr/>
        </p:nvSpPr>
        <p:spPr>
          <a:xfrm xmlns:a="http://schemas.openxmlformats.org/drawingml/2006/main">
            <a:off x="6477000" y="3086100"/>
            <a:ext cx="5048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1">
                <a:solidFill>
                  <a:srgbClr val="16878A"/>
                </a:solidFill>
                <a:latin typeface="Helvetica Neue"/>
                <a:ea typeface="Helvetica Neue"/>
                <a:cs typeface="Helvetica Neue"/>
              </a:defRPr>
            </a:pPr>
            <a:r>
              <a:rPr sz="4875" b="1">
                <a:solidFill>
                  <a:srgbClr val="16878A"/>
                </a:solidFill>
                <a:latin typeface="Helvetica Neue"/>
                <a:ea typeface="Helvetica Neue"/>
                <a:cs typeface="Helvetica Neue"/>
              </a:rPr>
              <a:t>Weekly</a:t>
            </a:r>
          </a:p>
        </p:txBody>
      </p:sp>
      <p:sp>
        <p:nvSpPr>
          <p:cNvPr id="12" name="">
            <a:extLst xmlns:a="http://schemas.openxmlformats.org/drawingml/2006/main">
              <a:ext uri="{FF2B5EF4-FFF2-40B4-BE49-F238E27FC236}">
                <a16:creationId xmlns:a16="http://schemas.microsoft.com/office/drawing/2014/main" id="{EE3783F1-AB6C-43FB-BE77-ED123A719849}"/>
              </a:ext>
            </a:extLst>
          </p:cNvPr>
          <p:cNvSpPr>
            <a:spLocks xmlns:a="http://schemas.openxmlformats.org/drawingml/2006/main" noGrp="1"/>
          </p:cNvSpPr>
          <p:nvPr/>
        </p:nvSpPr>
        <p:spPr>
          <a:xfrm xmlns:a="http://schemas.openxmlformats.org/drawingml/2006/main">
            <a:off x="6477000" y="4000500"/>
            <a:ext cx="5048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33746"/>
                </a:solidFill>
                <a:latin typeface="Helvetica Neue"/>
                <a:ea typeface="Helvetica Neue"/>
                <a:cs typeface="Helvetica Neue"/>
              </a:defRPr>
            </a:pPr>
            <a:r>
              <a:rPr sz="2100" b="0">
                <a:solidFill>
                  <a:srgbClr val="233746"/>
                </a:solidFill>
                <a:latin typeface="Helvetica Neue"/>
                <a:ea typeface="Helvetica Neue"/>
                <a:cs typeface="Helvetica Neue"/>
              </a:rPr>
              <a:t>Thesis supervision meetings</a:t>
            </a:r>
          </a:p>
        </p:txBody>
      </p:sp>
      <p:sp>
        <p:nvSpPr>
          <p:cNvPr id="13" name="">
            <a:extLst xmlns:a="http://schemas.openxmlformats.org/drawingml/2006/main">
              <a:ext uri="{FF2B5EF4-FFF2-40B4-BE49-F238E27FC236}">
                <a16:creationId xmlns:a16="http://schemas.microsoft.com/office/drawing/2014/main" id="{6CA61A26-D697-4C8A-A12B-2BBD3CD705D4}"/>
              </a:ext>
            </a:extLst>
          </p:cNvPr>
          <p:cNvSpPr>
            <a:spLocks xmlns:a="http://schemas.openxmlformats.org/drawingml/2006/main" noGrp="1"/>
          </p:cNvSpPr>
          <p:nvPr/>
        </p:nvSpPr>
        <p:spPr>
          <a:xfrm xmlns:a="http://schemas.openxmlformats.org/drawingml/2006/main">
            <a:off x="6477000" y="4895850"/>
            <a:ext cx="5048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83449"/>
                </a:solidFill>
                <a:latin typeface="Helvetica Neue"/>
                <a:ea typeface="Helvetica Neue"/>
                <a:cs typeface="Helvetica Neue"/>
              </a:defRPr>
            </a:pPr>
            <a:r>
              <a:rPr sz="2400" b="1">
                <a:solidFill>
                  <a:srgbClr val="183449"/>
                </a:solidFill>
                <a:latin typeface="Helvetica Neue"/>
                <a:ea typeface="Helvetica Neue"/>
                <a:cs typeface="Helvetica Neue"/>
              </a:rPr>
              <a:t>Missed graduation notice</a:t>
            </a:r>
          </a:p>
        </p:txBody>
      </p:sp>
      <p:sp>
        <p:nvSpPr>
          <p:cNvPr id="14" name="">
            <a:extLst xmlns:a="http://schemas.openxmlformats.org/drawingml/2006/main">
              <a:ext uri="{FF2B5EF4-FFF2-40B4-BE49-F238E27FC236}">
                <a16:creationId xmlns:a16="http://schemas.microsoft.com/office/drawing/2014/main" id="{9188FA7A-970E-4452-8719-155F990D642B}"/>
              </a:ext>
            </a:extLst>
          </p:cNvPr>
          <p:cNvSpPr>
            <a:spLocks xmlns:a="http://schemas.openxmlformats.org/drawingml/2006/main" noGrp="1"/>
          </p:cNvSpPr>
          <p:nvPr/>
        </p:nvSpPr>
        <p:spPr>
          <a:xfrm xmlns:a="http://schemas.openxmlformats.org/drawingml/2006/main">
            <a:off x="6477000" y="5486400"/>
            <a:ext cx="5048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3746"/>
                </a:solidFill>
                <a:latin typeface="Helvetica Neue"/>
                <a:ea typeface="Helvetica Neue"/>
                <a:cs typeface="Helvetica Neue"/>
              </a:defRPr>
            </a:pPr>
            <a:r>
              <a:rPr sz="1875" b="0">
                <a:solidFill>
                  <a:srgbClr val="233746"/>
                </a:solidFill>
                <a:latin typeface="Helvetica Neue"/>
                <a:ea typeface="Helvetica Neue"/>
                <a:cs typeface="Helvetica Neue"/>
              </a:rPr>
              <a:t>Faculty helped resolve registration</a:t>
            </a:r>
          </a:p>
        </p:txBody>
      </p:sp>
      <p:sp>
        <p:nvSpPr>
          <p:cNvPr id="15" name="">
            <a:extLst xmlns:a="http://schemas.openxmlformats.org/drawingml/2006/main">
              <a:ext uri="{FF2B5EF4-FFF2-40B4-BE49-F238E27FC236}">
                <a16:creationId xmlns:a16="http://schemas.microsoft.com/office/drawing/2014/main" id="{D70A6845-5002-411F-9160-EE77CDFE9A97}"/>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Source: Customer Experience module CSE interviews. Both service friction and effective faculty support are recorded.</a:t>
            </a:r>
          </a:p>
        </p:txBody>
      </p:sp>
    </p:spTree>
    <p:extLst>
      <p:ext uri="{BB962C8B-B14F-4D97-AF65-F5344CB8AC3E}">
        <p14:creationId xmlns:p14="http://schemas.microsoft.com/office/powerpoint/2010/main" val="1996086132"/>
      </p:ext>
    </p:extLst>
  </p:cSld>
</p:sld>
</file>

<file path=ppt/slides/slide3.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A3D849E-EB2E-4229-99AC-7878DCF30D4D}"/>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01  CURRENT-STATE ANALYSIS</a:t>
            </a:r>
          </a:p>
        </p:txBody>
      </p:sp>
      <p:sp>
        <p:nvSpPr>
          <p:cNvPr id="2" name="">
            <a:extLst xmlns:a="http://schemas.openxmlformats.org/drawingml/2006/main">
              <a:ext uri="{FF2B5EF4-FFF2-40B4-BE49-F238E27FC236}">
                <a16:creationId xmlns:a16="http://schemas.microsoft.com/office/drawing/2014/main" id="{3D4B251D-4041-49E7-94EB-AF32B1174E5A}"/>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BMS: recorded barriers to learning</a:t>
            </a:r>
          </a:p>
        </p:txBody>
      </p:sp>
      <p:sp>
        <p:nvSpPr>
          <p:cNvPr id="3" name="">
            <a:extLst xmlns:a="http://schemas.openxmlformats.org/drawingml/2006/main">
              <a:ext uri="{FF2B5EF4-FFF2-40B4-BE49-F238E27FC236}">
                <a16:creationId xmlns:a16="http://schemas.microsoft.com/office/drawing/2014/main" id="{F5E353A4-C0E6-4F1D-B1EA-CB5309377ABF}"/>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8 respondents. Each bar shows how many selected the issue; answers can overlap.</a:t>
            </a:r>
          </a:p>
        </p:txBody>
      </p:sp>
      <p:sp>
        <p:nvSpPr>
          <p:cNvPr id="4" name="">
            <a:extLst xmlns:a="http://schemas.openxmlformats.org/drawingml/2006/main">
              <a:ext uri="{FF2B5EF4-FFF2-40B4-BE49-F238E27FC236}">
                <a16:creationId xmlns:a16="http://schemas.microsoft.com/office/drawing/2014/main" id="{E7C6D6DA-D252-4D61-B80B-B043C7F7AD8A}"/>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03</a:t>
            </a:r>
          </a:p>
        </p:txBody>
      </p:sp>
      <p:graphicFrame>
        <p:nvGraphicFramePr>
          <p:cNvPr id="11" name="Chart"/>
          <p:cNvGraphicFramePr/>
          <p:nvPr/>
        </p:nvGraphicFramePr>
        <p:xfrm>
          <a:off xmlns:a="http://schemas.openxmlformats.org/drawingml/2006/main" x="533400" y="2428875"/>
          <a:ext xmlns:a="http://schemas.openxmlformats.org/drawingml/2006/main" cx="11125200" cy="3476625"/>
        </p:xfrm>
        <a:graphic xmlns:a="http://schemas.openxmlformats.org/drawingml/2006/main">
          <a:graphicData uri="http://schemas.openxmlformats.org/drawingml/2006/chart">
            <c:chart xmlns:r="http://schemas.openxmlformats.org/officeDocument/2006/relationships" xmlns:c="http://schemas.openxmlformats.org/drawingml/2006/chart" r:id="R7c3729268d8d4c25"/>
          </a:graphicData>
        </a:graphic>
      </p:graphicFrame>
      <p:sp>
        <p:nvSpPr>
          <p:cNvPr id="6" name="">
            <a:extLst xmlns:a="http://schemas.openxmlformats.org/drawingml/2006/main">
              <a:ext uri="{FF2B5EF4-FFF2-40B4-BE49-F238E27FC236}">
                <a16:creationId xmlns:a16="http://schemas.microsoft.com/office/drawing/2014/main" id="{3F4ADF42-52DD-4E79-B914-89E02DE2948C}"/>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Source: Customer Experience module BMS survey, Figures 2–3. Counts describe this sample, not all BMS students.</a:t>
            </a:r>
          </a:p>
        </p:txBody>
      </p:sp>
    </p:spTree>
    <p:extLst>
      <p:ext uri="{BB962C8B-B14F-4D97-AF65-F5344CB8AC3E}">
        <p14:creationId xmlns:p14="http://schemas.microsoft.com/office/powerpoint/2010/main" val="744798008"/>
      </p:ext>
    </p:extLst>
  </p:cSld>
</p:sld>
</file>

<file path=ppt/slides/slide4.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02A70F9-6854-4732-8437-3FCBC0D8368A}"/>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01  CURRENT-STATE ANALYSIS</a:t>
            </a:r>
          </a:p>
        </p:txBody>
      </p:sp>
      <p:sp>
        <p:nvSpPr>
          <p:cNvPr id="2" name="">
            <a:extLst xmlns:a="http://schemas.openxmlformats.org/drawingml/2006/main">
              <a:ext uri="{FF2B5EF4-FFF2-40B4-BE49-F238E27FC236}">
                <a16:creationId xmlns:a16="http://schemas.microsoft.com/office/drawing/2014/main" id="{22DAE13D-B448-459D-A5A3-66CB7AB0384E}"/>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BMS: the full lab satisfaction distribution</a:t>
            </a:r>
          </a:p>
        </p:txBody>
      </p:sp>
      <p:sp>
        <p:nvSpPr>
          <p:cNvPr id="3" name="">
            <a:extLst xmlns:a="http://schemas.openxmlformats.org/drawingml/2006/main">
              <a:ext uri="{FF2B5EF4-FFF2-40B4-BE49-F238E27FC236}">
                <a16:creationId xmlns:a16="http://schemas.microsoft.com/office/drawing/2014/main" id="{AD5BACC0-9EC9-48E2-A014-E11FAD52D3EE}"/>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The original chart shows mixed-to-positive ratings alongside specific complaints about heat.</a:t>
            </a:r>
          </a:p>
        </p:txBody>
      </p:sp>
      <p:sp>
        <p:nvSpPr>
          <p:cNvPr id="4" name="">
            <a:extLst xmlns:a="http://schemas.openxmlformats.org/drawingml/2006/main">
              <a:ext uri="{FF2B5EF4-FFF2-40B4-BE49-F238E27FC236}">
                <a16:creationId xmlns:a16="http://schemas.microsoft.com/office/drawing/2014/main" id="{B0BD2DB7-91E1-45CF-B3E2-8E7ABC89A82B}"/>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04</a:t>
            </a:r>
          </a:p>
        </p:txBody>
      </p:sp>
      <p:graphicFrame>
        <p:nvGraphicFramePr>
          <p:cNvPr id="15" name="Chart"/>
          <p:cNvGraphicFramePr/>
          <p:nvPr/>
        </p:nvGraphicFramePr>
        <p:xfrm>
          <a:off xmlns:a="http://schemas.openxmlformats.org/drawingml/2006/main" x="533400" y="2619375"/>
          <a:ext xmlns:a="http://schemas.openxmlformats.org/drawingml/2006/main" cx="7143750" cy="3048000"/>
        </p:xfrm>
        <a:graphic xmlns:a="http://schemas.openxmlformats.org/drawingml/2006/main">
          <a:graphicData uri="http://schemas.openxmlformats.org/drawingml/2006/chart">
            <c:chart xmlns:r="http://schemas.openxmlformats.org/officeDocument/2006/relationships" xmlns:c="http://schemas.openxmlformats.org/drawingml/2006/chart" r:id="R13890ec0495d46cc"/>
          </a:graphicData>
        </a:graphic>
      </p:graphicFrame>
      <p:sp>
        <p:nvSpPr>
          <p:cNvPr id="6" name="">
            <a:extLst xmlns:a="http://schemas.openxmlformats.org/drawingml/2006/main">
              <a:ext uri="{FF2B5EF4-FFF2-40B4-BE49-F238E27FC236}">
                <a16:creationId xmlns:a16="http://schemas.microsoft.com/office/drawing/2014/main" id="{8B273FB4-51BB-4B40-9846-955E284271EA}"/>
              </a:ext>
            </a:extLst>
          </p:cNvPr>
          <p:cNvSpPr>
            <a:spLocks xmlns:a="http://schemas.openxmlformats.org/drawingml/2006/main" noGrp="1"/>
          </p:cNvSpPr>
          <p:nvPr/>
        </p:nvSpPr>
        <p:spPr>
          <a:xfrm xmlns:a="http://schemas.openxmlformats.org/drawingml/2006/main">
            <a:off x="8382000" y="2571750"/>
            <a:ext cx="32861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6878A"/>
                </a:solidFill>
                <a:latin typeface="Helvetica Neue"/>
                <a:ea typeface="Helvetica Neue"/>
                <a:cs typeface="Helvetica Neue"/>
              </a:defRPr>
            </a:pPr>
            <a:r>
              <a:rPr sz="4200" b="1">
                <a:solidFill>
                  <a:srgbClr val="16878A"/>
                </a:solidFill>
                <a:latin typeface="Helvetica Neue"/>
                <a:ea typeface="Helvetica Neue"/>
                <a:cs typeface="Helvetica Neue"/>
              </a:rPr>
              <a:t>3.63 / 5</a:t>
            </a:r>
          </a:p>
        </p:txBody>
      </p:sp>
      <p:sp>
        <p:nvSpPr>
          <p:cNvPr id="7" name="">
            <a:extLst xmlns:a="http://schemas.openxmlformats.org/drawingml/2006/main">
              <a:ext uri="{FF2B5EF4-FFF2-40B4-BE49-F238E27FC236}">
                <a16:creationId xmlns:a16="http://schemas.microsoft.com/office/drawing/2014/main" id="{9F561C7E-6661-477E-92E8-FFC39CA1CA5D}"/>
              </a:ext>
            </a:extLst>
          </p:cNvPr>
          <p:cNvSpPr>
            <a:spLocks xmlns:a="http://schemas.openxmlformats.org/drawingml/2006/main" noGrp="1"/>
          </p:cNvSpPr>
          <p:nvPr/>
        </p:nvSpPr>
        <p:spPr>
          <a:xfrm xmlns:a="http://schemas.openxmlformats.org/drawingml/2006/main">
            <a:off x="8382000" y="3448050"/>
            <a:ext cx="3143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746"/>
                </a:solidFill>
                <a:latin typeface="Helvetica Neue"/>
                <a:ea typeface="Helvetica Neue"/>
                <a:cs typeface="Helvetica Neue"/>
              </a:defRPr>
            </a:pPr>
            <a:r>
              <a:rPr sz="2025" b="0">
                <a:solidFill>
                  <a:srgbClr val="233746"/>
                </a:solidFill>
                <a:latin typeface="Helvetica Neue"/>
                <a:ea typeface="Helvetica Neue"/>
                <a:cs typeface="Helvetica Neue"/>
              </a:rPr>
              <a:t>Mean satisfaction</a:t>
            </a:r>
          </a:p>
          <a:p xmlns:a="http://schemas.openxmlformats.org/drawingml/2006/main">
            <a:pPr>
              <a:defRPr sz="2025" b="0">
                <a:solidFill>
                  <a:srgbClr val="233746"/>
                </a:solidFill>
                <a:latin typeface="Helvetica Neue"/>
                <a:ea typeface="Helvetica Neue"/>
                <a:cs typeface="Helvetica Neue"/>
              </a:defRPr>
            </a:pPr>
            <a:r>
              <a:rPr sz="2025" b="0">
                <a:solidFill>
                  <a:srgbClr val="233746"/>
                </a:solidFill>
                <a:latin typeface="Helvetica Neue"/>
                <a:ea typeface="Helvetica Neue"/>
                <a:cs typeface="Helvetica Neue"/>
              </a:rPr>
              <a:t>Calculated from 8 ratings</a:t>
            </a:r>
          </a:p>
        </p:txBody>
      </p:sp>
      <p:sp>
        <p:nvSpPr>
          <p:cNvPr id="8" name="">
            <a:extLst xmlns:a="http://schemas.openxmlformats.org/drawingml/2006/main">
              <a:ext uri="{FF2B5EF4-FFF2-40B4-BE49-F238E27FC236}">
                <a16:creationId xmlns:a16="http://schemas.microsoft.com/office/drawing/2014/main" id="{3242E6F2-F19E-4F9F-9683-5BD2039740A2}"/>
              </a:ext>
            </a:extLst>
          </p:cNvPr>
          <p:cNvSpPr>
            <a:spLocks xmlns:a="http://schemas.openxmlformats.org/drawingml/2006/main" noGrp="1"/>
          </p:cNvSpPr>
          <p:nvPr/>
        </p:nvSpPr>
        <p:spPr>
          <a:xfrm xmlns:a="http://schemas.openxmlformats.org/drawingml/2006/main">
            <a:off x="8382000" y="4438650"/>
            <a:ext cx="3238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83449"/>
                </a:solidFill>
                <a:latin typeface="Helvetica Neue"/>
                <a:ea typeface="Helvetica Neue"/>
                <a:cs typeface="Helvetica Neue"/>
              </a:defRPr>
            </a:pPr>
            <a:r>
              <a:rPr sz="3375" b="1">
                <a:solidFill>
                  <a:srgbClr val="183449"/>
                </a:solidFill>
                <a:latin typeface="Helvetica Neue"/>
                <a:ea typeface="Helvetica Neue"/>
                <a:cs typeface="Helvetica Neue"/>
              </a:rPr>
              <a:t>4 of 8</a:t>
            </a:r>
          </a:p>
        </p:txBody>
      </p:sp>
      <p:sp>
        <p:nvSpPr>
          <p:cNvPr id="9" name="">
            <a:extLst xmlns:a="http://schemas.openxmlformats.org/drawingml/2006/main">
              <a:ext uri="{FF2B5EF4-FFF2-40B4-BE49-F238E27FC236}">
                <a16:creationId xmlns:a16="http://schemas.microsoft.com/office/drawing/2014/main" id="{A7C29CB6-56B7-484F-90CF-BD8200A6CB92}"/>
              </a:ext>
            </a:extLst>
          </p:cNvPr>
          <p:cNvSpPr>
            <a:spLocks xmlns:a="http://schemas.openxmlformats.org/drawingml/2006/main" noGrp="1"/>
          </p:cNvSpPr>
          <p:nvPr/>
        </p:nvSpPr>
        <p:spPr>
          <a:xfrm xmlns:a="http://schemas.openxmlformats.org/drawingml/2006/main">
            <a:off x="8382000" y="5200650"/>
            <a:ext cx="3143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33746"/>
                </a:solidFill>
                <a:latin typeface="Helvetica Neue"/>
                <a:ea typeface="Helvetica Neue"/>
                <a:cs typeface="Helvetica Neue"/>
              </a:defRPr>
            </a:pPr>
            <a:r>
              <a:rPr sz="1950" b="0">
                <a:solidFill>
                  <a:srgbClr val="233746"/>
                </a:solidFill>
                <a:latin typeface="Helvetica Neue"/>
                <a:ea typeface="Helvetica Neue"/>
                <a:cs typeface="Helvetica Neue"/>
              </a:rPr>
              <a:t>Rated the lab 4 or 5</a:t>
            </a:r>
          </a:p>
        </p:txBody>
      </p:sp>
      <p:sp>
        <p:nvSpPr>
          <p:cNvPr id="10" name="">
            <a:extLst xmlns:a="http://schemas.openxmlformats.org/drawingml/2006/main">
              <a:ext uri="{FF2B5EF4-FFF2-40B4-BE49-F238E27FC236}">
                <a16:creationId xmlns:a16="http://schemas.microsoft.com/office/drawing/2014/main" id="{2BEF1493-F319-4176-B4E7-7784EB617CEF}"/>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Source: Customer Experience module BMS survey, Figure 1. Corrects the report narrative’s inaccurate 2/5 mean.</a:t>
            </a:r>
          </a:p>
        </p:txBody>
      </p:sp>
    </p:spTree>
    <p:extLst>
      <p:ext uri="{BB962C8B-B14F-4D97-AF65-F5344CB8AC3E}">
        <p14:creationId xmlns:p14="http://schemas.microsoft.com/office/powerpoint/2010/main" val="1502441733"/>
      </p:ext>
    </p:extLst>
  </p:cSld>
</p:sld>
</file>

<file path=ppt/slides/slide5.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414C5AA-2CCA-4D68-9790-D2990B082091}"/>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01  CURRENT-STATE ANALYSIS</a:t>
            </a:r>
          </a:p>
        </p:txBody>
      </p:sp>
      <p:sp>
        <p:nvSpPr>
          <p:cNvPr id="2" name="">
            <a:extLst xmlns:a="http://schemas.openxmlformats.org/drawingml/2006/main">
              <a:ext uri="{FF2B5EF4-FFF2-40B4-BE49-F238E27FC236}">
                <a16:creationId xmlns:a16="http://schemas.microsoft.com/office/drawing/2014/main" id="{BD0F4C63-CF53-4C15-9104-0433C704DD23}"/>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BMS: stress levels cluster at 7–8</a:t>
            </a:r>
          </a:p>
        </p:txBody>
      </p:sp>
      <p:sp>
        <p:nvSpPr>
          <p:cNvPr id="3" name="">
            <a:extLst xmlns:a="http://schemas.openxmlformats.org/drawingml/2006/main">
              <a:ext uri="{FF2B5EF4-FFF2-40B4-BE49-F238E27FC236}">
                <a16:creationId xmlns:a16="http://schemas.microsoft.com/office/drawing/2014/main" id="{7F751F9B-542E-4631-B925-F7F0DB8A89E9}"/>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8 respondents rated their stress on a 1–10 scale.</a:t>
            </a:r>
          </a:p>
        </p:txBody>
      </p:sp>
      <p:sp>
        <p:nvSpPr>
          <p:cNvPr id="4" name="">
            <a:extLst xmlns:a="http://schemas.openxmlformats.org/drawingml/2006/main">
              <a:ext uri="{FF2B5EF4-FFF2-40B4-BE49-F238E27FC236}">
                <a16:creationId xmlns:a16="http://schemas.microsoft.com/office/drawing/2014/main" id="{A71C8072-90A9-4884-8CB6-13996FA2733A}"/>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05</a:t>
            </a:r>
          </a:p>
        </p:txBody>
      </p:sp>
      <p:graphicFrame>
        <p:nvGraphicFramePr>
          <p:cNvPr id="15" name="Chart"/>
          <p:cNvGraphicFramePr/>
          <p:nvPr/>
        </p:nvGraphicFramePr>
        <p:xfrm>
          <a:off xmlns:a="http://schemas.openxmlformats.org/drawingml/2006/main" x="533400" y="2533650"/>
          <a:ext xmlns:a="http://schemas.openxmlformats.org/drawingml/2006/main" cx="7191375" cy="3209925"/>
        </p:xfrm>
        <a:graphic xmlns:a="http://schemas.openxmlformats.org/drawingml/2006/main">
          <a:graphicData uri="http://schemas.openxmlformats.org/drawingml/2006/chart">
            <c:chart xmlns:r="http://schemas.openxmlformats.org/officeDocument/2006/relationships" xmlns:c="http://schemas.openxmlformats.org/drawingml/2006/chart" r:id="Rdb430a7c928141aa"/>
          </a:graphicData>
        </a:graphic>
      </p:graphicFrame>
      <p:sp>
        <p:nvSpPr>
          <p:cNvPr id="6" name="">
            <a:extLst xmlns:a="http://schemas.openxmlformats.org/drawingml/2006/main">
              <a:ext uri="{FF2B5EF4-FFF2-40B4-BE49-F238E27FC236}">
                <a16:creationId xmlns:a16="http://schemas.microsoft.com/office/drawing/2014/main" id="{B2C0777C-1CA0-4601-8B73-641A7CD32026}"/>
              </a:ext>
            </a:extLst>
          </p:cNvPr>
          <p:cNvSpPr>
            <a:spLocks xmlns:a="http://schemas.openxmlformats.org/drawingml/2006/main" noGrp="1"/>
          </p:cNvSpPr>
          <p:nvPr/>
        </p:nvSpPr>
        <p:spPr>
          <a:xfrm xmlns:a="http://schemas.openxmlformats.org/drawingml/2006/main">
            <a:off x="8429625" y="2543175"/>
            <a:ext cx="30003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16878A"/>
                </a:solidFill>
                <a:latin typeface="Helvetica Neue"/>
                <a:ea typeface="Helvetica Neue"/>
                <a:cs typeface="Helvetica Neue"/>
              </a:defRPr>
            </a:pPr>
            <a:r>
              <a:rPr sz="3825" b="1">
                <a:solidFill>
                  <a:srgbClr val="16878A"/>
                </a:solidFill>
                <a:latin typeface="Helvetica Neue"/>
                <a:ea typeface="Helvetica Neue"/>
                <a:cs typeface="Helvetica Neue"/>
              </a:rPr>
              <a:t>5 of 8</a:t>
            </a:r>
          </a:p>
        </p:txBody>
      </p:sp>
      <p:sp>
        <p:nvSpPr>
          <p:cNvPr id="7" name="">
            <a:extLst xmlns:a="http://schemas.openxmlformats.org/drawingml/2006/main">
              <a:ext uri="{FF2B5EF4-FFF2-40B4-BE49-F238E27FC236}">
                <a16:creationId xmlns:a16="http://schemas.microsoft.com/office/drawing/2014/main" id="{2DB044C4-5F9B-4749-A99F-98DD4F6B3B6A}"/>
              </a:ext>
            </a:extLst>
          </p:cNvPr>
          <p:cNvSpPr>
            <a:spLocks xmlns:a="http://schemas.openxmlformats.org/drawingml/2006/main" noGrp="1"/>
          </p:cNvSpPr>
          <p:nvPr/>
        </p:nvSpPr>
        <p:spPr>
          <a:xfrm xmlns:a="http://schemas.openxmlformats.org/drawingml/2006/main">
            <a:off x="8429625" y="3248025"/>
            <a:ext cx="3000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3746"/>
                </a:solidFill>
                <a:latin typeface="Helvetica Neue"/>
                <a:ea typeface="Helvetica Neue"/>
                <a:cs typeface="Helvetica Neue"/>
              </a:defRPr>
            </a:pPr>
            <a:r>
              <a:rPr sz="1875" b="0">
                <a:solidFill>
                  <a:srgbClr val="233746"/>
                </a:solidFill>
                <a:latin typeface="Helvetica Neue"/>
                <a:ea typeface="Helvetica Neue"/>
                <a:cs typeface="Helvetica Neue"/>
              </a:rPr>
              <a:t>Rated stress 7 or 8</a:t>
            </a:r>
          </a:p>
        </p:txBody>
      </p:sp>
      <p:sp>
        <p:nvSpPr>
          <p:cNvPr id="8" name="">
            <a:extLst xmlns:a="http://schemas.openxmlformats.org/drawingml/2006/main">
              <a:ext uri="{FF2B5EF4-FFF2-40B4-BE49-F238E27FC236}">
                <a16:creationId xmlns:a16="http://schemas.microsoft.com/office/drawing/2014/main" id="{DD688CCB-CD27-4931-B474-3E67AF827CE3}"/>
              </a:ext>
            </a:extLst>
          </p:cNvPr>
          <p:cNvSpPr>
            <a:spLocks xmlns:a="http://schemas.openxmlformats.org/drawingml/2006/main" noGrp="1"/>
          </p:cNvSpPr>
          <p:nvPr/>
        </p:nvSpPr>
        <p:spPr>
          <a:xfrm xmlns:a="http://schemas.openxmlformats.org/drawingml/2006/main">
            <a:off x="8429625" y="4010025"/>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449"/>
                </a:solidFill>
                <a:latin typeface="Helvetica Neue"/>
                <a:ea typeface="Helvetica Neue"/>
                <a:cs typeface="Helvetica Neue"/>
              </a:defRPr>
            </a:pPr>
            <a:r>
              <a:rPr sz="2100" b="1">
                <a:solidFill>
                  <a:srgbClr val="183449"/>
                </a:solidFill>
                <a:latin typeface="Helvetica Neue"/>
                <a:ea typeface="Helvetica Neue"/>
                <a:cs typeface="Helvetica Neue"/>
              </a:rPr>
              <a:t>8/8 prefer hands-on practice</a:t>
            </a:r>
          </a:p>
        </p:txBody>
      </p:sp>
      <p:sp>
        <p:nvSpPr>
          <p:cNvPr id="9" name="">
            <a:extLst xmlns:a="http://schemas.openxmlformats.org/drawingml/2006/main">
              <a:ext uri="{FF2B5EF4-FFF2-40B4-BE49-F238E27FC236}">
                <a16:creationId xmlns:a16="http://schemas.microsoft.com/office/drawing/2014/main" id="{DFF51661-E706-43E2-AEC3-8339410EDC11}"/>
              </a:ext>
            </a:extLst>
          </p:cNvPr>
          <p:cNvSpPr>
            <a:spLocks xmlns:a="http://schemas.openxmlformats.org/drawingml/2006/main" noGrp="1"/>
          </p:cNvSpPr>
          <p:nvPr/>
        </p:nvSpPr>
        <p:spPr>
          <a:xfrm xmlns:a="http://schemas.openxmlformats.org/drawingml/2006/main">
            <a:off x="8429625" y="5019675"/>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449"/>
                </a:solidFill>
                <a:latin typeface="Helvetica Neue"/>
                <a:ea typeface="Helvetica Neue"/>
                <a:cs typeface="Helvetica Neue"/>
              </a:defRPr>
            </a:pPr>
            <a:r>
              <a:rPr sz="2100" b="1">
                <a:solidFill>
                  <a:srgbClr val="183449"/>
                </a:solidFill>
                <a:latin typeface="Helvetica Neue"/>
                <a:ea typeface="Helvetica Neue"/>
                <a:cs typeface="Helvetica Neue"/>
              </a:rPr>
              <a:t>7/8 cite family tuition pressure</a:t>
            </a:r>
          </a:p>
        </p:txBody>
      </p:sp>
      <p:sp>
        <p:nvSpPr>
          <p:cNvPr id="10" name="">
            <a:extLst xmlns:a="http://schemas.openxmlformats.org/drawingml/2006/main">
              <a:ext uri="{FF2B5EF4-FFF2-40B4-BE49-F238E27FC236}">
                <a16:creationId xmlns:a16="http://schemas.microsoft.com/office/drawing/2014/main" id="{3D13181B-9EEB-4157-82A3-261785C0B6C6}"/>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Source: Customer Experience module BMS survey, Figures 4–6. Preferences and self-reports, not causal evidence.</a:t>
            </a:r>
          </a:p>
        </p:txBody>
      </p:sp>
    </p:spTree>
    <p:extLst>
      <p:ext uri="{BB962C8B-B14F-4D97-AF65-F5344CB8AC3E}">
        <p14:creationId xmlns:p14="http://schemas.microsoft.com/office/powerpoint/2010/main" val="371586247"/>
      </p:ext>
    </p:extLst>
  </p:cSld>
</p:sld>
</file>

<file path=ppt/slides/slide6.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E59E89D-FD59-441B-AFB8-A90CB95357AB}"/>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01  CURRENT-STATE ANALYSIS</a:t>
            </a:r>
          </a:p>
        </p:txBody>
      </p:sp>
      <p:sp>
        <p:nvSpPr>
          <p:cNvPr id="2" name="">
            <a:extLst xmlns:a="http://schemas.openxmlformats.org/drawingml/2006/main">
              <a:ext uri="{FF2B5EF4-FFF2-40B4-BE49-F238E27FC236}">
                <a16:creationId xmlns:a16="http://schemas.microsoft.com/office/drawing/2014/main" id="{72E72AD8-D51D-4333-ACBF-2AEFD091EE5A}"/>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Symptoms, causes and capability gaps</a:t>
            </a:r>
          </a:p>
        </p:txBody>
      </p:sp>
      <p:sp>
        <p:nvSpPr>
          <p:cNvPr id="3" name="">
            <a:extLst xmlns:a="http://schemas.openxmlformats.org/drawingml/2006/main">
              <a:ext uri="{FF2B5EF4-FFF2-40B4-BE49-F238E27FC236}">
                <a16:creationId xmlns:a16="http://schemas.microsoft.com/office/drawing/2014/main" id="{8A20D345-35FC-4BF4-8477-26975D49424E}"/>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The process explanations below are hypotheses to test against the reported journeys.</a:t>
            </a:r>
          </a:p>
        </p:txBody>
      </p:sp>
      <p:sp>
        <p:nvSpPr>
          <p:cNvPr id="4" name="">
            <a:extLst xmlns:a="http://schemas.openxmlformats.org/drawingml/2006/main">
              <a:ext uri="{FF2B5EF4-FFF2-40B4-BE49-F238E27FC236}">
                <a16:creationId xmlns:a16="http://schemas.microsoft.com/office/drawing/2014/main" id="{87F48D36-0A1F-4698-BD35-EF2D14B7FED0}"/>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06</a:t>
            </a:r>
          </a:p>
        </p:txBody>
      </p:sp>
      <p:graphicFrame>
        <p:nvGraphicFramePr>
          <p:cNvPr id="11" name=""/>
          <p:cNvGraphicFramePr/>
          <p:nvPr/>
        </p:nvGraphicFramePr>
        <p:xfrm>
          <a:off xmlns:a="http://schemas.openxmlformats.org/drawingml/2006/main" x="533400" y="2428875"/>
          <a:ext xmlns:a="http://schemas.openxmlformats.org/drawingml/2006/main" cx="11125200" cy="3476625"/>
        </p:xfrm>
        <a:graphic xmlns:a="http://schemas.openxmlformats.org/drawingml/2006/main">
          <a:graphicData uri="http://schemas.openxmlformats.org/drawingml/2006/table">
            <a:tbl>
              <a:tblPr/>
              <a:tblGrid>
                <a:gridCol w="2238375"/>
                <a:gridCol w="4438650"/>
                <a:gridCol w="4448175"/>
              </a:tblGrid>
              <a:tr h="495300">
                <a:tc>
                  <a:txBody>
                    <a:bodyPr/>
                    <a:lstStyle/>
                    <a:p>
                      <a:r>
                        <a:rPr sz="1650" b="1">
                          <a:solidFill>
                            <a:srgbClr val="FFFFFF"/>
                          </a:solidFill>
                          <a:latin typeface="Helvetica Neue"/>
                          <a:ea typeface="Helvetica Neue"/>
                          <a:cs typeface="Helvetica Neue"/>
                        </a:rPr>
                        <a:t>Diagnostic step</a:t>
                      </a:r>
                    </a:p>
                  </a:txBody>
                  <a:tcPr marL="91440" marR="91440" marT="45720" marB="45720">
                    <a:solidFill>
                      <a:srgbClr val="183449"/>
                    </a:solidFill>
                  </a:tcPr>
                </a:tc>
                <a:tc>
                  <a:txBody>
                    <a:bodyPr/>
                    <a:lstStyle/>
                    <a:p>
                      <a:r>
                        <a:rPr sz="1650" b="1">
                          <a:solidFill>
                            <a:srgbClr val="FFFFFF"/>
                          </a:solidFill>
                          <a:latin typeface="Helvetica Neue"/>
                          <a:ea typeface="Helvetica Neue"/>
                          <a:cs typeface="Helvetica Neue"/>
                        </a:rPr>
                        <a:t>CSE course registration</a:t>
                      </a:r>
                    </a:p>
                  </a:txBody>
                  <a:tcPr marL="91440" marR="91440" marT="45720" marB="45720">
                    <a:solidFill>
                      <a:srgbClr val="183449"/>
                    </a:solidFill>
                  </a:tcPr>
                </a:tc>
                <a:tc>
                  <a:txBody>
                    <a:bodyPr/>
                    <a:lstStyle/>
                    <a:p>
                      <a:r>
                        <a:rPr sz="1650" b="1">
                          <a:solidFill>
                            <a:srgbClr val="FFFFFF"/>
                          </a:solidFill>
                          <a:latin typeface="Helvetica Neue"/>
                          <a:ea typeface="Helvetica Neue"/>
                          <a:cs typeface="Helvetica Neue"/>
                        </a:rPr>
                        <a:t>BMS lab access</a:t>
                      </a:r>
                    </a:p>
                  </a:txBody>
                  <a:tcPr marL="91440" marR="91440" marT="45720" marB="45720">
                    <a:solidFill>
                      <a:srgbClr val="183449"/>
                    </a:solidFill>
                  </a:tcPr>
                </a:tc>
              </a:tr>
              <a:tr h="596265">
                <a:tc>
                  <a:txBody>
                    <a:bodyPr/>
                    <a:lstStyle/>
                    <a:p>
                      <a:r>
                        <a:rPr sz="1650" b="1">
                          <a:solidFill>
                            <a:srgbClr val="233746"/>
                          </a:solidFill>
                          <a:latin typeface="Helvetica Neue"/>
                          <a:ea typeface="Helvetica Neue"/>
                          <a:cs typeface="Helvetica Neue"/>
                        </a:rPr>
                        <a:t>Observed symptom</a:t>
                      </a:r>
                    </a:p>
                  </a:txBody>
                  <a:tcPr marL="91440" marR="91440" marT="45720" marB="45720">
                    <a:solidFill>
                      <a:srgbClr val="FFFFFF"/>
                    </a:solidFill>
                  </a:tcPr>
                </a:tc>
                <a:tc>
                  <a:txBody>
                    <a:bodyPr/>
                    <a:lstStyle/>
                    <a:p>
                      <a:r>
                        <a:rPr sz="1650" b="0">
                          <a:solidFill>
                            <a:srgbClr val="233746"/>
                          </a:solidFill>
                          <a:latin typeface="Helvetica Neue"/>
                          <a:ea typeface="Helvetica Neue"/>
                          <a:cs typeface="Helvetica Neue"/>
                        </a:rPr>
                        <a:t>Uncertainty that registration succeeded</a:t>
                      </a:r>
                    </a:p>
                  </a:txBody>
                  <a:tcPr marL="91440" marR="91440" marT="45720" marB="45720">
                    <a:solidFill>
                      <a:srgbClr val="FFFFFF"/>
                    </a:solidFill>
                  </a:tcPr>
                </a:tc>
                <a:tc>
                  <a:txBody>
                    <a:bodyPr/>
                    <a:lstStyle/>
                    <a:p>
                      <a:r>
                        <a:rPr sz="1650" b="0">
                          <a:solidFill>
                            <a:srgbClr val="233746"/>
                          </a:solidFill>
                          <a:latin typeface="Helvetica Neue"/>
                          <a:ea typeface="Helvetica Neue"/>
                          <a:cs typeface="Helvetica Neue"/>
                        </a:rPr>
                        <a:t>Insufficient practical time reported by 4/8</a:t>
                      </a:r>
                    </a:p>
                  </a:txBody>
                  <a:tcPr marL="91440" marR="91440" marT="45720" marB="45720">
                    <a:solidFill>
                      <a:srgbClr val="FFFFFF"/>
                    </a:solidFill>
                  </a:tcPr>
                </a:tc>
              </a:tr>
              <a:tr h="596265">
                <a:tc>
                  <a:txBody>
                    <a:bodyPr/>
                    <a:lstStyle/>
                    <a:p>
                      <a:r>
                        <a:rPr sz="1650" b="1">
                          <a:solidFill>
                            <a:srgbClr val="233746"/>
                          </a:solidFill>
                          <a:latin typeface="Helvetica Neue"/>
                          <a:ea typeface="Helvetica Neue"/>
                          <a:cs typeface="Helvetica Neue"/>
                        </a:rPr>
                        <a:t>Reported process</a:t>
                      </a:r>
                    </a:p>
                  </a:txBody>
                  <a:tcPr marL="91440" marR="91440" marT="45720" marB="45720">
                    <a:solidFill>
                      <a:srgbClr val="EDF3F4"/>
                    </a:solidFill>
                  </a:tcPr>
                </a:tc>
                <a:tc>
                  <a:txBody>
                    <a:bodyPr/>
                    <a:lstStyle/>
                    <a:p>
                      <a:r>
                        <a:rPr sz="1650" b="0">
                          <a:solidFill>
                            <a:srgbClr val="233746"/>
                          </a:solidFill>
                          <a:latin typeface="Helvetica Neue"/>
                          <a:ea typeface="Helvetica Neue"/>
                          <a:cs typeface="Helvetica Neue"/>
                        </a:rPr>
                        <a:t>Select courses, submit, check, email staff if unclear</a:t>
                      </a:r>
                    </a:p>
                  </a:txBody>
                  <a:tcPr marL="91440" marR="91440" marT="45720" marB="45720">
                    <a:solidFill>
                      <a:srgbClr val="EDF3F4"/>
                    </a:solidFill>
                  </a:tcPr>
                </a:tc>
                <a:tc>
                  <a:txBody>
                    <a:bodyPr/>
                    <a:lstStyle/>
                    <a:p>
                      <a:r>
                        <a:rPr sz="1650" b="0">
                          <a:solidFill>
                            <a:srgbClr val="233746"/>
                          </a:solidFill>
                          <a:latin typeface="Helvetica Neue"/>
                          <a:ea typeface="Helvetica Neue"/>
                          <a:cs typeface="Helvetica Neue"/>
                        </a:rPr>
                        <a:t>Request equipment/access, obtain approval, use lab</a:t>
                      </a:r>
                    </a:p>
                  </a:txBody>
                  <a:tcPr marL="91440" marR="91440" marT="45720" marB="45720">
                    <a:solidFill>
                      <a:srgbClr val="EDF3F4"/>
                    </a:solidFill>
                  </a:tcPr>
                </a:tc>
              </a:tr>
              <a:tr h="596265">
                <a:tc>
                  <a:txBody>
                    <a:bodyPr/>
                    <a:lstStyle/>
                    <a:p>
                      <a:r>
                        <a:rPr sz="1650" b="1">
                          <a:solidFill>
                            <a:srgbClr val="233746"/>
                          </a:solidFill>
                          <a:latin typeface="Helvetica Neue"/>
                          <a:ea typeface="Helvetica Neue"/>
                          <a:cs typeface="Helvetica Neue"/>
                        </a:rPr>
                        <a:t>Cause to test</a:t>
                      </a:r>
                    </a:p>
                  </a:txBody>
                  <a:tcPr marL="91440" marR="91440" marT="45720" marB="45720">
                    <a:solidFill>
                      <a:srgbClr val="FFFFFF"/>
                    </a:solidFill>
                  </a:tcPr>
                </a:tc>
                <a:tc>
                  <a:txBody>
                    <a:bodyPr/>
                    <a:lstStyle/>
                    <a:p>
                      <a:r>
                        <a:rPr sz="1650" b="0">
                          <a:solidFill>
                            <a:srgbClr val="233746"/>
                          </a:solidFill>
                          <a:latin typeface="Helvetica Neue"/>
                          <a:ea typeface="Helvetica Neue"/>
                          <a:cs typeface="Helvetica Neue"/>
                        </a:rPr>
                        <a:t>Unclear confirmation and slow exception handling</a:t>
                      </a:r>
                    </a:p>
                  </a:txBody>
                  <a:tcPr marL="91440" marR="91440" marT="45720" marB="45720">
                    <a:solidFill>
                      <a:srgbClr val="FFFFFF"/>
                    </a:solidFill>
                  </a:tcPr>
                </a:tc>
                <a:tc>
                  <a:txBody>
                    <a:bodyPr/>
                    <a:lstStyle/>
                    <a:p>
                      <a:r>
                        <a:rPr sz="1650" b="0">
                          <a:solidFill>
                            <a:srgbClr val="233746"/>
                          </a:solidFill>
                          <a:latin typeface="Helvetica Neue"/>
                          <a:ea typeface="Helvetica Neue"/>
                          <a:cs typeface="Helvetica Neue"/>
                        </a:rPr>
                        <a:t>Approval friction, session capacity or supervision gaps</a:t>
                      </a:r>
                    </a:p>
                  </a:txBody>
                  <a:tcPr marL="91440" marR="91440" marT="45720" marB="45720">
                    <a:solidFill>
                      <a:srgbClr val="FFFFFF"/>
                    </a:solidFill>
                  </a:tcPr>
                </a:tc>
              </a:tr>
              <a:tr h="596265">
                <a:tc>
                  <a:txBody>
                    <a:bodyPr/>
                    <a:lstStyle/>
                    <a:p>
                      <a:r>
                        <a:rPr sz="1650" b="1">
                          <a:solidFill>
                            <a:srgbClr val="233746"/>
                          </a:solidFill>
                          <a:latin typeface="Helvetica Neue"/>
                          <a:ea typeface="Helvetica Neue"/>
                          <a:cs typeface="Helvetica Neue"/>
                        </a:rPr>
                        <a:t>Capability gap to test</a:t>
                      </a:r>
                    </a:p>
                  </a:txBody>
                  <a:tcPr marL="91440" marR="91440" marT="45720" marB="45720">
                    <a:solidFill>
                      <a:srgbClr val="EDF3F4"/>
                    </a:solidFill>
                  </a:tcPr>
                </a:tc>
                <a:tc>
                  <a:txBody>
                    <a:bodyPr/>
                    <a:lstStyle/>
                    <a:p>
                      <a:r>
                        <a:rPr sz="1650" b="0">
                          <a:solidFill>
                            <a:srgbClr val="233746"/>
                          </a:solidFill>
                          <a:latin typeface="Helvetica Neue"/>
                          <a:ea typeface="Helvetica Neue"/>
                          <a:cs typeface="Helvetica Neue"/>
                        </a:rPr>
                        <a:t>Reliable status, clear rules and exception ownership</a:t>
                      </a:r>
                    </a:p>
                  </a:txBody>
                  <a:tcPr marL="91440" marR="91440" marT="45720" marB="45720">
                    <a:solidFill>
                      <a:srgbClr val="EDF3F4"/>
                    </a:solidFill>
                  </a:tcPr>
                </a:tc>
                <a:tc>
                  <a:txBody>
                    <a:bodyPr/>
                    <a:lstStyle/>
                    <a:p>
                      <a:r>
                        <a:rPr sz="1650" b="0">
                          <a:solidFill>
                            <a:srgbClr val="233746"/>
                          </a:solidFill>
                          <a:latin typeface="Helvetica Neue"/>
                          <a:ea typeface="Helvetica Neue"/>
                          <a:cs typeface="Helvetica Neue"/>
                        </a:rPr>
                        <a:t>Availability data, coverage and clear access rules</a:t>
                      </a:r>
                    </a:p>
                  </a:txBody>
                  <a:tcPr marL="91440" marR="91440" marT="45720" marB="45720">
                    <a:solidFill>
                      <a:srgbClr val="EDF3F4"/>
                    </a:solidFill>
                  </a:tcPr>
                </a:tc>
              </a:tr>
              <a:tr h="596265">
                <a:tc>
                  <a:txBody>
                    <a:bodyPr/>
                    <a:lstStyle/>
                    <a:p>
                      <a:r>
                        <a:rPr sz="1650" b="1">
                          <a:solidFill>
                            <a:srgbClr val="233746"/>
                          </a:solidFill>
                          <a:latin typeface="Helvetica Neue"/>
                          <a:ea typeface="Helvetica Neue"/>
                          <a:cs typeface="Helvetica Neue"/>
                        </a:rPr>
                        <a:t>Potential impact</a:t>
                      </a:r>
                    </a:p>
                  </a:txBody>
                  <a:tcPr marL="91440" marR="91440" marT="45720" marB="45720">
                    <a:solidFill>
                      <a:srgbClr val="FFFFFF"/>
                    </a:solidFill>
                  </a:tcPr>
                </a:tc>
                <a:tc>
                  <a:txBody>
                    <a:bodyPr/>
                    <a:lstStyle/>
                    <a:p>
                      <a:r>
                        <a:rPr sz="1650" b="0">
                          <a:solidFill>
                            <a:srgbClr val="233746"/>
                          </a:solidFill>
                          <a:latin typeface="Helvetica Neue"/>
                          <a:ea typeface="Helvetica Neue"/>
                          <a:cs typeface="Helvetica Neue"/>
                        </a:rPr>
                        <a:t>Repeated contact and registration rework</a:t>
                      </a:r>
                    </a:p>
                  </a:txBody>
                  <a:tcPr marL="91440" marR="91440" marT="45720" marB="45720">
                    <a:solidFill>
                      <a:srgbClr val="FFFFFF"/>
                    </a:solidFill>
                  </a:tcPr>
                </a:tc>
                <a:tc>
                  <a:txBody>
                    <a:bodyPr/>
                    <a:lstStyle/>
                    <a:p>
                      <a:r>
                        <a:rPr sz="1650" b="0">
                          <a:solidFill>
                            <a:srgbClr val="233746"/>
                          </a:solidFill>
                          <a:latin typeface="Helvetica Neue"/>
                          <a:ea typeface="Helvetica Neue"/>
                          <a:cs typeface="Helvetica Neue"/>
                        </a:rPr>
                        <a:t>Less practice or rushed sessions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4C772830-B433-4314-A102-1F4613079C5F}"/>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Reported processes are simplified reconstructions. Root causes and impact magnitude remain unverified.</a:t>
            </a:r>
          </a:p>
        </p:txBody>
      </p:sp>
    </p:spTree>
    <p:extLst>
      <p:ext uri="{BB962C8B-B14F-4D97-AF65-F5344CB8AC3E}">
        <p14:creationId xmlns:p14="http://schemas.microsoft.com/office/powerpoint/2010/main" val="224829573"/>
      </p:ext>
    </p:extLst>
  </p:cSld>
</p:sld>
</file>

<file path=ppt/slides/slide7.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BF930A0-528A-4BFA-A632-3CAD50C60B8C}"/>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02  DOMAIN IDENTIFICATION</a:t>
            </a:r>
          </a:p>
        </p:txBody>
      </p:sp>
      <p:sp>
        <p:nvSpPr>
          <p:cNvPr id="2" name="">
            <a:extLst xmlns:a="http://schemas.openxmlformats.org/drawingml/2006/main">
              <a:ext uri="{FF2B5EF4-FFF2-40B4-BE49-F238E27FC236}">
                <a16:creationId xmlns:a16="http://schemas.microsoft.com/office/drawing/2014/main" id="{ABA96995-F44E-4DBB-8315-3D344EE12785}"/>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Eight domains across BMS and CSE</a:t>
            </a:r>
          </a:p>
        </p:txBody>
      </p:sp>
      <p:sp>
        <p:nvSpPr>
          <p:cNvPr id="3" name="">
            <a:extLst xmlns:a="http://schemas.openxmlformats.org/drawingml/2006/main">
              <a:ext uri="{FF2B5EF4-FFF2-40B4-BE49-F238E27FC236}">
                <a16:creationId xmlns:a16="http://schemas.microsoft.com/office/drawing/2014/main" id="{5A41B3D5-EBB0-4BBF-8BA3-29F26BF74006}"/>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The landscape comes first. Related journeys then form three candidates for assessment.</a:t>
            </a:r>
          </a:p>
        </p:txBody>
      </p:sp>
      <p:sp>
        <p:nvSpPr>
          <p:cNvPr id="4" name="">
            <a:extLst xmlns:a="http://schemas.openxmlformats.org/drawingml/2006/main">
              <a:ext uri="{FF2B5EF4-FFF2-40B4-BE49-F238E27FC236}">
                <a16:creationId xmlns:a16="http://schemas.microsoft.com/office/drawing/2014/main" id="{006F4AA5-11D7-422B-95DE-B33CB735AAC9}"/>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07</a:t>
            </a:r>
          </a:p>
        </p:txBody>
      </p:sp>
      <p:graphicFrame>
        <p:nvGraphicFramePr>
          <p:cNvPr id="11" name=""/>
          <p:cNvGraphicFramePr/>
          <p:nvPr/>
        </p:nvGraphicFramePr>
        <p:xfrm>
          <a:off xmlns:a="http://schemas.openxmlformats.org/drawingml/2006/main" x="533400" y="2428875"/>
          <a:ext xmlns:a="http://schemas.openxmlformats.org/drawingml/2006/main" cx="11125200" cy="3619500"/>
        </p:xfrm>
        <a:graphic xmlns:a="http://schemas.openxmlformats.org/drawingml/2006/main">
          <a:graphicData uri="http://schemas.openxmlformats.org/drawingml/2006/table">
            <a:tbl>
              <a:tblPr/>
              <a:tblGrid>
                <a:gridCol w="4000500"/>
                <a:gridCol w="4476750"/>
                <a:gridCol w="2647950"/>
              </a:tblGrid>
              <a:tr h="495300">
                <a:tc>
                  <a:txBody>
                    <a:bodyPr/>
                    <a:lstStyle/>
                    <a:p>
                      <a:r>
                        <a:rPr sz="1575" b="1">
                          <a:solidFill>
                            <a:srgbClr val="FFFFFF"/>
                          </a:solidFill>
                          <a:latin typeface="Helvetica Neue"/>
                          <a:ea typeface="Helvetica Neue"/>
                          <a:cs typeface="Helvetica Neue"/>
                        </a:rPr>
                        <a:t>Operational domain</a:t>
                      </a:r>
                    </a:p>
                  </a:txBody>
                  <a:tcPr marL="91440" marR="91440" marT="45720" marB="45720">
                    <a:solidFill>
                      <a:srgbClr val="183449"/>
                    </a:solidFill>
                  </a:tcPr>
                </a:tc>
                <a:tc>
                  <a:txBody>
                    <a:bodyPr/>
                    <a:lstStyle/>
                    <a:p>
                      <a:r>
                        <a:rPr sz="1575" b="1">
                          <a:solidFill>
                            <a:srgbClr val="FFFFFF"/>
                          </a:solidFill>
                          <a:latin typeface="Helvetica Neue"/>
                          <a:ea typeface="Helvetica Neue"/>
                          <a:cs typeface="Helvetica Neue"/>
                        </a:rPr>
                        <a:t>End outcome</a:t>
                      </a:r>
                    </a:p>
                  </a:txBody>
                  <a:tcPr marL="91440" marR="91440" marT="45720" marB="45720">
                    <a:solidFill>
                      <a:srgbClr val="183449"/>
                    </a:solidFill>
                  </a:tcPr>
                </a:tc>
                <a:tc>
                  <a:txBody>
                    <a:bodyPr/>
                    <a:lstStyle/>
                    <a:p>
                      <a:r>
                        <a:rPr sz="1575" b="1">
                          <a:solidFill>
                            <a:srgbClr val="FFFFFF"/>
                          </a:solidFill>
                          <a:latin typeface="Helvetica Neue"/>
                          <a:ea typeface="Helvetica Neue"/>
                          <a:cs typeface="Helvetica Neue"/>
                        </a:rPr>
                        <a:t>Evidence</a:t>
                      </a:r>
                    </a:p>
                  </a:txBody>
                  <a:tcPr marL="91440" marR="91440" marT="45720" marB="45720">
                    <a:solidFill>
                      <a:srgbClr val="183449"/>
                    </a:solidFill>
                  </a:tcPr>
                </a:tc>
              </a:tr>
              <a:tr h="390525">
                <a:tc>
                  <a:txBody>
                    <a:bodyPr/>
                    <a:lstStyle/>
                    <a:p>
                      <a:r>
                        <a:rPr sz="1575" b="1">
                          <a:solidFill>
                            <a:srgbClr val="233746"/>
                          </a:solidFill>
                          <a:latin typeface="Helvetica Neue"/>
                          <a:ea typeface="Helvetica Neue"/>
                          <a:cs typeface="Helvetica Neue"/>
                        </a:rPr>
                        <a:t>Course planning and registration</a:t>
                      </a:r>
                    </a:p>
                  </a:txBody>
                  <a:tcPr marL="91440" marR="91440" marT="45720" marB="45720">
                    <a:solidFill>
                      <a:srgbClr val="FFFFFF"/>
                    </a:solidFill>
                  </a:tcPr>
                </a:tc>
                <a:tc>
                  <a:txBody>
                    <a:bodyPr/>
                    <a:lstStyle/>
                    <a:p>
                      <a:r>
                        <a:rPr sz="1575" b="0">
                          <a:solidFill>
                            <a:srgbClr val="233746"/>
                          </a:solidFill>
                          <a:latin typeface="Helvetica Neue"/>
                          <a:ea typeface="Helvetica Neue"/>
                          <a:cs typeface="Helvetica Neue"/>
                        </a:rPr>
                        <a:t>Valid course selection confirmed</a:t>
                      </a:r>
                    </a:p>
                  </a:txBody>
                  <a:tcPr marL="91440" marR="91440" marT="45720" marB="45720">
                    <a:solidFill>
                      <a:srgbClr val="FFFFFF"/>
                    </a:solidFill>
                  </a:tcPr>
                </a:tc>
                <a:tc>
                  <a:txBody>
                    <a:bodyPr/>
                    <a:lstStyle/>
                    <a:p>
                      <a:r>
                        <a:rPr sz="1575" b="0">
                          <a:solidFill>
                            <a:srgbClr val="233746"/>
                          </a:solidFill>
                          <a:latin typeface="Helvetica Neue"/>
                          <a:ea typeface="Helvetica Neue"/>
                          <a:cs typeface="Helvetica Neue"/>
                        </a:rPr>
                        <a:t>CSE</a:t>
                      </a:r>
                    </a:p>
                  </a:txBody>
                  <a:tcPr marL="91440" marR="91440" marT="45720" marB="45720">
                    <a:solidFill>
                      <a:srgbClr val="FFFFFF"/>
                    </a:solidFill>
                  </a:tcPr>
                </a:tc>
              </a:tr>
              <a:tr h="390525">
                <a:tc>
                  <a:txBody>
                    <a:bodyPr/>
                    <a:lstStyle/>
                    <a:p>
                      <a:r>
                        <a:rPr sz="1575" b="1">
                          <a:solidFill>
                            <a:srgbClr val="233746"/>
                          </a:solidFill>
                          <a:latin typeface="Helvetica Neue"/>
                          <a:ea typeface="Helvetica Neue"/>
                          <a:cs typeface="Helvetica Neue"/>
                        </a:rPr>
                        <a:t>Academic advising</a:t>
                      </a:r>
                    </a:p>
                  </a:txBody>
                  <a:tcPr marL="91440" marR="91440" marT="45720" marB="45720">
                    <a:solidFill>
                      <a:srgbClr val="EDF3F4"/>
                    </a:solidFill>
                  </a:tcPr>
                </a:tc>
                <a:tc>
                  <a:txBody>
                    <a:bodyPr/>
                    <a:lstStyle/>
                    <a:p>
                      <a:r>
                        <a:rPr sz="1575" b="0">
                          <a:solidFill>
                            <a:srgbClr val="233746"/>
                          </a:solidFill>
                          <a:latin typeface="Helvetica Neue"/>
                          <a:ea typeface="Helvetica Neue"/>
                          <a:cs typeface="Helvetica Neue"/>
                        </a:rPr>
                        <a:t>Answer or referral completed</a:t>
                      </a:r>
                    </a:p>
                  </a:txBody>
                  <a:tcPr marL="91440" marR="91440" marT="45720" marB="45720">
                    <a:solidFill>
                      <a:srgbClr val="EDF3F4"/>
                    </a:solidFill>
                  </a:tcPr>
                </a:tc>
                <a:tc>
                  <a:txBody>
                    <a:bodyPr/>
                    <a:lstStyle/>
                    <a:p>
                      <a:r>
                        <a:rPr sz="1575" b="0">
                          <a:solidFill>
                            <a:srgbClr val="233746"/>
                          </a:solidFill>
                          <a:latin typeface="Helvetica Neue"/>
                          <a:ea typeface="Helvetica Neue"/>
                          <a:cs typeface="Helvetica Neue"/>
                        </a:rPr>
                        <a:t>Mainly CSE</a:t>
                      </a:r>
                    </a:p>
                  </a:txBody>
                  <a:tcPr marL="91440" marR="91440" marT="45720" marB="45720">
                    <a:solidFill>
                      <a:srgbClr val="EDF3F4"/>
                    </a:solidFill>
                  </a:tcPr>
                </a:tc>
              </a:tr>
              <a:tr h="390525">
                <a:tc>
                  <a:txBody>
                    <a:bodyPr/>
                    <a:lstStyle/>
                    <a:p>
                      <a:r>
                        <a:rPr sz="1575" b="1">
                          <a:solidFill>
                            <a:srgbClr val="233746"/>
                          </a:solidFill>
                          <a:latin typeface="Helvetica Neue"/>
                          <a:ea typeface="Helvetica Neue"/>
                          <a:cs typeface="Helvetica Neue"/>
                        </a:rPr>
                        <a:t>Thesis registration and supervision</a:t>
                      </a:r>
                    </a:p>
                  </a:txBody>
                  <a:tcPr marL="91440" marR="91440" marT="45720" marB="45720">
                    <a:solidFill>
                      <a:srgbClr val="FFFFFF"/>
                    </a:solidFill>
                  </a:tcPr>
                </a:tc>
                <a:tc>
                  <a:txBody>
                    <a:bodyPr/>
                    <a:lstStyle/>
                    <a:p>
                      <a:r>
                        <a:rPr sz="1575" b="0">
                          <a:solidFill>
                            <a:srgbClr val="233746"/>
                          </a:solidFill>
                          <a:latin typeface="Helvetica Neue"/>
                          <a:ea typeface="Helvetica Neue"/>
                          <a:cs typeface="Helvetica Neue"/>
                        </a:rPr>
                        <a:t>Agreed milestones completed</a:t>
                      </a:r>
                    </a:p>
                  </a:txBody>
                  <a:tcPr marL="91440" marR="91440" marT="45720" marB="45720">
                    <a:solidFill>
                      <a:srgbClr val="FFFFFF"/>
                    </a:solidFill>
                  </a:tcPr>
                </a:tc>
                <a:tc>
                  <a:txBody>
                    <a:bodyPr/>
                    <a:lstStyle/>
                    <a:p>
                      <a:r>
                        <a:rPr sz="1575" b="0">
                          <a:solidFill>
                            <a:srgbClr val="233746"/>
                          </a:solidFill>
                          <a:latin typeface="Helvetica Neue"/>
                          <a:ea typeface="Helvetica Neue"/>
                          <a:cs typeface="Helvetica Neue"/>
                        </a:rPr>
                        <a:t>CSE</a:t>
                      </a:r>
                    </a:p>
                  </a:txBody>
                  <a:tcPr marL="91440" marR="91440" marT="45720" marB="45720">
                    <a:solidFill>
                      <a:srgbClr val="FFFFFF"/>
                    </a:solidFill>
                  </a:tcPr>
                </a:tc>
              </a:tr>
              <a:tr h="390525">
                <a:tc>
                  <a:txBody>
                    <a:bodyPr/>
                    <a:lstStyle/>
                    <a:p>
                      <a:r>
                        <a:rPr sz="1575" b="1">
                          <a:solidFill>
                            <a:srgbClr val="233746"/>
                          </a:solidFill>
                          <a:latin typeface="Helvetica Neue"/>
                          <a:ea typeface="Helvetica Neue"/>
                          <a:cs typeface="Helvetica Neue"/>
                        </a:rPr>
                        <a:t>Graduation clearance</a:t>
                      </a:r>
                    </a:p>
                  </a:txBody>
                  <a:tcPr marL="91440" marR="91440" marT="45720" marB="45720">
                    <a:solidFill>
                      <a:srgbClr val="EDF3F4"/>
                    </a:solidFill>
                  </a:tcPr>
                </a:tc>
                <a:tc>
                  <a:txBody>
                    <a:bodyPr/>
                    <a:lstStyle/>
                    <a:p>
                      <a:r>
                        <a:rPr sz="1575" b="0">
                          <a:solidFill>
                            <a:srgbClr val="233746"/>
                          </a:solidFill>
                          <a:latin typeface="Helvetica Neue"/>
                          <a:ea typeface="Helvetica Neue"/>
                          <a:cs typeface="Helvetica Neue"/>
                        </a:rPr>
                        <a:t>Eligibility and exceptions resolved</a:t>
                      </a:r>
                    </a:p>
                  </a:txBody>
                  <a:tcPr marL="91440" marR="91440" marT="45720" marB="45720">
                    <a:solidFill>
                      <a:srgbClr val="EDF3F4"/>
                    </a:solidFill>
                  </a:tcPr>
                </a:tc>
                <a:tc>
                  <a:txBody>
                    <a:bodyPr/>
                    <a:lstStyle/>
                    <a:p>
                      <a:r>
                        <a:rPr sz="1575" b="0">
                          <a:solidFill>
                            <a:srgbClr val="233746"/>
                          </a:solidFill>
                          <a:latin typeface="Helvetica Neue"/>
                          <a:ea typeface="Helvetica Neue"/>
                          <a:cs typeface="Helvetica Neue"/>
                        </a:rPr>
                        <a:t>CSE</a:t>
                      </a:r>
                    </a:p>
                  </a:txBody>
                  <a:tcPr marL="91440" marR="91440" marT="45720" marB="45720">
                    <a:solidFill>
                      <a:srgbClr val="EDF3F4"/>
                    </a:solidFill>
                  </a:tcPr>
                </a:tc>
              </a:tr>
              <a:tr h="390525">
                <a:tc>
                  <a:txBody>
                    <a:bodyPr/>
                    <a:lstStyle/>
                    <a:p>
                      <a:r>
                        <a:rPr sz="1575" b="1">
                          <a:solidFill>
                            <a:srgbClr val="233746"/>
                          </a:solidFill>
                          <a:latin typeface="Helvetica Neue"/>
                          <a:ea typeface="Helvetica Neue"/>
                          <a:cs typeface="Helvetica Neue"/>
                        </a:rPr>
                        <a:t>Practical-resource access</a:t>
                      </a:r>
                    </a:p>
                  </a:txBody>
                  <a:tcPr marL="91440" marR="91440" marT="45720" marB="45720">
                    <a:solidFill>
                      <a:srgbClr val="FFFFFF"/>
                    </a:solidFill>
                  </a:tcPr>
                </a:tc>
                <a:tc>
                  <a:txBody>
                    <a:bodyPr/>
                    <a:lstStyle/>
                    <a:p>
                      <a:r>
                        <a:rPr sz="1575" b="0">
                          <a:solidFill>
                            <a:srgbClr val="233746"/>
                          </a:solidFill>
                          <a:latin typeface="Helvetica Neue"/>
                          <a:ea typeface="Helvetica Neue"/>
                          <a:cs typeface="Helvetica Neue"/>
                        </a:rPr>
                        <a:t>Practical session completed</a:t>
                      </a:r>
                    </a:p>
                  </a:txBody>
                  <a:tcPr marL="91440" marR="91440" marT="45720" marB="45720">
                    <a:solidFill>
                      <a:srgbClr val="FFFFFF"/>
                    </a:solidFill>
                  </a:tcPr>
                </a:tc>
                <a:tc>
                  <a:txBody>
                    <a:bodyPr/>
                    <a:lstStyle/>
                    <a:p>
                      <a:r>
                        <a:rPr sz="1575" b="0">
                          <a:solidFill>
                            <a:srgbClr val="233746"/>
                          </a:solidFill>
                          <a:latin typeface="Helvetica Neue"/>
                          <a:ea typeface="Helvetica Neue"/>
                          <a:cs typeface="Helvetica Neue"/>
                        </a:rPr>
                        <a:t>BMS + CSE</a:t>
                      </a:r>
                    </a:p>
                  </a:txBody>
                  <a:tcPr marL="91440" marR="91440" marT="45720" marB="45720">
                    <a:solidFill>
                      <a:srgbClr val="FFFFFF"/>
                    </a:solidFill>
                  </a:tcPr>
                </a:tc>
              </a:tr>
              <a:tr h="390525">
                <a:tc>
                  <a:txBody>
                    <a:bodyPr/>
                    <a:lstStyle/>
                    <a:p>
                      <a:r>
                        <a:rPr sz="1575" b="1">
                          <a:solidFill>
                            <a:srgbClr val="233746"/>
                          </a:solidFill>
                          <a:latin typeface="Helvetica Neue"/>
                          <a:ea typeface="Helvetica Neue"/>
                          <a:cs typeface="Helvetica Neue"/>
                        </a:rPr>
                        <a:t>Facility and equipment maintenance</a:t>
                      </a:r>
                    </a:p>
                  </a:txBody>
                  <a:tcPr marL="91440" marR="91440" marT="45720" marB="45720">
                    <a:solidFill>
                      <a:srgbClr val="EDF3F4"/>
                    </a:solidFill>
                  </a:tcPr>
                </a:tc>
                <a:tc>
                  <a:txBody>
                    <a:bodyPr/>
                    <a:lstStyle/>
                    <a:p>
                      <a:r>
                        <a:rPr sz="1575" b="0">
                          <a:solidFill>
                            <a:srgbClr val="233746"/>
                          </a:solidFill>
                          <a:latin typeface="Helvetica Neue"/>
                          <a:ea typeface="Helvetica Neue"/>
                          <a:cs typeface="Helvetica Neue"/>
                        </a:rPr>
                        <a:t>Fault resolved and availability verified</a:t>
                      </a:r>
                    </a:p>
                  </a:txBody>
                  <a:tcPr marL="91440" marR="91440" marT="45720" marB="45720">
                    <a:solidFill>
                      <a:srgbClr val="EDF3F4"/>
                    </a:solidFill>
                  </a:tcPr>
                </a:tc>
                <a:tc>
                  <a:txBody>
                    <a:bodyPr/>
                    <a:lstStyle/>
                    <a:p>
                      <a:r>
                        <a:rPr sz="1575" b="0">
                          <a:solidFill>
                            <a:srgbClr val="233746"/>
                          </a:solidFill>
                          <a:latin typeface="Helvetica Neue"/>
                          <a:ea typeface="Helvetica Neue"/>
                          <a:cs typeface="Helvetica Neue"/>
                        </a:rPr>
                        <a:t>BMS + CSE</a:t>
                      </a:r>
                    </a:p>
                  </a:txBody>
                  <a:tcPr marL="91440" marR="91440" marT="45720" marB="45720">
                    <a:solidFill>
                      <a:srgbClr val="EDF3F4"/>
                    </a:solidFill>
                  </a:tcPr>
                </a:tc>
              </a:tr>
              <a:tr h="390525">
                <a:tc>
                  <a:txBody>
                    <a:bodyPr/>
                    <a:lstStyle/>
                    <a:p>
                      <a:r>
                        <a:rPr sz="1575" b="1">
                          <a:solidFill>
                            <a:srgbClr val="233746"/>
                          </a:solidFill>
                          <a:latin typeface="Helvetica Neue"/>
                          <a:ea typeface="Helvetica Neue"/>
                          <a:cs typeface="Helvetica Neue"/>
                        </a:rPr>
                        <a:t>Learning support</a:t>
                      </a:r>
                    </a:p>
                  </a:txBody>
                  <a:tcPr marL="91440" marR="91440" marT="45720" marB="45720">
                    <a:solidFill>
                      <a:srgbClr val="FFFFFF"/>
                    </a:solidFill>
                  </a:tcPr>
                </a:tc>
                <a:tc>
                  <a:txBody>
                    <a:bodyPr/>
                    <a:lstStyle/>
                    <a:p>
                      <a:r>
                        <a:rPr sz="1575" b="0">
                          <a:solidFill>
                            <a:srgbClr val="233746"/>
                          </a:solidFill>
                          <a:latin typeface="Helvetica Neue"/>
                          <a:ea typeface="Helvetica Neue"/>
                          <a:cs typeface="Helvetica Neue"/>
                        </a:rPr>
                        <a:t>Learning difficulty addressed</a:t>
                      </a:r>
                    </a:p>
                  </a:txBody>
                  <a:tcPr marL="91440" marR="91440" marT="45720" marB="45720">
                    <a:solidFill>
                      <a:srgbClr val="FFFFFF"/>
                    </a:solidFill>
                  </a:tcPr>
                </a:tc>
                <a:tc>
                  <a:txBody>
                    <a:bodyPr/>
                    <a:lstStyle/>
                    <a:p>
                      <a:r>
                        <a:rPr sz="1575" b="0">
                          <a:solidFill>
                            <a:srgbClr val="233746"/>
                          </a:solidFill>
                          <a:latin typeface="Helvetica Neue"/>
                          <a:ea typeface="Helvetica Neue"/>
                          <a:cs typeface="Helvetica Neue"/>
                        </a:rPr>
                        <a:t>BMS + CSE</a:t>
                      </a:r>
                    </a:p>
                  </a:txBody>
                  <a:tcPr marL="91440" marR="91440" marT="45720" marB="45720">
                    <a:solidFill>
                      <a:srgbClr val="FFFFFF"/>
                    </a:solidFill>
                  </a:tcPr>
                </a:tc>
              </a:tr>
              <a:tr h="390525">
                <a:tc>
                  <a:txBody>
                    <a:bodyPr/>
                    <a:lstStyle/>
                    <a:p>
                      <a:r>
                        <a:rPr sz="1575" b="1">
                          <a:solidFill>
                            <a:srgbClr val="233746"/>
                          </a:solidFill>
                          <a:latin typeface="Helvetica Neue"/>
                          <a:ea typeface="Helvetica Neue"/>
                          <a:cs typeface="Helvetica Neue"/>
                        </a:rPr>
                        <a:t>Career and research opportunities</a:t>
                      </a:r>
                    </a:p>
                  </a:txBody>
                  <a:tcPr marL="91440" marR="91440" marT="45720" marB="45720">
                    <a:solidFill>
                      <a:srgbClr val="EDF3F4"/>
                    </a:solidFill>
                  </a:tcPr>
                </a:tc>
                <a:tc>
                  <a:txBody>
                    <a:bodyPr/>
                    <a:lstStyle/>
                    <a:p>
                      <a:r>
                        <a:rPr sz="1575" b="0">
                          <a:solidFill>
                            <a:srgbClr val="233746"/>
                          </a:solidFill>
                          <a:latin typeface="Helvetica Neue"/>
                          <a:ea typeface="Helvetica Neue"/>
                          <a:cs typeface="Helvetica Neue"/>
                        </a:rPr>
                        <a:t>Guidance or application completed</a:t>
                      </a:r>
                    </a:p>
                  </a:txBody>
                  <a:tcPr marL="91440" marR="91440" marT="45720" marB="45720">
                    <a:solidFill>
                      <a:srgbClr val="EDF3F4"/>
                    </a:solidFill>
                  </a:tcPr>
                </a:tc>
                <a:tc>
                  <a:txBody>
                    <a:bodyPr/>
                    <a:lstStyle/>
                    <a:p>
                      <a:r>
                        <a:rPr sz="1575" b="0">
                          <a:solidFill>
                            <a:srgbClr val="233746"/>
                          </a:solidFill>
                          <a:latin typeface="Helvetica Neue"/>
                          <a:ea typeface="Helvetica Neue"/>
                          <a:cs typeface="Helvetica Neue"/>
                        </a:rPr>
                        <a:t>Mainly CSE</a:t>
                      </a:r>
                    </a:p>
                  </a:txBody>
                  <a:tcPr marL="91440" marR="91440" marT="45720" marB="45720">
                    <a:solidFill>
                      <a:srgbClr val="EDF3F4"/>
                    </a:solidFill>
                  </a:tcPr>
                </a:tc>
              </a:tr>
            </a:tbl>
          </a:graphicData>
        </a:graphic>
      </p:graphicFrame>
      <p:sp>
        <p:nvSpPr>
          <p:cNvPr id="6" name="">
            <a:extLst xmlns:a="http://schemas.openxmlformats.org/drawingml/2006/main">
              <a:ext uri="{FF2B5EF4-FFF2-40B4-BE49-F238E27FC236}">
                <a16:creationId xmlns:a16="http://schemas.microsoft.com/office/drawing/2014/main" id="{A55150C9-44A9-4A4C-9A9E-66FDD51B5855}"/>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Source: Customer Experience module interviews, BMS survey and journey analyses.</a:t>
            </a:r>
          </a:p>
        </p:txBody>
      </p:sp>
    </p:spTree>
    <p:extLst>
      <p:ext uri="{BB962C8B-B14F-4D97-AF65-F5344CB8AC3E}">
        <p14:creationId xmlns:p14="http://schemas.microsoft.com/office/powerpoint/2010/main" val="983826243"/>
      </p:ext>
    </p:extLst>
  </p:cSld>
</p:sld>
</file>

<file path=ppt/slides/slide8.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12CD408-BD90-4CF4-BE63-8379CE46872C}"/>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02  DOMAIN IDENTIFICATION</a:t>
            </a:r>
          </a:p>
        </p:txBody>
      </p:sp>
      <p:sp>
        <p:nvSpPr>
          <p:cNvPr id="2" name="">
            <a:extLst xmlns:a="http://schemas.openxmlformats.org/drawingml/2006/main">
              <a:ext uri="{FF2B5EF4-FFF2-40B4-BE49-F238E27FC236}">
                <a16:creationId xmlns:a16="http://schemas.microsoft.com/office/drawing/2014/main" id="{24C25391-C72A-4180-84E5-940509A579CD}"/>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Three curated transformation domains</a:t>
            </a:r>
          </a:p>
        </p:txBody>
      </p:sp>
      <p:sp>
        <p:nvSpPr>
          <p:cNvPr id="3" name="">
            <a:extLst xmlns:a="http://schemas.openxmlformats.org/drawingml/2006/main">
              <a:ext uri="{FF2B5EF4-FFF2-40B4-BE49-F238E27FC236}">
                <a16:creationId xmlns:a16="http://schemas.microsoft.com/office/drawing/2014/main" id="{02261FB2-F2B5-4CD3-9FBB-DBE86992DE2D}"/>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Selection reflects problem evidence, a clear outcome and connected activities across teams.</a:t>
            </a:r>
          </a:p>
        </p:txBody>
      </p:sp>
      <p:sp>
        <p:nvSpPr>
          <p:cNvPr id="4" name="">
            <a:extLst xmlns:a="http://schemas.openxmlformats.org/drawingml/2006/main">
              <a:ext uri="{FF2B5EF4-FFF2-40B4-BE49-F238E27FC236}">
                <a16:creationId xmlns:a16="http://schemas.microsoft.com/office/drawing/2014/main" id="{75786516-26D1-40D3-8BFD-D63E9A93A2BB}"/>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08</a:t>
            </a:r>
          </a:p>
        </p:txBody>
      </p:sp>
      <p:graphicFrame>
        <p:nvGraphicFramePr>
          <p:cNvPr id="11" name=""/>
          <p:cNvGraphicFramePr/>
          <p:nvPr/>
        </p:nvGraphicFramePr>
        <p:xfrm>
          <a:off xmlns:a="http://schemas.openxmlformats.org/drawingml/2006/main" x="533400" y="2428875"/>
          <a:ext xmlns:a="http://schemas.openxmlformats.org/drawingml/2006/main" cx="11125200" cy="3238500"/>
        </p:xfrm>
        <a:graphic xmlns:a="http://schemas.openxmlformats.org/drawingml/2006/main">
          <a:graphicData uri="http://schemas.openxmlformats.org/drawingml/2006/table">
            <a:tbl>
              <a:tblPr/>
              <a:tblGrid>
                <a:gridCol w="3667125"/>
                <a:gridCol w="3333750"/>
                <a:gridCol w="4124325"/>
              </a:tblGrid>
              <a:tr h="495300">
                <a:tc>
                  <a:txBody>
                    <a:bodyPr/>
                    <a:lstStyle/>
                    <a:p>
                      <a:r>
                        <a:rPr sz="1800" b="1">
                          <a:solidFill>
                            <a:srgbClr val="FFFFFF"/>
                          </a:solidFill>
                          <a:latin typeface="Helvetica Neue"/>
                          <a:ea typeface="Helvetica Neue"/>
                          <a:cs typeface="Helvetica Neue"/>
                        </a:rPr>
                        <a:t>Candidate</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Domains connected</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Reason for inclusion</a:t>
                      </a:r>
                    </a:p>
                  </a:txBody>
                  <a:tcPr marL="91440" marR="91440" marT="45720" marB="45720">
                    <a:solidFill>
                      <a:srgbClr val="183449"/>
                    </a:solidFill>
                  </a:tcPr>
                </a:tc>
              </a:tr>
              <a:tr h="914400">
                <a:tc>
                  <a:txBody>
                    <a:bodyPr/>
                    <a:lstStyle/>
                    <a:p>
                      <a:r>
                        <a:rPr sz="1800" b="1">
                          <a:solidFill>
                            <a:srgbClr val="233746"/>
                          </a:solidFill>
                          <a:latin typeface="Helvetica Neue"/>
                          <a:ea typeface="Helvetica Neue"/>
                          <a:cs typeface="Helvetica Neue"/>
                        </a:rPr>
                        <a:t>A  Student Support &amp; Academic Navigation</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Advising, guidance and referral</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Uneven access to guidance and repeated follow-up</a:t>
                      </a:r>
                    </a:p>
                  </a:txBody>
                  <a:tcPr marL="91440" marR="91440" marT="45720" marB="45720">
                    <a:solidFill>
                      <a:srgbClr val="FFFFFF"/>
                    </a:solidFill>
                  </a:tcPr>
                </a:tc>
              </a:tr>
              <a:tr h="914400">
                <a:tc>
                  <a:txBody>
                    <a:bodyPr/>
                    <a:lstStyle/>
                    <a:p>
                      <a:r>
                        <a:rPr sz="1800" b="1">
                          <a:solidFill>
                            <a:srgbClr val="233746"/>
                          </a:solidFill>
                          <a:latin typeface="Helvetica Neue"/>
                          <a:ea typeface="Helvetica Neue"/>
                          <a:cs typeface="Helvetica Neue"/>
                        </a:rPr>
                        <a:t>B  Practical Learning &amp; Resource Operations</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Resource access and maintenance coordination</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Lab-time concerns in BMS and computing constraints in CSE</a:t>
                      </a:r>
                    </a:p>
                  </a:txBody>
                  <a:tcPr marL="91440" marR="91440" marT="45720" marB="45720">
                    <a:solidFill>
                      <a:srgbClr val="EDF3F4"/>
                    </a:solidFill>
                  </a:tcPr>
                </a:tc>
              </a:tr>
              <a:tr h="914400">
                <a:tc>
                  <a:txBody>
                    <a:bodyPr/>
                    <a:lstStyle/>
                    <a:p>
                      <a:r>
                        <a:rPr sz="1800" b="1">
                          <a:solidFill>
                            <a:srgbClr val="233746"/>
                          </a:solidFill>
                          <a:latin typeface="Helvetica Neue"/>
                          <a:ea typeface="Helvetica Neue"/>
                          <a:cs typeface="Helvetica Neue"/>
                        </a:rPr>
                        <a:t>C  Academic Progression &amp; Milestone Management</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Course planning, thesis and graduation</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Friction at connected academic checkpoints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DAA1A205-3A51-49A8-A125-7ADA8234C812}"/>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BMS support needs need further definition. C has stronger direct evidence in CSE.</a:t>
            </a:r>
          </a:p>
        </p:txBody>
      </p:sp>
    </p:spTree>
    <p:extLst>
      <p:ext uri="{BB962C8B-B14F-4D97-AF65-F5344CB8AC3E}">
        <p14:creationId xmlns:p14="http://schemas.microsoft.com/office/powerpoint/2010/main" val="121689440"/>
      </p:ext>
    </p:extLst>
  </p:cSld>
</p:sld>
</file>

<file path=ppt/slides/slide9.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C569F03-78AC-4719-9074-854478349084}"/>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02  DOMAIN IDENTIFICATION</a:t>
            </a:r>
          </a:p>
        </p:txBody>
      </p:sp>
      <p:sp>
        <p:nvSpPr>
          <p:cNvPr id="2" name="">
            <a:extLst xmlns:a="http://schemas.openxmlformats.org/drawingml/2006/main">
              <a:ext uri="{FF2B5EF4-FFF2-40B4-BE49-F238E27FC236}">
                <a16:creationId xmlns:a16="http://schemas.microsoft.com/office/drawing/2014/main" id="{4E0098BF-9956-4812-8C8C-3C8669984532}"/>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A. Student Support &amp; Academic Navigation</a:t>
            </a:r>
          </a:p>
        </p:txBody>
      </p:sp>
      <p:sp>
        <p:nvSpPr>
          <p:cNvPr id="3" name="">
            <a:extLst xmlns:a="http://schemas.openxmlformats.org/drawingml/2006/main">
              <a:ext uri="{FF2B5EF4-FFF2-40B4-BE49-F238E27FC236}">
                <a16:creationId xmlns:a16="http://schemas.microsoft.com/office/drawing/2014/main" id="{EF8A4C84-4605-4EF9-8473-0997C685A4DD}"/>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A student question ends with an accurate answer or a completed referral.</a:t>
            </a:r>
          </a:p>
        </p:txBody>
      </p:sp>
      <p:sp>
        <p:nvSpPr>
          <p:cNvPr id="4" name="">
            <a:extLst xmlns:a="http://schemas.openxmlformats.org/drawingml/2006/main">
              <a:ext uri="{FF2B5EF4-FFF2-40B4-BE49-F238E27FC236}">
                <a16:creationId xmlns:a16="http://schemas.microsoft.com/office/drawing/2014/main" id="{85978308-3124-489D-8EB0-188147CD0F0E}"/>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09</a:t>
            </a:r>
          </a:p>
        </p:txBody>
      </p:sp>
      <p:graphicFrame>
        <p:nvGraphicFramePr>
          <p:cNvPr id="11" name=""/>
          <p:cNvGraphicFramePr/>
          <p:nvPr/>
        </p:nvGraphicFramePr>
        <p:xfrm>
          <a:off xmlns:a="http://schemas.openxmlformats.org/drawingml/2006/main" x="533400" y="2428875"/>
          <a:ext xmlns:a="http://schemas.openxmlformats.org/drawingml/2006/main" cx="11125200" cy="3476625"/>
        </p:xfrm>
        <a:graphic xmlns:a="http://schemas.openxmlformats.org/drawingml/2006/main">
          <a:graphicData uri="http://schemas.openxmlformats.org/drawingml/2006/table">
            <a:tbl>
              <a:tblPr/>
              <a:tblGrid>
                <a:gridCol w="2381250"/>
                <a:gridCol w="8743950"/>
              </a:tblGrid>
              <a:tr h="495300">
                <a:tc>
                  <a:txBody>
                    <a:bodyPr/>
                    <a:lstStyle/>
                    <a:p>
                      <a:r>
                        <a:rPr sz="1725" b="1">
                          <a:solidFill>
                            <a:srgbClr val="FFFFFF"/>
                          </a:solidFill>
                          <a:latin typeface="Helvetica Neue"/>
                          <a:ea typeface="Helvetica Neue"/>
                          <a:cs typeface="Helvetica Neue"/>
                        </a:rPr>
                        <a:t>Boundary canvas</a:t>
                      </a:r>
                    </a:p>
                  </a:txBody>
                  <a:tcPr marL="91440" marR="91440" marT="45720" marB="45720">
                    <a:solidFill>
                      <a:srgbClr val="183449"/>
                    </a:solidFill>
                  </a:tcPr>
                </a:tc>
                <a:tc>
                  <a:txBody>
                    <a:bodyPr/>
                    <a:lstStyle/>
                    <a:p>
                      <a:r>
                        <a:rPr sz="1725" b="1">
                          <a:solidFill>
                            <a:srgbClr val="FFFFFF"/>
                          </a:solidFill>
                          <a:latin typeface="Helvetica Neue"/>
                          <a:ea typeface="Helvetica Neue"/>
                          <a:cs typeface="Helvetica Neue"/>
                        </a:rPr>
                        <a:t>Definition</a:t>
                      </a:r>
                    </a:p>
                  </a:txBody>
                  <a:tcPr marL="91440" marR="91440" marT="45720" marB="45720">
                    <a:solidFill>
                      <a:srgbClr val="183449"/>
                    </a:solidFill>
                  </a:tcPr>
                </a:tc>
              </a:tr>
              <a:tr h="596265">
                <a:tc>
                  <a:txBody>
                    <a:bodyPr/>
                    <a:lstStyle/>
                    <a:p>
                      <a:r>
                        <a:rPr sz="1725" b="1">
                          <a:solidFill>
                            <a:srgbClr val="233746"/>
                          </a:solidFill>
                          <a:latin typeface="Helvetica Neue"/>
                          <a:ea typeface="Helvetica Neue"/>
                          <a:cs typeface="Helvetica Neue"/>
                        </a:rPr>
                        <a:t>Beneficiary</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BMS and CSE students, advisors and support staff</a:t>
                      </a:r>
                    </a:p>
                  </a:txBody>
                  <a:tcPr marL="91440" marR="91440" marT="45720" marB="45720">
                    <a:solidFill>
                      <a:srgbClr val="FFFFFF"/>
                    </a:solidFill>
                  </a:tcPr>
                </a:tc>
              </a:tr>
              <a:tr h="596265">
                <a:tc>
                  <a:txBody>
                    <a:bodyPr/>
                    <a:lstStyle/>
                    <a:p>
                      <a:r>
                        <a:rPr sz="1725" b="1">
                          <a:solidFill>
                            <a:srgbClr val="233746"/>
                          </a:solidFill>
                          <a:latin typeface="Helvetica Neue"/>
                          <a:ea typeface="Helvetica Neue"/>
                          <a:cs typeface="Helvetica Neue"/>
                        </a:rPr>
                        <a:t>Start / end</a:t>
                      </a:r>
                    </a:p>
                  </a:txBody>
                  <a:tcPr marL="91440" marR="91440" marT="45720" marB="45720">
                    <a:solidFill>
                      <a:srgbClr val="EDF3F4"/>
                    </a:solidFill>
                  </a:tcPr>
                </a:tc>
                <a:tc>
                  <a:txBody>
                    <a:bodyPr/>
                    <a:lstStyle/>
                    <a:p>
                      <a:r>
                        <a:rPr sz="1725" b="0">
                          <a:solidFill>
                            <a:srgbClr val="233746"/>
                          </a:solidFill>
                          <a:latin typeface="Helvetica Neue"/>
                          <a:ea typeface="Helvetica Neue"/>
                          <a:cs typeface="Helvetica Neue"/>
                        </a:rPr>
                        <a:t>Question raised / answer or referral confirmed</a:t>
                      </a:r>
                    </a:p>
                  </a:txBody>
                  <a:tcPr marL="91440" marR="91440" marT="45720" marB="45720">
                    <a:solidFill>
                      <a:srgbClr val="EDF3F4"/>
                    </a:solidFill>
                  </a:tcPr>
                </a:tc>
              </a:tr>
              <a:tr h="596265">
                <a:tc>
                  <a:txBody>
                    <a:bodyPr/>
                    <a:lstStyle/>
                    <a:p>
                      <a:r>
                        <a:rPr sz="1725" b="1">
                          <a:solidFill>
                            <a:srgbClr val="233746"/>
                          </a:solidFill>
                          <a:latin typeface="Helvetica Neue"/>
                          <a:ea typeface="Helvetica Neue"/>
                          <a:cs typeface="Helvetica Neue"/>
                        </a:rPr>
                        <a:t>Core activities</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Find guidance, clarify the need, route, respond and follow up</a:t>
                      </a:r>
                    </a:p>
                  </a:txBody>
                  <a:tcPr marL="91440" marR="91440" marT="45720" marB="45720">
                    <a:solidFill>
                      <a:srgbClr val="FFFFFF"/>
                    </a:solidFill>
                  </a:tcPr>
                </a:tc>
              </a:tr>
              <a:tr h="596265">
                <a:tc>
                  <a:txBody>
                    <a:bodyPr/>
                    <a:lstStyle/>
                    <a:p>
                      <a:r>
                        <a:rPr sz="1725" b="1">
                          <a:solidFill>
                            <a:srgbClr val="233746"/>
                          </a:solidFill>
                          <a:latin typeface="Helvetica Neue"/>
                          <a:ea typeface="Helvetica Neue"/>
                          <a:cs typeface="Helvetica Neue"/>
                        </a:rPr>
                        <a:t>Exclusions</a:t>
                      </a:r>
                    </a:p>
                  </a:txBody>
                  <a:tcPr marL="91440" marR="91440" marT="45720" marB="45720">
                    <a:solidFill>
                      <a:srgbClr val="EDF3F4"/>
                    </a:solidFill>
                  </a:tcPr>
                </a:tc>
                <a:tc>
                  <a:txBody>
                    <a:bodyPr/>
                    <a:lstStyle/>
                    <a:p>
                      <a:r>
                        <a:rPr sz="1725" b="0">
                          <a:solidFill>
                            <a:srgbClr val="233746"/>
                          </a:solidFill>
                          <a:latin typeface="Helvetica Neue"/>
                          <a:ea typeface="Helvetica Neue"/>
                          <a:cs typeface="Helvetica Neue"/>
                        </a:rPr>
                        <a:t>Academic decisions, clinical counselling and formal eligibility checks</a:t>
                      </a:r>
                    </a:p>
                  </a:txBody>
                  <a:tcPr marL="91440" marR="91440" marT="45720" marB="45720">
                    <a:solidFill>
                      <a:srgbClr val="EDF3F4"/>
                    </a:solidFill>
                  </a:tcPr>
                </a:tc>
              </a:tr>
              <a:tr h="596265">
                <a:tc>
                  <a:txBody>
                    <a:bodyPr/>
                    <a:lstStyle/>
                    <a:p>
                      <a:r>
                        <a:rPr sz="1725" b="1">
                          <a:solidFill>
                            <a:srgbClr val="233746"/>
                          </a:solidFill>
                          <a:latin typeface="Helvetica Neue"/>
                          <a:ea typeface="Helvetica Neue"/>
                          <a:cs typeface="Helvetica Neue"/>
                        </a:rPr>
                        <a:t>Measures</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Resolution time, repeat contacts, unresolved cases and service use</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4CBD0D77-E171-40CE-B0D8-82C29CB81131}"/>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Measures are proposed. No verified operational baseline is available.</a:t>
            </a:r>
          </a:p>
        </p:txBody>
      </p:sp>
    </p:spTree>
    <p:extLst>
      <p:ext uri="{BB962C8B-B14F-4D97-AF65-F5344CB8AC3E}">
        <p14:creationId xmlns:p14="http://schemas.microsoft.com/office/powerpoint/2010/main" val="646163766"/>
      </p:ext>
    </p:extLst>
  </p:cSld>
</p:sld>
</file>

<file path=ppt/slides/slide10.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3E16A74-AE10-43B5-8DFC-858963F57760}"/>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02  DOMAIN IDENTIFICATION</a:t>
            </a:r>
          </a:p>
        </p:txBody>
      </p:sp>
      <p:sp>
        <p:nvSpPr>
          <p:cNvPr id="2" name="">
            <a:extLst xmlns:a="http://schemas.openxmlformats.org/drawingml/2006/main">
              <a:ext uri="{FF2B5EF4-FFF2-40B4-BE49-F238E27FC236}">
                <a16:creationId xmlns:a16="http://schemas.microsoft.com/office/drawing/2014/main" id="{D97799E3-3C5B-416B-A1AA-A117CA2A1FD2}"/>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B. Practical Learning &amp; Resource Operations</a:t>
            </a:r>
          </a:p>
        </p:txBody>
      </p:sp>
      <p:sp>
        <p:nvSpPr>
          <p:cNvPr id="3" name="">
            <a:extLst xmlns:a="http://schemas.openxmlformats.org/drawingml/2006/main">
              <a:ext uri="{FF2B5EF4-FFF2-40B4-BE49-F238E27FC236}">
                <a16:creationId xmlns:a16="http://schemas.microsoft.com/office/drawing/2014/main" id="{DD23FD72-C84B-464B-9CBF-564A061ADBE6}"/>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A learning need ends with a completed session and usable resources.</a:t>
            </a:r>
          </a:p>
        </p:txBody>
      </p:sp>
      <p:sp>
        <p:nvSpPr>
          <p:cNvPr id="4" name="">
            <a:extLst xmlns:a="http://schemas.openxmlformats.org/drawingml/2006/main">
              <a:ext uri="{FF2B5EF4-FFF2-40B4-BE49-F238E27FC236}">
                <a16:creationId xmlns:a16="http://schemas.microsoft.com/office/drawing/2014/main" id="{0515998A-48DF-4839-9294-545A5B576795}"/>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10</a:t>
            </a:r>
          </a:p>
        </p:txBody>
      </p:sp>
      <p:graphicFrame>
        <p:nvGraphicFramePr>
          <p:cNvPr id="11" name=""/>
          <p:cNvGraphicFramePr/>
          <p:nvPr/>
        </p:nvGraphicFramePr>
        <p:xfrm>
          <a:off xmlns:a="http://schemas.openxmlformats.org/drawingml/2006/main" x="533400" y="2428875"/>
          <a:ext xmlns:a="http://schemas.openxmlformats.org/drawingml/2006/main" cx="11125200" cy="3476625"/>
        </p:xfrm>
        <a:graphic xmlns:a="http://schemas.openxmlformats.org/drawingml/2006/main">
          <a:graphicData uri="http://schemas.openxmlformats.org/drawingml/2006/table">
            <a:tbl>
              <a:tblPr/>
              <a:tblGrid>
                <a:gridCol w="2381250"/>
                <a:gridCol w="8743950"/>
              </a:tblGrid>
              <a:tr h="495300">
                <a:tc>
                  <a:txBody>
                    <a:bodyPr/>
                    <a:lstStyle/>
                    <a:p>
                      <a:r>
                        <a:rPr sz="1725" b="1">
                          <a:solidFill>
                            <a:srgbClr val="FFFFFF"/>
                          </a:solidFill>
                          <a:latin typeface="Helvetica Neue"/>
                          <a:ea typeface="Helvetica Neue"/>
                          <a:cs typeface="Helvetica Neue"/>
                        </a:rPr>
                        <a:t>Boundary canvas</a:t>
                      </a:r>
                    </a:p>
                  </a:txBody>
                  <a:tcPr marL="91440" marR="91440" marT="45720" marB="45720">
                    <a:solidFill>
                      <a:srgbClr val="183449"/>
                    </a:solidFill>
                  </a:tcPr>
                </a:tc>
                <a:tc>
                  <a:txBody>
                    <a:bodyPr/>
                    <a:lstStyle/>
                    <a:p>
                      <a:r>
                        <a:rPr sz="1725" b="1">
                          <a:solidFill>
                            <a:srgbClr val="FFFFFF"/>
                          </a:solidFill>
                          <a:latin typeface="Helvetica Neue"/>
                          <a:ea typeface="Helvetica Neue"/>
                          <a:cs typeface="Helvetica Neue"/>
                        </a:rPr>
                        <a:t>Definition</a:t>
                      </a:r>
                    </a:p>
                  </a:txBody>
                  <a:tcPr marL="91440" marR="91440" marT="45720" marB="45720">
                    <a:solidFill>
                      <a:srgbClr val="183449"/>
                    </a:solidFill>
                  </a:tcPr>
                </a:tc>
              </a:tr>
              <a:tr h="596265">
                <a:tc>
                  <a:txBody>
                    <a:bodyPr/>
                    <a:lstStyle/>
                    <a:p>
                      <a:r>
                        <a:rPr sz="1725" b="1">
                          <a:solidFill>
                            <a:srgbClr val="233746"/>
                          </a:solidFill>
                          <a:latin typeface="Helvetica Neue"/>
                          <a:ea typeface="Helvetica Neue"/>
                          <a:cs typeface="Helvetica Neue"/>
                        </a:rPr>
                        <a:t>Beneficiary</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Students, lecturers and laboratory or technical staff</a:t>
                      </a:r>
                    </a:p>
                  </a:txBody>
                  <a:tcPr marL="91440" marR="91440" marT="45720" marB="45720">
                    <a:solidFill>
                      <a:srgbClr val="FFFFFF"/>
                    </a:solidFill>
                  </a:tcPr>
                </a:tc>
              </a:tr>
              <a:tr h="596265">
                <a:tc>
                  <a:txBody>
                    <a:bodyPr/>
                    <a:lstStyle/>
                    <a:p>
                      <a:r>
                        <a:rPr sz="1725" b="1">
                          <a:solidFill>
                            <a:srgbClr val="233746"/>
                          </a:solidFill>
                          <a:latin typeface="Helvetica Neue"/>
                          <a:ea typeface="Helvetica Neue"/>
                          <a:cs typeface="Helvetica Neue"/>
                        </a:rPr>
                        <a:t>Start / end</a:t>
                      </a:r>
                    </a:p>
                  </a:txBody>
                  <a:tcPr marL="91440" marR="91440" marT="45720" marB="45720">
                    <a:solidFill>
                      <a:srgbClr val="EDF3F4"/>
                    </a:solidFill>
                  </a:tcPr>
                </a:tc>
                <a:tc>
                  <a:txBody>
                    <a:bodyPr/>
                    <a:lstStyle/>
                    <a:p>
                      <a:r>
                        <a:rPr sz="1725" b="0">
                          <a:solidFill>
                            <a:srgbClr val="233746"/>
                          </a:solidFill>
                          <a:latin typeface="Helvetica Neue"/>
                          <a:ea typeface="Helvetica Neue"/>
                          <a:cs typeface="Helvetica Neue"/>
                        </a:rPr>
                        <a:t>Practical need identified / session completed and resources returned</a:t>
                      </a:r>
                    </a:p>
                  </a:txBody>
                  <a:tcPr marL="91440" marR="91440" marT="45720" marB="45720">
                    <a:solidFill>
                      <a:srgbClr val="EDF3F4"/>
                    </a:solidFill>
                  </a:tcPr>
                </a:tc>
              </a:tr>
              <a:tr h="596265">
                <a:tc>
                  <a:txBody>
                    <a:bodyPr/>
                    <a:lstStyle/>
                    <a:p>
                      <a:r>
                        <a:rPr sz="1725" b="1">
                          <a:solidFill>
                            <a:srgbClr val="233746"/>
                          </a:solidFill>
                          <a:latin typeface="Helvetica Neue"/>
                          <a:ea typeface="Helvetica Neue"/>
                          <a:cs typeface="Helvetica Neue"/>
                        </a:rPr>
                        <a:t>Core activities</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Plan demand, allocate resources, arrange supervision, coordinate maintenance</a:t>
                      </a:r>
                    </a:p>
                  </a:txBody>
                  <a:tcPr marL="91440" marR="91440" marT="45720" marB="45720">
                    <a:solidFill>
                      <a:srgbClr val="FFFFFF"/>
                    </a:solidFill>
                  </a:tcPr>
                </a:tc>
              </a:tr>
              <a:tr h="596265">
                <a:tc>
                  <a:txBody>
                    <a:bodyPr/>
                    <a:lstStyle/>
                    <a:p>
                      <a:r>
                        <a:rPr sz="1725" b="1">
                          <a:solidFill>
                            <a:srgbClr val="233746"/>
                          </a:solidFill>
                          <a:latin typeface="Helvetica Neue"/>
                          <a:ea typeface="Helvetica Neue"/>
                          <a:cs typeface="Helvetica Neue"/>
                        </a:rPr>
                        <a:t>Exclusions</a:t>
                      </a:r>
                    </a:p>
                  </a:txBody>
                  <a:tcPr marL="91440" marR="91440" marT="45720" marB="45720">
                    <a:solidFill>
                      <a:srgbClr val="EDF3F4"/>
                    </a:solidFill>
                  </a:tcPr>
                </a:tc>
                <a:tc>
                  <a:txBody>
                    <a:bodyPr/>
                    <a:lstStyle/>
                    <a:p>
                      <a:r>
                        <a:rPr sz="1725" b="0">
                          <a:solidFill>
                            <a:srgbClr val="233746"/>
                          </a:solidFill>
                          <a:latin typeface="Helvetica Neue"/>
                          <a:ea typeface="Helvetica Neue"/>
                          <a:cs typeface="Helvetica Neue"/>
                        </a:rPr>
                        <a:t>Curriculum redesign and approval of major capital upgrades</a:t>
                      </a:r>
                    </a:p>
                  </a:txBody>
                  <a:tcPr marL="91440" marR="91440" marT="45720" marB="45720">
                    <a:solidFill>
                      <a:srgbClr val="EDF3F4"/>
                    </a:solidFill>
                  </a:tcPr>
                </a:tc>
              </a:tr>
              <a:tr h="596265">
                <a:tc>
                  <a:txBody>
                    <a:bodyPr/>
                    <a:lstStyle/>
                    <a:p>
                      <a:r>
                        <a:rPr sz="1725" b="1">
                          <a:solidFill>
                            <a:srgbClr val="233746"/>
                          </a:solidFill>
                          <a:latin typeface="Helvetica Neue"/>
                          <a:ea typeface="Helvetica Neue"/>
                          <a:cs typeface="Helvetica Neue"/>
                        </a:rPr>
                        <a:t>Measures</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Fulfilled requests, practical hours, utilisation and equipment downtime</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4D45A959-B6C7-4CAE-9592-3951BF0218A9}"/>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Measures are proposed. No verified operational baseline is available.</a:t>
            </a:r>
          </a:p>
        </p:txBody>
      </p:sp>
    </p:spTree>
    <p:extLst>
      <p:ext uri="{BB962C8B-B14F-4D97-AF65-F5344CB8AC3E}">
        <p14:creationId xmlns:p14="http://schemas.microsoft.com/office/powerpoint/2010/main" val="18504257"/>
      </p:ext>
    </p:extLst>
  </p:cSld>
</p:sld>
</file>

<file path=ppt/slides/slide11.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11ED7A7-16C3-4833-86FD-69610FE18975}"/>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02  DOMAIN IDENTIFICATION</a:t>
            </a:r>
          </a:p>
        </p:txBody>
      </p:sp>
      <p:sp>
        <p:nvSpPr>
          <p:cNvPr id="2" name="">
            <a:extLst xmlns:a="http://schemas.openxmlformats.org/drawingml/2006/main">
              <a:ext uri="{FF2B5EF4-FFF2-40B4-BE49-F238E27FC236}">
                <a16:creationId xmlns:a16="http://schemas.microsoft.com/office/drawing/2014/main" id="{45120A7B-F8F6-4189-8396-A7A1BC20258E}"/>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C. Academic Progression &amp; Milestones</a:t>
            </a:r>
          </a:p>
        </p:txBody>
      </p:sp>
      <p:sp>
        <p:nvSpPr>
          <p:cNvPr id="3" name="">
            <a:extLst xmlns:a="http://schemas.openxmlformats.org/drawingml/2006/main">
              <a:ext uri="{FF2B5EF4-FFF2-40B4-BE49-F238E27FC236}">
                <a16:creationId xmlns:a16="http://schemas.microsoft.com/office/drawing/2014/main" id="{2553E296-6ECD-4DBC-92FC-F549A6B0E0E3}"/>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An academic plan ends with verified completion of required milestones.</a:t>
            </a:r>
          </a:p>
        </p:txBody>
      </p:sp>
      <p:sp>
        <p:nvSpPr>
          <p:cNvPr id="4" name="">
            <a:extLst xmlns:a="http://schemas.openxmlformats.org/drawingml/2006/main">
              <a:ext uri="{FF2B5EF4-FFF2-40B4-BE49-F238E27FC236}">
                <a16:creationId xmlns:a16="http://schemas.microsoft.com/office/drawing/2014/main" id="{1D748420-F5B9-4B04-BCC1-7ACFCF9F85E6}"/>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11</a:t>
            </a:r>
          </a:p>
        </p:txBody>
      </p:sp>
      <p:graphicFrame>
        <p:nvGraphicFramePr>
          <p:cNvPr id="11" name=""/>
          <p:cNvGraphicFramePr/>
          <p:nvPr/>
        </p:nvGraphicFramePr>
        <p:xfrm>
          <a:off xmlns:a="http://schemas.openxmlformats.org/drawingml/2006/main" x="533400" y="2428875"/>
          <a:ext xmlns:a="http://schemas.openxmlformats.org/drawingml/2006/main" cx="11125200" cy="3476625"/>
        </p:xfrm>
        <a:graphic xmlns:a="http://schemas.openxmlformats.org/drawingml/2006/main">
          <a:graphicData uri="http://schemas.openxmlformats.org/drawingml/2006/table">
            <a:tbl>
              <a:tblPr/>
              <a:tblGrid>
                <a:gridCol w="2381250"/>
                <a:gridCol w="8743950"/>
              </a:tblGrid>
              <a:tr h="495300">
                <a:tc>
                  <a:txBody>
                    <a:bodyPr/>
                    <a:lstStyle/>
                    <a:p>
                      <a:r>
                        <a:rPr sz="1725" b="1">
                          <a:solidFill>
                            <a:srgbClr val="FFFFFF"/>
                          </a:solidFill>
                          <a:latin typeface="Helvetica Neue"/>
                          <a:ea typeface="Helvetica Neue"/>
                          <a:cs typeface="Helvetica Neue"/>
                        </a:rPr>
                        <a:t>Boundary canvas</a:t>
                      </a:r>
                    </a:p>
                  </a:txBody>
                  <a:tcPr marL="91440" marR="91440" marT="45720" marB="45720">
                    <a:solidFill>
                      <a:srgbClr val="183449"/>
                    </a:solidFill>
                  </a:tcPr>
                </a:tc>
                <a:tc>
                  <a:txBody>
                    <a:bodyPr/>
                    <a:lstStyle/>
                    <a:p>
                      <a:r>
                        <a:rPr sz="1725" b="1">
                          <a:solidFill>
                            <a:srgbClr val="FFFFFF"/>
                          </a:solidFill>
                          <a:latin typeface="Helvetica Neue"/>
                          <a:ea typeface="Helvetica Neue"/>
                          <a:cs typeface="Helvetica Neue"/>
                        </a:rPr>
                        <a:t>Definition</a:t>
                      </a:r>
                    </a:p>
                  </a:txBody>
                  <a:tcPr marL="91440" marR="91440" marT="45720" marB="45720">
                    <a:solidFill>
                      <a:srgbClr val="183449"/>
                    </a:solidFill>
                  </a:tcPr>
                </a:tc>
              </a:tr>
              <a:tr h="596265">
                <a:tc>
                  <a:txBody>
                    <a:bodyPr/>
                    <a:lstStyle/>
                    <a:p>
                      <a:r>
                        <a:rPr sz="1725" b="1">
                          <a:solidFill>
                            <a:srgbClr val="233746"/>
                          </a:solidFill>
                          <a:latin typeface="Helvetica Neue"/>
                          <a:ea typeface="Helvetica Neue"/>
                          <a:cs typeface="Helvetica Neue"/>
                        </a:rPr>
                        <a:t>Beneficiary</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Students, programme teams and academic administrators</a:t>
                      </a:r>
                    </a:p>
                  </a:txBody>
                  <a:tcPr marL="91440" marR="91440" marT="45720" marB="45720">
                    <a:solidFill>
                      <a:srgbClr val="FFFFFF"/>
                    </a:solidFill>
                  </a:tcPr>
                </a:tc>
              </a:tr>
              <a:tr h="596265">
                <a:tc>
                  <a:txBody>
                    <a:bodyPr/>
                    <a:lstStyle/>
                    <a:p>
                      <a:r>
                        <a:rPr sz="1725" b="1">
                          <a:solidFill>
                            <a:srgbClr val="233746"/>
                          </a:solidFill>
                          <a:latin typeface="Helvetica Neue"/>
                          <a:ea typeface="Helvetica Neue"/>
                          <a:cs typeface="Helvetica Neue"/>
                        </a:rPr>
                        <a:t>Start / end</a:t>
                      </a:r>
                    </a:p>
                  </a:txBody>
                  <a:tcPr marL="91440" marR="91440" marT="45720" marB="45720">
                    <a:solidFill>
                      <a:srgbClr val="EDF3F4"/>
                    </a:solidFill>
                  </a:tcPr>
                </a:tc>
                <a:tc>
                  <a:txBody>
                    <a:bodyPr/>
                    <a:lstStyle/>
                    <a:p>
                      <a:r>
                        <a:rPr sz="1725" b="0">
                          <a:solidFill>
                            <a:srgbClr val="233746"/>
                          </a:solidFill>
                          <a:latin typeface="Helvetica Neue"/>
                          <a:ea typeface="Helvetica Neue"/>
                          <a:cs typeface="Helvetica Neue"/>
                        </a:rPr>
                        <a:t>Plan established / course, thesis and graduation milestones verified</a:t>
                      </a:r>
                    </a:p>
                  </a:txBody>
                  <a:tcPr marL="91440" marR="91440" marT="45720" marB="45720">
                    <a:solidFill>
                      <a:srgbClr val="EDF3F4"/>
                    </a:solidFill>
                  </a:tcPr>
                </a:tc>
              </a:tr>
              <a:tr h="596265">
                <a:tc>
                  <a:txBody>
                    <a:bodyPr/>
                    <a:lstStyle/>
                    <a:p>
                      <a:r>
                        <a:rPr sz="1725" b="1">
                          <a:solidFill>
                            <a:srgbClr val="233746"/>
                          </a:solidFill>
                          <a:latin typeface="Helvetica Neue"/>
                          <a:ea typeface="Helvetica Neue"/>
                          <a:cs typeface="Helvetica Neue"/>
                        </a:rPr>
                        <a:t>Core activities</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Check cohort rules, track status, identify gaps and resolve exceptions</a:t>
                      </a:r>
                    </a:p>
                  </a:txBody>
                  <a:tcPr marL="91440" marR="91440" marT="45720" marB="45720">
                    <a:solidFill>
                      <a:srgbClr val="FFFFFF"/>
                    </a:solidFill>
                  </a:tcPr>
                </a:tc>
              </a:tr>
              <a:tr h="596265">
                <a:tc>
                  <a:txBody>
                    <a:bodyPr/>
                    <a:lstStyle/>
                    <a:p>
                      <a:r>
                        <a:rPr sz="1725" b="1">
                          <a:solidFill>
                            <a:srgbClr val="233746"/>
                          </a:solidFill>
                          <a:latin typeface="Helvetica Neue"/>
                          <a:ea typeface="Helvetica Neue"/>
                          <a:cs typeface="Helvetica Neue"/>
                        </a:rPr>
                        <a:t>Exclusions</a:t>
                      </a:r>
                    </a:p>
                  </a:txBody>
                  <a:tcPr marL="91440" marR="91440" marT="45720" marB="45720">
                    <a:solidFill>
                      <a:srgbClr val="EDF3F4"/>
                    </a:solidFill>
                  </a:tcPr>
                </a:tc>
                <a:tc>
                  <a:txBody>
                    <a:bodyPr/>
                    <a:lstStyle/>
                    <a:p>
                      <a:r>
                        <a:rPr sz="1725" b="0">
                          <a:solidFill>
                            <a:srgbClr val="233746"/>
                          </a:solidFill>
                          <a:latin typeface="Helvetica Neue"/>
                          <a:ea typeface="Helvetica Neue"/>
                          <a:cs typeface="Helvetica Neue"/>
                        </a:rPr>
                        <a:t>Teaching delivery, curriculum redesign and a full system replacement</a:t>
                      </a:r>
                    </a:p>
                  </a:txBody>
                  <a:tcPr marL="91440" marR="91440" marT="45720" marB="45720">
                    <a:solidFill>
                      <a:srgbClr val="EDF3F4"/>
                    </a:solidFill>
                  </a:tcPr>
                </a:tc>
              </a:tr>
              <a:tr h="596265">
                <a:tc>
                  <a:txBody>
                    <a:bodyPr/>
                    <a:lstStyle/>
                    <a:p>
                      <a:r>
                        <a:rPr sz="1725" b="1">
                          <a:solidFill>
                            <a:srgbClr val="233746"/>
                          </a:solidFill>
                          <a:latin typeface="Helvetica Neue"/>
                          <a:ea typeface="Helvetica Neue"/>
                          <a:cs typeface="Helvetica Neue"/>
                        </a:rPr>
                        <a:t>Measures</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Corrections, unresolved exceptions and on-time milestone completion</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3F1AA60B-3184-413A-BAC3-1CBC22E0302A}"/>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Measures are proposed. No verified operational baseline is available.</a:t>
            </a:r>
          </a:p>
        </p:txBody>
      </p:sp>
    </p:spTree>
    <p:extLst>
      <p:ext uri="{BB962C8B-B14F-4D97-AF65-F5344CB8AC3E}">
        <p14:creationId xmlns:p14="http://schemas.microsoft.com/office/powerpoint/2010/main" val="730090007"/>
      </p:ext>
    </p:extLst>
  </p:cSld>
</p:sld>
</file>

<file path=ppt/slides/slide12.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D30D365-EFC8-465C-949B-005B0E42243B}"/>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03  CAPABILITY ASSESSMENT</a:t>
            </a:r>
          </a:p>
        </p:txBody>
      </p:sp>
      <p:sp>
        <p:nvSpPr>
          <p:cNvPr id="2" name="">
            <a:extLst xmlns:a="http://schemas.openxmlformats.org/drawingml/2006/main">
              <a:ext uri="{FF2B5EF4-FFF2-40B4-BE49-F238E27FC236}">
                <a16:creationId xmlns:a16="http://schemas.microsoft.com/office/drawing/2014/main" id="{67E750E1-B416-4F74-90D3-8EBED9ED4F9D}"/>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Ownership, talent and operating model</a:t>
            </a:r>
          </a:p>
        </p:txBody>
      </p:sp>
      <p:sp>
        <p:nvSpPr>
          <p:cNvPr id="3" name="">
            <a:extLst xmlns:a="http://schemas.openxmlformats.org/drawingml/2006/main">
              <a:ext uri="{FF2B5EF4-FFF2-40B4-BE49-F238E27FC236}">
                <a16:creationId xmlns:a16="http://schemas.microsoft.com/office/drawing/2014/main" id="{EC59E576-68F5-4A82-AE19-B45FF63B2CEC}"/>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Partial = some capability evidenced. Gap = reported shortfall. Unknown = insufficient evidence.</a:t>
            </a:r>
          </a:p>
        </p:txBody>
      </p:sp>
      <p:sp>
        <p:nvSpPr>
          <p:cNvPr id="4" name="">
            <a:extLst xmlns:a="http://schemas.openxmlformats.org/drawingml/2006/main">
              <a:ext uri="{FF2B5EF4-FFF2-40B4-BE49-F238E27FC236}">
                <a16:creationId xmlns:a16="http://schemas.microsoft.com/office/drawing/2014/main" id="{388584D3-3159-4E84-A69E-41C2E1268C3F}"/>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12</a:t>
            </a:r>
          </a:p>
        </p:txBody>
      </p:sp>
      <p:graphicFrame>
        <p:nvGraphicFramePr>
          <p:cNvPr id="11" name=""/>
          <p:cNvGraphicFramePr/>
          <p:nvPr/>
        </p:nvGraphicFramePr>
        <p:xfrm>
          <a:off xmlns:a="http://schemas.openxmlformats.org/drawingml/2006/main" x="533400" y="2428875"/>
          <a:ext xmlns:a="http://schemas.openxmlformats.org/drawingml/2006/main" cx="11125200" cy="3333750"/>
        </p:xfrm>
        <a:graphic xmlns:a="http://schemas.openxmlformats.org/drawingml/2006/main">
          <a:graphicData uri="http://schemas.openxmlformats.org/drawingml/2006/table">
            <a:tbl>
              <a:tblPr/>
              <a:tblGrid>
                <a:gridCol w="1952625"/>
                <a:gridCol w="3057525"/>
                <a:gridCol w="3057525"/>
                <a:gridCol w="3057525"/>
              </a:tblGrid>
              <a:tr h="495300">
                <a:tc>
                  <a:txBody>
                    <a:bodyPr/>
                    <a:lstStyle/>
                    <a:p>
                      <a:r>
                        <a:rPr sz="1800" b="1">
                          <a:solidFill>
                            <a:srgbClr val="FFFFFF"/>
                          </a:solidFill>
                          <a:latin typeface="Helvetica Neue"/>
                          <a:ea typeface="Helvetica Neue"/>
                          <a:cs typeface="Helvetica Neue"/>
                        </a:rPr>
                        <a:t>Capability</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A  Student support</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B  Practical learning</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C  Progression</a:t>
                      </a:r>
                    </a:p>
                  </a:txBody>
                  <a:tcPr marL="91440" marR="91440" marT="45720" marB="45720">
                    <a:solidFill>
                      <a:srgbClr val="183449"/>
                    </a:solidFill>
                  </a:tcPr>
                </a:tc>
              </a:tr>
              <a:tr h="946150">
                <a:tc>
                  <a:txBody>
                    <a:bodyPr/>
                    <a:lstStyle/>
                    <a:p>
                      <a:r>
                        <a:rPr sz="1800" b="1">
                          <a:solidFill>
                            <a:srgbClr val="233746"/>
                          </a:solidFill>
                          <a:latin typeface="Helvetica Neue"/>
                          <a:ea typeface="Helvetica Neue"/>
                          <a:cs typeface="Helvetica Neue"/>
                        </a:rPr>
                        <a:t>Roadmap</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Unknown</a:t>
                      </a:r>
                    </a:p>
                    <a:p>
                      <a:r>
                        <a:rPr sz="1800" b="0">
                          <a:solidFill>
                            <a:srgbClr val="233746"/>
                          </a:solidFill>
                          <a:latin typeface="Helvetica Neue"/>
                          <a:ea typeface="Helvetica Neue"/>
                          <a:cs typeface="Helvetica Neue"/>
                        </a:rPr>
                        <a:t>Shared owner and targets</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Unknown</a:t>
                      </a:r>
                    </a:p>
                    <a:p>
                      <a:r>
                        <a:rPr sz="1800" b="0">
                          <a:solidFill>
                            <a:srgbClr val="233746"/>
                          </a:solidFill>
                          <a:latin typeface="Helvetica Neue"/>
                          <a:ea typeface="Helvetica Neue"/>
                          <a:cs typeface="Helvetica Neue"/>
                        </a:rPr>
                        <a:t>Approved plan and funding</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Unknown</a:t>
                      </a:r>
                    </a:p>
                    <a:p>
                      <a:r>
                        <a:rPr sz="1800" b="0">
                          <a:solidFill>
                            <a:srgbClr val="233746"/>
                          </a:solidFill>
                          <a:latin typeface="Helvetica Neue"/>
                          <a:ea typeface="Helvetica Neue"/>
                          <a:cs typeface="Helvetica Neue"/>
                        </a:rPr>
                        <a:t>Cross-unit ownership</a:t>
                      </a:r>
                    </a:p>
                  </a:txBody>
                  <a:tcPr marL="91440" marR="91440" marT="45720" marB="45720">
                    <a:solidFill>
                      <a:srgbClr val="FFFFFF"/>
                    </a:solidFill>
                  </a:tcPr>
                </a:tc>
              </a:tr>
              <a:tr h="946150">
                <a:tc>
                  <a:txBody>
                    <a:bodyPr/>
                    <a:lstStyle/>
                    <a:p>
                      <a:r>
                        <a:rPr sz="1800" b="1">
                          <a:solidFill>
                            <a:srgbClr val="233746"/>
                          </a:solidFill>
                          <a:latin typeface="Helvetica Neue"/>
                          <a:ea typeface="Helvetica Neue"/>
                          <a:cs typeface="Helvetica Neue"/>
                        </a:rPr>
                        <a:t>Talent</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Partial</a:t>
                      </a:r>
                    </a:p>
                    <a:p>
                      <a:r>
                        <a:rPr sz="1800" b="0">
                          <a:solidFill>
                            <a:srgbClr val="233746"/>
                          </a:solidFill>
                          <a:latin typeface="Helvetica Neue"/>
                          <a:ea typeface="Helvetica Neue"/>
                          <a:cs typeface="Helvetica Neue"/>
                        </a:rPr>
                        <a:t>Expertise exists; capacity varies</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Partial</a:t>
                      </a:r>
                    </a:p>
                    <a:p>
                      <a:r>
                        <a:rPr sz="1800" b="0">
                          <a:solidFill>
                            <a:srgbClr val="233746"/>
                          </a:solidFill>
                          <a:latin typeface="Helvetica Neue"/>
                          <a:ea typeface="Helvetica Neue"/>
                          <a:cs typeface="Helvetica Neue"/>
                        </a:rPr>
                        <a:t>Expertise exists; coverage unclear</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Partial</a:t>
                      </a:r>
                    </a:p>
                    <a:p>
                      <a:r>
                        <a:rPr sz="1800" b="0">
                          <a:solidFill>
                            <a:srgbClr val="233746"/>
                          </a:solidFill>
                          <a:latin typeface="Helvetica Neue"/>
                          <a:ea typeface="Helvetica Neue"/>
                          <a:cs typeface="Helvetica Neue"/>
                        </a:rPr>
                        <a:t>Roles exist; delivery time unclear</a:t>
                      </a:r>
                    </a:p>
                  </a:txBody>
                  <a:tcPr marL="91440" marR="91440" marT="45720" marB="45720">
                    <a:solidFill>
                      <a:srgbClr val="EDF3F4"/>
                    </a:solidFill>
                  </a:tcPr>
                </a:tc>
              </a:tr>
              <a:tr h="946150">
                <a:tc>
                  <a:txBody>
                    <a:bodyPr/>
                    <a:lstStyle/>
                    <a:p>
                      <a:r>
                        <a:rPr sz="1800" b="1">
                          <a:solidFill>
                            <a:srgbClr val="233746"/>
                          </a:solidFill>
                          <a:latin typeface="Helvetica Neue"/>
                          <a:ea typeface="Helvetica Neue"/>
                          <a:cs typeface="Helvetica Neue"/>
                        </a:rPr>
                        <a:t>Operating model</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Gap</a:t>
                      </a:r>
                    </a:p>
                    <a:p>
                      <a:r>
                        <a:rPr sz="1800" b="0">
                          <a:solidFill>
                            <a:srgbClr val="233746"/>
                          </a:solidFill>
                          <a:latin typeface="Helvetica Neue"/>
                          <a:ea typeface="Helvetica Neue"/>
                          <a:cs typeface="Helvetica Neue"/>
                        </a:rPr>
                        <a:t>Guidance and routing vary</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Gap</a:t>
                      </a:r>
                    </a:p>
                    <a:p>
                      <a:r>
                        <a:rPr sz="1800" b="0">
                          <a:solidFill>
                            <a:srgbClr val="233746"/>
                          </a:solidFill>
                          <a:latin typeface="Helvetica Neue"/>
                          <a:ea typeface="Helvetica Neue"/>
                          <a:cs typeface="Helvetica Neue"/>
                        </a:rPr>
                        <a:t>Access and guidance friction</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Gap</a:t>
                      </a:r>
                    </a:p>
                    <a:p>
                      <a:r>
                        <a:rPr sz="1800" b="0">
                          <a:solidFill>
                            <a:srgbClr val="233746"/>
                          </a:solidFill>
                          <a:latin typeface="Helvetica Neue"/>
                          <a:ea typeface="Helvetica Neue"/>
                          <a:cs typeface="Helvetica Neue"/>
                        </a:rPr>
                        <a:t>Manual checks and follow-up</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F4EE4E4-9455-4526-9665-903558FD746D}"/>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Source: Customer Experience module interviews and reports. Ratings are judgments, not measured maturity scores.</a:t>
            </a:r>
          </a:p>
        </p:txBody>
      </p:sp>
    </p:spTree>
    <p:extLst>
      <p:ext uri="{BB962C8B-B14F-4D97-AF65-F5344CB8AC3E}">
        <p14:creationId xmlns:p14="http://schemas.microsoft.com/office/powerpoint/2010/main" val="649361176"/>
      </p:ext>
    </p:extLst>
  </p:cSld>
</p:sld>
</file>

<file path=ppt/slides/slide13.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08A5CE4-FE0F-4FFF-8BCB-BF9377E863AE}"/>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03  CAPABILITY ASSESSMENT</a:t>
            </a:r>
          </a:p>
        </p:txBody>
      </p:sp>
      <p:sp>
        <p:nvSpPr>
          <p:cNvPr id="2" name="">
            <a:extLst xmlns:a="http://schemas.openxmlformats.org/drawingml/2006/main">
              <a:ext uri="{FF2B5EF4-FFF2-40B4-BE49-F238E27FC236}">
                <a16:creationId xmlns:a16="http://schemas.microsoft.com/office/drawing/2014/main" id="{F2474F58-4B08-4BD3-903C-B7B7EB82ADB2}"/>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Technology, data and adoption</a:t>
            </a:r>
          </a:p>
        </p:txBody>
      </p:sp>
      <p:sp>
        <p:nvSpPr>
          <p:cNvPr id="3" name="">
            <a:extLst xmlns:a="http://schemas.openxmlformats.org/drawingml/2006/main">
              <a:ext uri="{FF2B5EF4-FFF2-40B4-BE49-F238E27FC236}">
                <a16:creationId xmlns:a16="http://schemas.microsoft.com/office/drawing/2014/main" id="{61E282A2-BAB4-472F-AACA-87A53354A325}"/>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Existing tools provide a foundation. Readiness depends on reliable processes and records.</a:t>
            </a:r>
          </a:p>
        </p:txBody>
      </p:sp>
      <p:sp>
        <p:nvSpPr>
          <p:cNvPr id="4" name="">
            <a:extLst xmlns:a="http://schemas.openxmlformats.org/drawingml/2006/main">
              <a:ext uri="{FF2B5EF4-FFF2-40B4-BE49-F238E27FC236}">
                <a16:creationId xmlns:a16="http://schemas.microsoft.com/office/drawing/2014/main" id="{876F9DF3-CAAA-4F34-9009-636DD1824E71}"/>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13</a:t>
            </a:r>
          </a:p>
        </p:txBody>
      </p:sp>
      <p:graphicFrame>
        <p:nvGraphicFramePr>
          <p:cNvPr id="11" name=""/>
          <p:cNvGraphicFramePr/>
          <p:nvPr/>
        </p:nvGraphicFramePr>
        <p:xfrm>
          <a:off xmlns:a="http://schemas.openxmlformats.org/drawingml/2006/main" x="533400" y="2428875"/>
          <a:ext xmlns:a="http://schemas.openxmlformats.org/drawingml/2006/main" cx="11125200" cy="3333750"/>
        </p:xfrm>
        <a:graphic xmlns:a="http://schemas.openxmlformats.org/drawingml/2006/main">
          <a:graphicData uri="http://schemas.openxmlformats.org/drawingml/2006/table">
            <a:tbl>
              <a:tblPr/>
              <a:tblGrid>
                <a:gridCol w="1952625"/>
                <a:gridCol w="3057525"/>
                <a:gridCol w="3057525"/>
                <a:gridCol w="3057525"/>
              </a:tblGrid>
              <a:tr h="495300">
                <a:tc>
                  <a:txBody>
                    <a:bodyPr/>
                    <a:lstStyle/>
                    <a:p>
                      <a:r>
                        <a:rPr sz="1800" b="1">
                          <a:solidFill>
                            <a:srgbClr val="FFFFFF"/>
                          </a:solidFill>
                          <a:latin typeface="Helvetica Neue"/>
                          <a:ea typeface="Helvetica Neue"/>
                          <a:cs typeface="Helvetica Neue"/>
                        </a:rPr>
                        <a:t>Capability</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A  Student support</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B  Practical learning</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C  Progression</a:t>
                      </a:r>
                    </a:p>
                  </a:txBody>
                  <a:tcPr marL="91440" marR="91440" marT="45720" marB="45720">
                    <a:solidFill>
                      <a:srgbClr val="183449"/>
                    </a:solidFill>
                  </a:tcPr>
                </a:tc>
              </a:tr>
              <a:tr h="946150">
                <a:tc>
                  <a:txBody>
                    <a:bodyPr/>
                    <a:lstStyle/>
                    <a:p>
                      <a:r>
                        <a:rPr sz="1800" b="1">
                          <a:solidFill>
                            <a:srgbClr val="233746"/>
                          </a:solidFill>
                          <a:latin typeface="Helvetica Neue"/>
                          <a:ea typeface="Helvetica Neue"/>
                          <a:cs typeface="Helvetica Neue"/>
                        </a:rPr>
                        <a:t>Technology</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Partial</a:t>
                      </a:r>
                    </a:p>
                    <a:p>
                      <a:r>
                        <a:rPr sz="1800" b="0">
                          <a:solidFill>
                            <a:srgbClr val="233746"/>
                          </a:solidFill>
                          <a:latin typeface="Helvetica Neue"/>
                          <a:ea typeface="Helvetica Neue"/>
                          <a:cs typeface="Helvetica Neue"/>
                        </a:rPr>
                        <a:t>Channels exist; tracking unclear</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Unknown</a:t>
                      </a:r>
                    </a:p>
                    <a:p>
                      <a:r>
                        <a:rPr sz="1800" b="0">
                          <a:solidFill>
                            <a:srgbClr val="233746"/>
                          </a:solidFill>
                          <a:latin typeface="Helvetica Neue"/>
                          <a:ea typeface="Helvetica Neue"/>
                          <a:cs typeface="Helvetica Neue"/>
                        </a:rPr>
                        <a:t>Booking and inventory tools</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Partial</a:t>
                      </a:r>
                    </a:p>
                    <a:p>
                      <a:r>
                        <a:rPr sz="1800" b="0">
                          <a:solidFill>
                            <a:srgbClr val="233746"/>
                          </a:solidFill>
                          <a:latin typeface="Helvetica Neue"/>
                          <a:ea typeface="Helvetica Neue"/>
                          <a:cs typeface="Helvetica Neue"/>
                        </a:rPr>
                        <a:t>Portal exists; issues reported</a:t>
                      </a:r>
                    </a:p>
                  </a:txBody>
                  <a:tcPr marL="91440" marR="91440" marT="45720" marB="45720">
                    <a:solidFill>
                      <a:srgbClr val="FFFFFF"/>
                    </a:solidFill>
                  </a:tcPr>
                </a:tc>
              </a:tr>
              <a:tr h="946150">
                <a:tc>
                  <a:txBody>
                    <a:bodyPr/>
                    <a:lstStyle/>
                    <a:p>
                      <a:r>
                        <a:rPr sz="1800" b="1">
                          <a:solidFill>
                            <a:srgbClr val="233746"/>
                          </a:solidFill>
                          <a:latin typeface="Helvetica Neue"/>
                          <a:ea typeface="Helvetica Neue"/>
                          <a:cs typeface="Helvetica Neue"/>
                        </a:rPr>
                        <a:t>Data</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Gap</a:t>
                      </a:r>
                    </a:p>
                    <a:p>
                      <a:r>
                        <a:rPr sz="1800" b="0">
                          <a:solidFill>
                            <a:srgbClr val="233746"/>
                          </a:solidFill>
                          <a:latin typeface="Helvetica Neue"/>
                          <a:ea typeface="Helvetica Neue"/>
                          <a:cs typeface="Helvetica Neue"/>
                        </a:rPr>
                        <a:t>Guidance is dispersed</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Unknown</a:t>
                      </a:r>
                    </a:p>
                    <a:p>
                      <a:r>
                        <a:rPr sz="1800" b="0">
                          <a:solidFill>
                            <a:srgbClr val="233746"/>
                          </a:solidFill>
                          <a:latin typeface="Helvetica Neue"/>
                          <a:ea typeface="Helvetica Neue"/>
                          <a:cs typeface="Helvetica Neue"/>
                        </a:rPr>
                        <a:t>Capacity and usage records</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Partial</a:t>
                      </a:r>
                    </a:p>
                    <a:p>
                      <a:r>
                        <a:rPr sz="1800" b="0">
                          <a:solidFill>
                            <a:srgbClr val="233746"/>
                          </a:solidFill>
                          <a:latin typeface="Helvetica Neue"/>
                          <a:ea typeface="Helvetica Neue"/>
                          <a:cs typeface="Helvetica Neue"/>
                        </a:rPr>
                        <a:t>Records exist; quality unclear</a:t>
                      </a:r>
                    </a:p>
                  </a:txBody>
                  <a:tcPr marL="91440" marR="91440" marT="45720" marB="45720">
                    <a:solidFill>
                      <a:srgbClr val="EDF3F4"/>
                    </a:solidFill>
                  </a:tcPr>
                </a:tc>
              </a:tr>
              <a:tr h="946150">
                <a:tc>
                  <a:txBody>
                    <a:bodyPr/>
                    <a:lstStyle/>
                    <a:p>
                      <a:r>
                        <a:rPr sz="1800" b="1">
                          <a:solidFill>
                            <a:srgbClr val="233746"/>
                          </a:solidFill>
                          <a:latin typeface="Helvetica Neue"/>
                          <a:ea typeface="Helvetica Neue"/>
                          <a:cs typeface="Helvetica Neue"/>
                        </a:rPr>
                        <a:t>Adoption</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Partial</a:t>
                      </a:r>
                    </a:p>
                    <a:p>
                      <a:r>
                        <a:rPr sz="1800" b="0">
                          <a:solidFill>
                            <a:srgbClr val="233746"/>
                          </a:solidFill>
                          <a:latin typeface="Helvetica Neue"/>
                          <a:ea typeface="Helvetica Neue"/>
                          <a:cs typeface="Helvetica Neue"/>
                        </a:rPr>
                        <a:t>Use of support varies</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Unknown</a:t>
                      </a:r>
                    </a:p>
                    <a:p>
                      <a:r>
                        <a:rPr sz="1800" b="0">
                          <a:solidFill>
                            <a:srgbClr val="233746"/>
                          </a:solidFill>
                          <a:latin typeface="Helvetica Neue"/>
                          <a:ea typeface="Helvetica Neue"/>
                          <a:cs typeface="Helvetica Neue"/>
                        </a:rPr>
                        <a:t>Shared workflow use</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Partial</a:t>
                      </a:r>
                    </a:p>
                    <a:p>
                      <a:r>
                        <a:rPr sz="1800" b="0">
                          <a:solidFill>
                            <a:srgbClr val="233746"/>
                          </a:solidFill>
                          <a:latin typeface="Helvetica Neue"/>
                          <a:ea typeface="Helvetica Neue"/>
                          <a:cs typeface="Helvetica Neue"/>
                        </a:rPr>
                        <a:t>Systems and workarounds coexist</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69142F4-3EA7-421D-98D8-DDAB0161793B}"/>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Unknown does not mean absent. Validate permissions, staffing and data before committing to delivery.</a:t>
            </a:r>
          </a:p>
        </p:txBody>
      </p:sp>
    </p:spTree>
    <p:extLst>
      <p:ext uri="{BB962C8B-B14F-4D97-AF65-F5344CB8AC3E}">
        <p14:creationId xmlns:p14="http://schemas.microsoft.com/office/powerpoint/2010/main" val="1549143458"/>
      </p:ext>
    </p:extLst>
  </p:cSld>
</p:sld>
</file>

<file path=ppt/slides/slide14.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822FB2F-6C0F-47AC-BAE1-ACE3C6B788B7}"/>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04  DOMAIN PRIORITISATION</a:t>
            </a:r>
          </a:p>
        </p:txBody>
      </p:sp>
      <p:sp>
        <p:nvSpPr>
          <p:cNvPr id="2" name="">
            <a:extLst xmlns:a="http://schemas.openxmlformats.org/drawingml/2006/main">
              <a:ext uri="{FF2B5EF4-FFF2-40B4-BE49-F238E27FC236}">
                <a16:creationId xmlns:a16="http://schemas.microsoft.com/office/drawing/2014/main" id="{044F7931-74BB-4DE3-BCB8-E933B74AAA10}"/>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Value and feasibility favour a support pilot</a:t>
            </a:r>
          </a:p>
        </p:txBody>
      </p:sp>
      <p:sp>
        <p:nvSpPr>
          <p:cNvPr id="3" name="">
            <a:extLst xmlns:a="http://schemas.openxmlformats.org/drawingml/2006/main">
              <a:ext uri="{FF2B5EF4-FFF2-40B4-BE49-F238E27FC236}">
                <a16:creationId xmlns:a16="http://schemas.microsoft.com/office/drawing/2014/main" id="{1D06C0B1-00E5-4880-968E-9B5D566EC3DC}"/>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Provisional positions for bounded entry projects within each transformation domain.</a:t>
            </a:r>
          </a:p>
        </p:txBody>
      </p:sp>
      <p:sp>
        <p:nvSpPr>
          <p:cNvPr id="4" name="">
            <a:extLst xmlns:a="http://schemas.openxmlformats.org/drawingml/2006/main">
              <a:ext uri="{FF2B5EF4-FFF2-40B4-BE49-F238E27FC236}">
                <a16:creationId xmlns:a16="http://schemas.microsoft.com/office/drawing/2014/main" id="{809F4F5E-CC48-4318-BC9D-E6F2072D606D}"/>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14</a:t>
            </a:r>
          </a:p>
        </p:txBody>
      </p:sp>
      <p:graphicFrame>
        <p:nvGraphicFramePr>
          <p:cNvPr id="17" name="Chart"/>
          <p:cNvGraphicFramePr/>
          <p:nvPr/>
        </p:nvGraphicFramePr>
        <p:xfrm>
          <a:off xmlns:a="http://schemas.openxmlformats.org/drawingml/2006/main" x="619125" y="2476500"/>
          <a:ext xmlns:a="http://schemas.openxmlformats.org/drawingml/2006/main" cx="6334125" cy="3286125"/>
        </p:xfrm>
        <a:graphic xmlns:a="http://schemas.openxmlformats.org/drawingml/2006/main">
          <a:graphicData uri="http://schemas.openxmlformats.org/drawingml/2006/chart">
            <c:chart xmlns:r="http://schemas.openxmlformats.org/officeDocument/2006/relationships" xmlns:c="http://schemas.openxmlformats.org/drawingml/2006/chart" r:id="R0ec91f9f37794e08"/>
          </a:graphicData>
        </a:graphic>
      </p:graphicFrame>
      <p:sp>
        <p:nvSpPr>
          <p:cNvPr id="6" name="">
            <a:extLst xmlns:a="http://schemas.openxmlformats.org/drawingml/2006/main">
              <a:ext uri="{FF2B5EF4-FFF2-40B4-BE49-F238E27FC236}">
                <a16:creationId xmlns:a16="http://schemas.microsoft.com/office/drawing/2014/main" id="{94D42203-8C21-49E0-8DC3-0FF178E4739E}"/>
              </a:ext>
            </a:extLst>
          </p:cNvPr>
          <p:cNvSpPr>
            <a:spLocks xmlns:a="http://schemas.openxmlformats.org/drawingml/2006/main" noGrp="1"/>
          </p:cNvSpPr>
          <p:nvPr/>
        </p:nvSpPr>
        <p:spPr>
          <a:xfrm xmlns:a="http://schemas.openxmlformats.org/drawingml/2006/main">
            <a:off x="7524750" y="2514600"/>
            <a:ext cx="400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878A"/>
                </a:solidFill>
                <a:latin typeface="Helvetica Neue"/>
                <a:ea typeface="Helvetica Neue"/>
                <a:cs typeface="Helvetica Neue"/>
              </a:defRPr>
            </a:pPr>
            <a:r>
              <a:rPr sz="2175" b="1">
                <a:solidFill>
                  <a:srgbClr val="16878A"/>
                </a:solidFill>
                <a:latin typeface="Helvetica Neue"/>
                <a:ea typeface="Helvetica Neue"/>
                <a:cs typeface="Helvetica Neue"/>
              </a:rPr>
              <a:t>A  Student support</a:t>
            </a:r>
          </a:p>
        </p:txBody>
      </p:sp>
      <p:sp>
        <p:nvSpPr>
          <p:cNvPr id="7" name="">
            <a:extLst xmlns:a="http://schemas.openxmlformats.org/drawingml/2006/main">
              <a:ext uri="{FF2B5EF4-FFF2-40B4-BE49-F238E27FC236}">
                <a16:creationId xmlns:a16="http://schemas.microsoft.com/office/drawing/2014/main" id="{A75B8D6B-3A79-4EFF-BE7B-1062F6C505AA}"/>
              </a:ext>
            </a:extLst>
          </p:cNvPr>
          <p:cNvSpPr>
            <a:spLocks xmlns:a="http://schemas.openxmlformats.org/drawingml/2006/main" noGrp="1"/>
          </p:cNvSpPr>
          <p:nvPr/>
        </p:nvSpPr>
        <p:spPr>
          <a:xfrm xmlns:a="http://schemas.openxmlformats.org/drawingml/2006/main">
            <a:off x="7524750" y="2990850"/>
            <a:ext cx="4000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33746"/>
                </a:solidFill>
                <a:latin typeface="Helvetica Neue"/>
                <a:ea typeface="Helvetica Neue"/>
                <a:cs typeface="Helvetica Neue"/>
              </a:defRPr>
            </a:pPr>
            <a:r>
              <a:rPr sz="1875" b="0">
                <a:solidFill>
                  <a:srgbClr val="233746"/>
                </a:solidFill>
                <a:latin typeface="Helvetica Neue"/>
                <a:ea typeface="Helvetica Neue"/>
                <a:cs typeface="Helvetica Neue"/>
              </a:rPr>
              <a:t>Bounded information and routing pilot; limited initial integration.</a:t>
            </a:r>
          </a:p>
        </p:txBody>
      </p:sp>
      <p:sp>
        <p:nvSpPr>
          <p:cNvPr id="8" name="">
            <a:extLst xmlns:a="http://schemas.openxmlformats.org/drawingml/2006/main">
              <a:ext uri="{FF2B5EF4-FFF2-40B4-BE49-F238E27FC236}">
                <a16:creationId xmlns:a16="http://schemas.microsoft.com/office/drawing/2014/main" id="{E3861234-FE9B-4903-BDA0-E769C60DE8CF}"/>
              </a:ext>
            </a:extLst>
          </p:cNvPr>
          <p:cNvSpPr>
            <a:spLocks xmlns:a="http://schemas.openxmlformats.org/drawingml/2006/main" noGrp="1"/>
          </p:cNvSpPr>
          <p:nvPr/>
        </p:nvSpPr>
        <p:spPr>
          <a:xfrm xmlns:a="http://schemas.openxmlformats.org/drawingml/2006/main">
            <a:off x="7524750" y="3933825"/>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AF6C1F"/>
                </a:solidFill>
                <a:latin typeface="Helvetica Neue"/>
                <a:ea typeface="Helvetica Neue"/>
                <a:cs typeface="Helvetica Neue"/>
              </a:defRPr>
            </a:pPr>
            <a:r>
              <a:rPr sz="2025" b="1">
                <a:solidFill>
                  <a:srgbClr val="AF6C1F"/>
                </a:solidFill>
                <a:latin typeface="Helvetica Neue"/>
                <a:ea typeface="Helvetica Neue"/>
                <a:cs typeface="Helvetica Neue"/>
              </a:rPr>
              <a:t>B  Practical learning</a:t>
            </a:r>
          </a:p>
        </p:txBody>
      </p:sp>
      <p:sp>
        <p:nvSpPr>
          <p:cNvPr id="9" name="">
            <a:extLst xmlns:a="http://schemas.openxmlformats.org/drawingml/2006/main">
              <a:ext uri="{FF2B5EF4-FFF2-40B4-BE49-F238E27FC236}">
                <a16:creationId xmlns:a16="http://schemas.microsoft.com/office/drawing/2014/main" id="{FC790950-3D20-4269-B723-9DF01C460326}"/>
              </a:ext>
            </a:extLst>
          </p:cNvPr>
          <p:cNvSpPr>
            <a:spLocks xmlns:a="http://schemas.openxmlformats.org/drawingml/2006/main" noGrp="1"/>
          </p:cNvSpPr>
          <p:nvPr/>
        </p:nvSpPr>
        <p:spPr>
          <a:xfrm xmlns:a="http://schemas.openxmlformats.org/drawingml/2006/main">
            <a:off x="7524750" y="4381500"/>
            <a:ext cx="400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33746"/>
                </a:solidFill>
                <a:latin typeface="Helvetica Neue"/>
                <a:ea typeface="Helvetica Neue"/>
                <a:cs typeface="Helvetica Neue"/>
              </a:defRPr>
            </a:pPr>
            <a:r>
              <a:rPr sz="1800" b="0">
                <a:solidFill>
                  <a:srgbClr val="233746"/>
                </a:solidFill>
                <a:latin typeface="Helvetica Neue"/>
                <a:ea typeface="Helvetica Neue"/>
                <a:cs typeface="Helvetica Neue"/>
              </a:rPr>
              <a:t>Equipment and supervision constrain delivery.</a:t>
            </a:r>
          </a:p>
        </p:txBody>
      </p:sp>
      <p:sp>
        <p:nvSpPr>
          <p:cNvPr id="10" name="">
            <a:extLst xmlns:a="http://schemas.openxmlformats.org/drawingml/2006/main">
              <a:ext uri="{FF2B5EF4-FFF2-40B4-BE49-F238E27FC236}">
                <a16:creationId xmlns:a16="http://schemas.microsoft.com/office/drawing/2014/main" id="{1FA1353F-345C-4320-ADA5-96A816930389}"/>
              </a:ext>
            </a:extLst>
          </p:cNvPr>
          <p:cNvSpPr>
            <a:spLocks xmlns:a="http://schemas.openxmlformats.org/drawingml/2006/main" noGrp="1"/>
          </p:cNvSpPr>
          <p:nvPr/>
        </p:nvSpPr>
        <p:spPr>
          <a:xfrm xmlns:a="http://schemas.openxmlformats.org/drawingml/2006/main">
            <a:off x="7524750" y="5153025"/>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449"/>
                </a:solidFill>
                <a:latin typeface="Helvetica Neue"/>
                <a:ea typeface="Helvetica Neue"/>
                <a:cs typeface="Helvetica Neue"/>
              </a:defRPr>
            </a:pPr>
            <a:r>
              <a:rPr sz="2025" b="1">
                <a:solidFill>
                  <a:srgbClr val="183449"/>
                </a:solidFill>
                <a:latin typeface="Helvetica Neue"/>
                <a:ea typeface="Helvetica Neue"/>
                <a:cs typeface="Helvetica Neue"/>
              </a:rPr>
              <a:t>C  Progression</a:t>
            </a:r>
          </a:p>
        </p:txBody>
      </p:sp>
      <p:sp>
        <p:nvSpPr>
          <p:cNvPr id="11" name="">
            <a:extLst xmlns:a="http://schemas.openxmlformats.org/drawingml/2006/main">
              <a:ext uri="{FF2B5EF4-FFF2-40B4-BE49-F238E27FC236}">
                <a16:creationId xmlns:a16="http://schemas.microsoft.com/office/drawing/2014/main" id="{0CE576D0-2F27-424C-8B7A-CFA3323D2EF2}"/>
              </a:ext>
            </a:extLst>
          </p:cNvPr>
          <p:cNvSpPr>
            <a:spLocks xmlns:a="http://schemas.openxmlformats.org/drawingml/2006/main" noGrp="1"/>
          </p:cNvSpPr>
          <p:nvPr/>
        </p:nvSpPr>
        <p:spPr>
          <a:xfrm xmlns:a="http://schemas.openxmlformats.org/drawingml/2006/main">
            <a:off x="7524750" y="5581650"/>
            <a:ext cx="4000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33746"/>
                </a:solidFill>
                <a:latin typeface="Helvetica Neue"/>
                <a:ea typeface="Helvetica Neue"/>
                <a:cs typeface="Helvetica Neue"/>
              </a:defRPr>
            </a:pPr>
            <a:r>
              <a:rPr sz="1725" b="0">
                <a:solidFill>
                  <a:srgbClr val="233746"/>
                </a:solidFill>
                <a:latin typeface="Helvetica Neue"/>
                <a:ea typeface="Helvetica Neue"/>
                <a:cs typeface="Helvetica Neue"/>
              </a:rPr>
              <a:t>Wider value, more data dependencies.</a:t>
            </a:r>
          </a:p>
        </p:txBody>
      </p:sp>
      <p:sp>
        <p:nvSpPr>
          <p:cNvPr id="12" name="">
            <a:extLst xmlns:a="http://schemas.openxmlformats.org/drawingml/2006/main">
              <a:ext uri="{FF2B5EF4-FFF2-40B4-BE49-F238E27FC236}">
                <a16:creationId xmlns:a16="http://schemas.microsoft.com/office/drawing/2014/main" id="{57C8B67D-9864-47BA-8C7F-44C582EC132D}"/>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Analyst judgments on a 1–5 scale. A depends on approved content, a process owner and staff capacity.</a:t>
            </a:r>
          </a:p>
        </p:txBody>
      </p:sp>
    </p:spTree>
    <p:extLst>
      <p:ext uri="{BB962C8B-B14F-4D97-AF65-F5344CB8AC3E}">
        <p14:creationId xmlns:p14="http://schemas.microsoft.com/office/powerpoint/2010/main" val="1087632755"/>
      </p:ext>
    </p:extLst>
  </p:cSld>
</p:sld>
</file>

<file path=ppt/slides/slide15.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39A526B-0914-4EE1-8911-857C1DF2C465}"/>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04  DOMAIN PRIORITISATION</a:t>
            </a:r>
          </a:p>
        </p:txBody>
      </p:sp>
      <p:sp>
        <p:nvSpPr>
          <p:cNvPr id="2" name="">
            <a:extLst xmlns:a="http://schemas.openxmlformats.org/drawingml/2006/main">
              <a:ext uri="{FF2B5EF4-FFF2-40B4-BE49-F238E27FC236}">
                <a16:creationId xmlns:a16="http://schemas.microsoft.com/office/drawing/2014/main" id="{21A7CE5F-556B-4155-B93F-6C85E03D8F7B}"/>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The ranking is conditional on feasibility</a:t>
            </a:r>
          </a:p>
        </p:txBody>
      </p:sp>
      <p:sp>
        <p:nvSpPr>
          <p:cNvPr id="3" name="">
            <a:extLst xmlns:a="http://schemas.openxmlformats.org/drawingml/2006/main">
              <a:ext uri="{FF2B5EF4-FFF2-40B4-BE49-F238E27FC236}">
                <a16:creationId xmlns:a16="http://schemas.microsoft.com/office/drawing/2014/main" id="{308FEBC8-E540-4D6D-A08B-2EB324A1D589}"/>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Course weights: value 30%, feasibility 25%, strategic relevance 20%, urgency 15%, learning 10%.</a:t>
            </a:r>
          </a:p>
        </p:txBody>
      </p:sp>
      <p:sp>
        <p:nvSpPr>
          <p:cNvPr id="4" name="">
            <a:extLst xmlns:a="http://schemas.openxmlformats.org/drawingml/2006/main">
              <a:ext uri="{FF2B5EF4-FFF2-40B4-BE49-F238E27FC236}">
                <a16:creationId xmlns:a16="http://schemas.microsoft.com/office/drawing/2014/main" id="{E6880435-3BE7-4BB2-AF6E-3181C001AB8A}"/>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15</a:t>
            </a:r>
          </a:p>
        </p:txBody>
      </p:sp>
      <p:graphicFrame>
        <p:nvGraphicFramePr>
          <p:cNvPr id="13" name=""/>
          <p:cNvGraphicFramePr/>
          <p:nvPr/>
        </p:nvGraphicFramePr>
        <p:xfrm>
          <a:off xmlns:a="http://schemas.openxmlformats.org/drawingml/2006/main" x="533400" y="2428875"/>
          <a:ext xmlns:a="http://schemas.openxmlformats.org/drawingml/2006/main" cx="11125200" cy="2286000"/>
        </p:xfrm>
        <a:graphic xmlns:a="http://schemas.openxmlformats.org/drawingml/2006/main">
          <a:graphicData uri="http://schemas.openxmlformats.org/drawingml/2006/table">
            <a:tbl>
              <a:tblPr/>
              <a:tblGrid>
                <a:gridCol w="3124200"/>
                <a:gridCol w="1143000"/>
                <a:gridCol w="1143000"/>
                <a:gridCol w="1428750"/>
                <a:gridCol w="1428750"/>
                <a:gridCol w="1428750"/>
                <a:gridCol w="1428750"/>
              </a:tblGrid>
              <a:tr h="495300">
                <a:tc>
                  <a:txBody>
                    <a:bodyPr/>
                    <a:lstStyle/>
                    <a:p>
                      <a:r>
                        <a:rPr sz="1800" b="1">
                          <a:solidFill>
                            <a:srgbClr val="FFFFFF"/>
                          </a:solidFill>
                          <a:latin typeface="Helvetica Neue"/>
                          <a:ea typeface="Helvetica Neue"/>
                          <a:cs typeface="Helvetica Neue"/>
                        </a:rPr>
                        <a:t>Candidate</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Value</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Feas.</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Strategy</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Urgency</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Learning</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Total</a:t>
                      </a:r>
                    </a:p>
                  </a:txBody>
                  <a:tcPr marL="91440" marR="91440" marT="45720" marB="45720">
                    <a:solidFill>
                      <a:srgbClr val="183449"/>
                    </a:solidFill>
                  </a:tcPr>
                </a:tc>
              </a:tr>
              <a:tr h="596900">
                <a:tc>
                  <a:txBody>
                    <a:bodyPr/>
                    <a:lstStyle/>
                    <a:p>
                      <a:r>
                        <a:rPr sz="1800" b="1">
                          <a:solidFill>
                            <a:srgbClr val="233746"/>
                          </a:solidFill>
                          <a:latin typeface="Helvetica Neue"/>
                          <a:ea typeface="Helvetica Neue"/>
                          <a:cs typeface="Helvetica Neue"/>
                        </a:rPr>
                        <a:t>A  Support</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4</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4</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4</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4</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5</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4.10</a:t>
                      </a:r>
                    </a:p>
                  </a:txBody>
                  <a:tcPr marL="91440" marR="91440" marT="45720" marB="45720">
                    <a:solidFill>
                      <a:srgbClr val="FFFFFF"/>
                    </a:solidFill>
                  </a:tcPr>
                </a:tc>
              </a:tr>
              <a:tr h="596900">
                <a:tc>
                  <a:txBody>
                    <a:bodyPr/>
                    <a:lstStyle/>
                    <a:p>
                      <a:r>
                        <a:rPr sz="1800" b="1">
                          <a:solidFill>
                            <a:srgbClr val="233746"/>
                          </a:solidFill>
                          <a:latin typeface="Helvetica Neue"/>
                          <a:ea typeface="Helvetica Neue"/>
                          <a:cs typeface="Helvetica Neue"/>
                        </a:rPr>
                        <a:t>B  Practical</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4</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2</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4</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4</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4</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3.50</a:t>
                      </a:r>
                    </a:p>
                  </a:txBody>
                  <a:tcPr marL="91440" marR="91440" marT="45720" marB="45720">
                    <a:solidFill>
                      <a:srgbClr val="EDF3F4"/>
                    </a:solidFill>
                  </a:tcPr>
                </a:tc>
              </a:tr>
              <a:tr h="596900">
                <a:tc>
                  <a:txBody>
                    <a:bodyPr/>
                    <a:lstStyle/>
                    <a:p>
                      <a:r>
                        <a:rPr sz="1800" b="1">
                          <a:solidFill>
                            <a:srgbClr val="233746"/>
                          </a:solidFill>
                          <a:latin typeface="Helvetica Neue"/>
                          <a:ea typeface="Helvetica Neue"/>
                          <a:cs typeface="Helvetica Neue"/>
                        </a:rPr>
                        <a:t>C  Progression</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5</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2</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4</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4</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4</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3.80</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2373246B-D3A9-4761-9283-4C36FD1EB9D7}"/>
              </a:ext>
            </a:extLst>
          </p:cNvPr>
          <p:cNvSpPr>
            <a:spLocks xmlns:a="http://schemas.openxmlformats.org/drawingml/2006/main" noGrp="1"/>
          </p:cNvSpPr>
          <p:nvPr/>
        </p:nvSpPr>
        <p:spPr>
          <a:xfrm xmlns:a="http://schemas.openxmlformats.org/drawingml/2006/main">
            <a:off x="533400" y="49815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449"/>
                </a:solidFill>
                <a:latin typeface="Helvetica Neue"/>
                <a:ea typeface="Helvetica Neue"/>
                <a:cs typeface="Helvetica Neue"/>
              </a:defRPr>
            </a:pPr>
            <a:r>
              <a:rPr sz="2175" b="1">
                <a:solidFill>
                  <a:srgbClr val="183449"/>
                </a:solidFill>
                <a:latin typeface="Helvetica Neue"/>
                <a:ea typeface="Helvetica Neue"/>
                <a:cs typeface="Helvetica Neue"/>
              </a:rPr>
              <a:t>Strongest alternative: Academic Progression</a:t>
            </a:r>
          </a:p>
        </p:txBody>
      </p:sp>
      <p:sp>
        <p:nvSpPr>
          <p:cNvPr id="7" name="">
            <a:extLst xmlns:a="http://schemas.openxmlformats.org/drawingml/2006/main">
              <a:ext uri="{FF2B5EF4-FFF2-40B4-BE49-F238E27FC236}">
                <a16:creationId xmlns:a16="http://schemas.microsoft.com/office/drawing/2014/main" id="{1007DE3B-C9B6-41E6-9D0E-A112E804F10F}"/>
              </a:ext>
            </a:extLst>
          </p:cNvPr>
          <p:cNvSpPr>
            <a:spLocks xmlns:a="http://schemas.openxmlformats.org/drawingml/2006/main" noGrp="1"/>
          </p:cNvSpPr>
          <p:nvPr/>
        </p:nvSpPr>
        <p:spPr>
          <a:xfrm xmlns:a="http://schemas.openxmlformats.org/drawingml/2006/main">
            <a:off x="533400" y="54578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33746"/>
                </a:solidFill>
                <a:latin typeface="Helvetica Neue"/>
                <a:ea typeface="Helvetica Neue"/>
                <a:cs typeface="Helvetica Neue"/>
              </a:defRPr>
            </a:pPr>
            <a:r>
              <a:rPr sz="1800" b="0">
                <a:solidFill>
                  <a:srgbClr val="233746"/>
                </a:solidFill>
                <a:latin typeface="Helvetica Neue"/>
                <a:ea typeface="Helvetica Neue"/>
                <a:cs typeface="Helvetica Neue"/>
              </a:rPr>
              <a:t>Broader milestone value, but greater record and approval dependencies.</a:t>
            </a:r>
          </a:p>
          <a:p xmlns:a="http://schemas.openxmlformats.org/drawingml/2006/main">
            <a:pPr>
              <a:defRPr sz="1800" b="0">
                <a:solidFill>
                  <a:srgbClr val="233746"/>
                </a:solidFill>
                <a:latin typeface="Helvetica Neue"/>
                <a:ea typeface="Helvetica Neue"/>
                <a:cs typeface="Helvetica Neue"/>
              </a:defRPr>
            </a:pPr>
            <a:r>
              <a:rPr sz="1800" b="0">
                <a:solidFill>
                  <a:srgbClr val="233746"/>
                </a:solidFill>
                <a:latin typeface="Helvetica Neue"/>
                <a:ea typeface="Helvetica Neue"/>
                <a:cs typeface="Helvetica Neue"/>
              </a:rPr>
              <a:t>If support feasibility falls from 4 to 2, its score falls to 3.60 and progression leads.</a:t>
            </a:r>
          </a:p>
        </p:txBody>
      </p:sp>
      <p:sp>
        <p:nvSpPr>
          <p:cNvPr id="8" name="">
            <a:extLst xmlns:a="http://schemas.openxmlformats.org/drawingml/2006/main">
              <a:ext uri="{FF2B5EF4-FFF2-40B4-BE49-F238E27FC236}">
                <a16:creationId xmlns:a16="http://schemas.microsoft.com/office/drawing/2014/main" id="{AA3878E9-2AEF-4792-B416-00FD1B5242CE}"/>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Illustrative scores. Strategic relevance and urgency are held equal pending leadership and deadline evidence.</a:t>
            </a:r>
          </a:p>
        </p:txBody>
      </p:sp>
    </p:spTree>
    <p:extLst>
      <p:ext uri="{BB962C8B-B14F-4D97-AF65-F5344CB8AC3E}">
        <p14:creationId xmlns:p14="http://schemas.microsoft.com/office/powerpoint/2010/main" val="1208618408"/>
      </p:ext>
    </p:extLst>
  </p:cSld>
</p:sld>
</file>

<file path=ppt/slides/slide16.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93689FA-0760-4219-B39E-EA0390AEA525}"/>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05  RECOMMENDATION</a:t>
            </a:r>
          </a:p>
        </p:txBody>
      </p:sp>
      <p:sp>
        <p:nvSpPr>
          <p:cNvPr id="2" name="">
            <a:extLst xmlns:a="http://schemas.openxmlformats.org/drawingml/2006/main">
              <a:ext uri="{FF2B5EF4-FFF2-40B4-BE49-F238E27FC236}">
                <a16:creationId xmlns:a16="http://schemas.microsoft.com/office/drawing/2014/main" id="{3106827F-C8C4-4B3B-9E04-253CAE61B943}"/>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The solution: AI Student Support Hub</a:t>
            </a:r>
          </a:p>
        </p:txBody>
      </p:sp>
      <p:sp>
        <p:nvSpPr>
          <p:cNvPr id="3" name="">
            <a:extLst xmlns:a="http://schemas.openxmlformats.org/drawingml/2006/main">
              <a:ext uri="{FF2B5EF4-FFF2-40B4-BE49-F238E27FC236}">
                <a16:creationId xmlns:a16="http://schemas.microsoft.com/office/drawing/2014/main" id="{2BF8E5CE-EBBC-4158-9F3D-32F232EDF93E}"/>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One place to ask, understand the next step and get an unresolved issue to the right person.</a:t>
            </a:r>
          </a:p>
        </p:txBody>
      </p:sp>
      <p:sp>
        <p:nvSpPr>
          <p:cNvPr id="4" name="">
            <a:extLst xmlns:a="http://schemas.openxmlformats.org/drawingml/2006/main">
              <a:ext uri="{FF2B5EF4-FFF2-40B4-BE49-F238E27FC236}">
                <a16:creationId xmlns:a16="http://schemas.microsoft.com/office/drawing/2014/main" id="{E48EAFC6-1FBB-4C1A-8308-57A0800204A4}"/>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16</a:t>
            </a:r>
          </a:p>
        </p:txBody>
      </p:sp>
      <p:graphicFrame>
        <p:nvGraphicFramePr>
          <p:cNvPr id="11" name=""/>
          <p:cNvGraphicFramePr/>
          <p:nvPr/>
        </p:nvGraphicFramePr>
        <p:xfrm>
          <a:off xmlns:a="http://schemas.openxmlformats.org/drawingml/2006/main" x="533400" y="2428875"/>
          <a:ext xmlns:a="http://schemas.openxmlformats.org/drawingml/2006/main" cx="11125200" cy="3333750"/>
        </p:xfrm>
        <a:graphic xmlns:a="http://schemas.openxmlformats.org/drawingml/2006/main">
          <a:graphicData uri="http://schemas.openxmlformats.org/drawingml/2006/table">
            <a:tbl>
              <a:tblPr/>
              <a:tblGrid>
                <a:gridCol w="3333750"/>
                <a:gridCol w="4143375"/>
                <a:gridCol w="3648075"/>
              </a:tblGrid>
              <a:tr h="495300">
                <a:tc>
                  <a:txBody>
                    <a:bodyPr/>
                    <a:lstStyle/>
                    <a:p>
                      <a:r>
                        <a:rPr sz="1725" b="1">
                          <a:solidFill>
                            <a:srgbClr val="FFFFFF"/>
                          </a:solidFill>
                          <a:latin typeface="Helvetica Neue"/>
                          <a:ea typeface="Helvetica Neue"/>
                          <a:cs typeface="Helvetica Neue"/>
                        </a:rPr>
                        <a:t>Hub capability</a:t>
                      </a:r>
                    </a:p>
                  </a:txBody>
                  <a:tcPr marL="91440" marR="91440" marT="45720" marB="45720">
                    <a:solidFill>
                      <a:srgbClr val="183449"/>
                    </a:solidFill>
                  </a:tcPr>
                </a:tc>
                <a:tc>
                  <a:txBody>
                    <a:bodyPr/>
                    <a:lstStyle/>
                    <a:p>
                      <a:r>
                        <a:rPr sz="1725" b="1">
                          <a:solidFill>
                            <a:srgbClr val="FFFFFF"/>
                          </a:solidFill>
                          <a:latin typeface="Helvetica Neue"/>
                          <a:ea typeface="Helvetica Neue"/>
                          <a:cs typeface="Helvetica Neue"/>
                        </a:rPr>
                        <a:t>What the student can do</a:t>
                      </a:r>
                    </a:p>
                  </a:txBody>
                  <a:tcPr marL="91440" marR="91440" marT="45720" marB="45720">
                    <a:solidFill>
                      <a:srgbClr val="183449"/>
                    </a:solidFill>
                  </a:tcPr>
                </a:tc>
                <a:tc>
                  <a:txBody>
                    <a:bodyPr/>
                    <a:lstStyle/>
                    <a:p>
                      <a:r>
                        <a:rPr sz="1725" b="1">
                          <a:solidFill>
                            <a:srgbClr val="FFFFFF"/>
                          </a:solidFill>
                          <a:latin typeface="Helvetica Neue"/>
                          <a:ea typeface="Helvetica Neue"/>
                          <a:cs typeface="Helvetica Neue"/>
                        </a:rPr>
                        <a:t>Evidence it addresses</a:t>
                      </a:r>
                    </a:p>
                  </a:txBody>
                  <a:tcPr marL="91440" marR="91440" marT="45720" marB="45720">
                    <a:solidFill>
                      <a:srgbClr val="183449"/>
                    </a:solidFill>
                  </a:tcPr>
                </a:tc>
              </a:tr>
              <a:tr h="709613">
                <a:tc>
                  <a:txBody>
                    <a:bodyPr/>
                    <a:lstStyle/>
                    <a:p>
                      <a:r>
                        <a:rPr sz="1725" b="1">
                          <a:solidFill>
                            <a:srgbClr val="233746"/>
                          </a:solidFill>
                          <a:latin typeface="Helvetica Neue"/>
                          <a:ea typeface="Helvetica Neue"/>
                          <a:cs typeface="Helvetica Neue"/>
                        </a:rPr>
                        <a:t>AI guidance with sources</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Ask a question and see the approved rule</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Fragmented information and repeated searching</a:t>
                      </a:r>
                    </a:p>
                  </a:txBody>
                  <a:tcPr marL="91440" marR="91440" marT="45720" marB="45720">
                    <a:solidFill>
                      <a:srgbClr val="FFFFFF"/>
                    </a:solidFill>
                  </a:tcPr>
                </a:tc>
              </a:tr>
              <a:tr h="709613">
                <a:tc>
                  <a:txBody>
                    <a:bodyPr/>
                    <a:lstStyle/>
                    <a:p>
                      <a:r>
                        <a:rPr sz="1725" b="1">
                          <a:solidFill>
                            <a:srgbClr val="233746"/>
                          </a:solidFill>
                          <a:latin typeface="Helvetica Neue"/>
                          <a:ea typeface="Helvetica Neue"/>
                          <a:cs typeface="Helvetica Neue"/>
                        </a:rPr>
                        <a:t>Task-specific checklists</a:t>
                      </a:r>
                    </a:p>
                  </a:txBody>
                  <a:tcPr marL="91440" marR="91440" marT="45720" marB="45720">
                    <a:solidFill>
                      <a:srgbClr val="EDF3F4"/>
                    </a:solidFill>
                  </a:tcPr>
                </a:tc>
                <a:tc>
                  <a:txBody>
                    <a:bodyPr/>
                    <a:lstStyle/>
                    <a:p>
                      <a:r>
                        <a:rPr sz="1725" b="0">
                          <a:solidFill>
                            <a:srgbClr val="233746"/>
                          </a:solidFill>
                          <a:latin typeface="Helvetica Neue"/>
                          <a:ea typeface="Helvetica Neue"/>
                          <a:cs typeface="Helvetica Neue"/>
                        </a:rPr>
                        <a:t>See required steps for a chosen process</a:t>
                      </a:r>
                    </a:p>
                  </a:txBody>
                  <a:tcPr marL="91440" marR="91440" marT="45720" marB="45720">
                    <a:solidFill>
                      <a:srgbClr val="EDF3F4"/>
                    </a:solidFill>
                  </a:tcPr>
                </a:tc>
                <a:tc>
                  <a:txBody>
                    <a:bodyPr/>
                    <a:lstStyle/>
                    <a:p>
                      <a:r>
                        <a:rPr sz="1725" b="0">
                          <a:solidFill>
                            <a:srgbClr val="233746"/>
                          </a:solidFill>
                          <a:latin typeface="Helvetica Neue"/>
                          <a:ea typeface="Helvetica Neue"/>
                          <a:cs typeface="Helvetica Neue"/>
                        </a:rPr>
                        <a:t>Unclear registration and milestone guidance</a:t>
                      </a:r>
                    </a:p>
                  </a:txBody>
                  <a:tcPr marL="91440" marR="91440" marT="45720" marB="45720">
                    <a:solidFill>
                      <a:srgbClr val="EDF3F4"/>
                    </a:solidFill>
                  </a:tcPr>
                </a:tc>
              </a:tr>
              <a:tr h="709613">
                <a:tc>
                  <a:txBody>
                    <a:bodyPr/>
                    <a:lstStyle/>
                    <a:p>
                      <a:r>
                        <a:rPr sz="1725" b="1">
                          <a:solidFill>
                            <a:srgbClr val="233746"/>
                          </a:solidFill>
                          <a:latin typeface="Helvetica Neue"/>
                          <a:ea typeface="Helvetica Neue"/>
                          <a:cs typeface="Helvetica Neue"/>
                        </a:rPr>
                        <a:t>Staff handoff + case status</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Send unresolved issues and track the response</a:t>
                      </a:r>
                    </a:p>
                  </a:txBody>
                  <a:tcPr marL="91440" marR="91440" marT="45720" marB="45720">
                    <a:solidFill>
                      <a:srgbClr val="FFFFFF"/>
                    </a:solidFill>
                  </a:tcPr>
                </a:tc>
                <a:tc>
                  <a:txBody>
                    <a:bodyPr/>
                    <a:lstStyle/>
                    <a:p>
                      <a:r>
                        <a:rPr sz="1725" b="0">
                          <a:solidFill>
                            <a:srgbClr val="233746"/>
                          </a:solidFill>
                          <a:latin typeface="Helvetica Neue"/>
                          <a:ea typeface="Helvetica Neue"/>
                          <a:cs typeface="Helvetica Neue"/>
                        </a:rPr>
                        <a:t>Reply delays and uncertain handling</a:t>
                      </a:r>
                    </a:p>
                  </a:txBody>
                  <a:tcPr marL="91440" marR="91440" marT="45720" marB="45720">
                    <a:solidFill>
                      <a:srgbClr val="FFFFFF"/>
                    </a:solidFill>
                  </a:tcPr>
                </a:tc>
              </a:tr>
              <a:tr h="709613">
                <a:tc>
                  <a:txBody>
                    <a:bodyPr/>
                    <a:lstStyle/>
                    <a:p>
                      <a:r>
                        <a:rPr sz="1725" b="1">
                          <a:solidFill>
                            <a:srgbClr val="233746"/>
                          </a:solidFill>
                          <a:latin typeface="Helvetica Neue"/>
                          <a:ea typeface="Helvetica Neue"/>
                          <a:cs typeface="Helvetica Neue"/>
                        </a:rPr>
                        <a:t>Deadline reminders</a:t>
                      </a:r>
                    </a:p>
                  </a:txBody>
                  <a:tcPr marL="91440" marR="91440" marT="45720" marB="45720">
                    <a:solidFill>
                      <a:srgbClr val="EDF3F4"/>
                    </a:solidFill>
                  </a:tcPr>
                </a:tc>
                <a:tc>
                  <a:txBody>
                    <a:bodyPr/>
                    <a:lstStyle/>
                    <a:p>
                      <a:r>
                        <a:rPr sz="1725" b="0">
                          <a:solidFill>
                            <a:srgbClr val="233746"/>
                          </a:solidFill>
                          <a:latin typeface="Helvetica Neue"/>
                          <a:ea typeface="Helvetica Neue"/>
                          <a:cs typeface="Helvetica Neue"/>
                        </a:rPr>
                        <a:t>Follow verified deadlines for selected tasks</a:t>
                      </a:r>
                    </a:p>
                  </a:txBody>
                  <a:tcPr marL="91440" marR="91440" marT="45720" marB="45720">
                    <a:solidFill>
                      <a:srgbClr val="EDF3F4"/>
                    </a:solidFill>
                  </a:tcPr>
                </a:tc>
                <a:tc>
                  <a:txBody>
                    <a:bodyPr/>
                    <a:lstStyle/>
                    <a:p>
                      <a:r>
                        <a:rPr sz="1725" b="0">
                          <a:solidFill>
                            <a:srgbClr val="233746"/>
                          </a:solidFill>
                          <a:latin typeface="Helvetica Neue"/>
                          <a:ea typeface="Helvetica Neue"/>
                          <a:cs typeface="Helvetica Neue"/>
                        </a:rPr>
                        <a:t>A reported missed graduation notice</a:t>
                      </a:r>
                    </a:p>
                  </a:txBody>
                  <a:tcPr marL="91440" marR="91440" marT="45720" marB="45720">
                    <a:solidFill>
                      <a:srgbClr val="EDF3F4"/>
                    </a:solidFill>
                  </a:tcPr>
                </a:tc>
              </a:tr>
            </a:tbl>
          </a:graphicData>
        </a:graphic>
      </p:graphicFrame>
      <p:sp>
        <p:nvSpPr>
          <p:cNvPr id="6" name="">
            <a:extLst xmlns:a="http://schemas.openxmlformats.org/drawingml/2006/main">
              <a:ext uri="{FF2B5EF4-FFF2-40B4-BE49-F238E27FC236}">
                <a16:creationId xmlns:a16="http://schemas.microsoft.com/office/drawing/2014/main" id="{B252E16B-EC34-434D-9212-0078FF5381F4}"/>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Pilot: CSE registration guidance. Add BMS procedures after validation. Reminders depend on reliable deadlines.</a:t>
            </a:r>
          </a:p>
        </p:txBody>
      </p:sp>
    </p:spTree>
    <p:extLst>
      <p:ext uri="{BB962C8B-B14F-4D97-AF65-F5344CB8AC3E}">
        <p14:creationId xmlns:p14="http://schemas.microsoft.com/office/powerpoint/2010/main" val="1498199307"/>
      </p:ext>
    </p:extLst>
  </p:cSld>
</p:sld>
</file>

<file path=ppt/slides/slide17.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D550F5A-9158-4182-BD76-306A8402557D}"/>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05  RECOMMENDATION</a:t>
            </a:r>
          </a:p>
        </p:txBody>
      </p:sp>
      <p:sp>
        <p:nvSpPr>
          <p:cNvPr id="2" name="">
            <a:extLst xmlns:a="http://schemas.openxmlformats.org/drawingml/2006/main">
              <a:ext uri="{FF2B5EF4-FFF2-40B4-BE49-F238E27FC236}">
                <a16:creationId xmlns:a16="http://schemas.microsoft.com/office/drawing/2014/main" id="{D499065E-923A-4C58-A1F6-C62A4B5B5BCB}"/>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How a student would use the AI Hub</a:t>
            </a:r>
          </a:p>
        </p:txBody>
      </p:sp>
      <p:sp>
        <p:nvSpPr>
          <p:cNvPr id="3" name="">
            <a:extLst xmlns:a="http://schemas.openxmlformats.org/drawingml/2006/main">
              <a:ext uri="{FF2B5EF4-FFF2-40B4-BE49-F238E27FC236}">
                <a16:creationId xmlns:a16="http://schemas.microsoft.com/office/drawing/2014/main" id="{906FE121-E3E6-46DD-8205-6DCA4DDF2BA2}"/>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Illustrative scenario: “I selected my courses, but am I actually registered?”</a:t>
            </a:r>
          </a:p>
        </p:txBody>
      </p:sp>
      <p:sp>
        <p:nvSpPr>
          <p:cNvPr id="4" name="">
            <a:extLst xmlns:a="http://schemas.openxmlformats.org/drawingml/2006/main">
              <a:ext uri="{FF2B5EF4-FFF2-40B4-BE49-F238E27FC236}">
                <a16:creationId xmlns:a16="http://schemas.microsoft.com/office/drawing/2014/main" id="{58729A13-A6DF-4B31-B33E-FDE313E3FEB0}"/>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17</a:t>
            </a:r>
          </a:p>
        </p:txBody>
      </p:sp>
      <p:graphicFrame>
        <p:nvGraphicFramePr>
          <p:cNvPr id="11" name=""/>
          <p:cNvGraphicFramePr/>
          <p:nvPr/>
        </p:nvGraphicFramePr>
        <p:xfrm>
          <a:off xmlns:a="http://schemas.openxmlformats.org/drawingml/2006/main" x="533400" y="2428875"/>
          <a:ext xmlns:a="http://schemas.openxmlformats.org/drawingml/2006/main" cx="11125200" cy="3333750"/>
        </p:xfrm>
        <a:graphic xmlns:a="http://schemas.openxmlformats.org/drawingml/2006/main">
          <a:graphicData uri="http://schemas.openxmlformats.org/drawingml/2006/table">
            <a:tbl>
              <a:tblPr/>
              <a:tblGrid>
                <a:gridCol w="2190750"/>
                <a:gridCol w="8934450"/>
              </a:tblGrid>
              <a:tr h="495300">
                <a:tc>
                  <a:txBody>
                    <a:bodyPr/>
                    <a:lstStyle/>
                    <a:p>
                      <a:r>
                        <a:rPr sz="1800" b="1">
                          <a:solidFill>
                            <a:srgbClr val="FFFFFF"/>
                          </a:solidFill>
                          <a:latin typeface="Helvetica Neue"/>
                          <a:ea typeface="Helvetica Neue"/>
                          <a:cs typeface="Helvetica Neue"/>
                        </a:rPr>
                        <a:t>Step</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AI Hub response or action</a:t>
                      </a:r>
                    </a:p>
                  </a:txBody>
                  <a:tcPr marL="91440" marR="91440" marT="45720" marB="45720">
                    <a:solidFill>
                      <a:srgbClr val="183449"/>
                    </a:solidFill>
                  </a:tcPr>
                </a:tc>
              </a:tr>
              <a:tr h="709613">
                <a:tc>
                  <a:txBody>
                    <a:bodyPr/>
                    <a:lstStyle/>
                    <a:p>
                      <a:r>
                        <a:rPr sz="1800" b="1">
                          <a:solidFill>
                            <a:srgbClr val="233746"/>
                          </a:solidFill>
                          <a:latin typeface="Helvetica Neue"/>
                          <a:ea typeface="Helvetica Neue"/>
                          <a:cs typeface="Helvetica Neue"/>
                        </a:rPr>
                        <a:t>1  Find the right guidance</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Ask for programme/cohort and retrieve the approved registration guide</a:t>
                      </a:r>
                    </a:p>
                  </a:txBody>
                  <a:tcPr marL="91440" marR="91440" marT="45720" marB="45720">
                    <a:solidFill>
                      <a:srgbClr val="FFFFFF"/>
                    </a:solidFill>
                  </a:tcPr>
                </a:tc>
              </a:tr>
              <a:tr h="709613">
                <a:tc>
                  <a:txBody>
                    <a:bodyPr/>
                    <a:lstStyle/>
                    <a:p>
                      <a:r>
                        <a:rPr sz="1800" b="1">
                          <a:solidFill>
                            <a:srgbClr val="233746"/>
                          </a:solidFill>
                          <a:latin typeface="Helvetica Neue"/>
                          <a:ea typeface="Helvetica Neue"/>
                          <a:cs typeface="Helvetica Neue"/>
                        </a:rPr>
                        <a:t>2  Explain how to verify</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Show the official confirmation steps, with source and update date</a:t>
                      </a:r>
                    </a:p>
                  </a:txBody>
                  <a:tcPr marL="91440" marR="91440" marT="45720" marB="45720">
                    <a:solidFill>
                      <a:srgbClr val="EDF3F4"/>
                    </a:solidFill>
                  </a:tcPr>
                </a:tc>
              </a:tr>
              <a:tr h="709613">
                <a:tc>
                  <a:txBody>
                    <a:bodyPr/>
                    <a:lstStyle/>
                    <a:p>
                      <a:r>
                        <a:rPr sz="1800" b="1">
                          <a:solidFill>
                            <a:srgbClr val="233746"/>
                          </a:solidFill>
                          <a:latin typeface="Helvetica Neue"/>
                          <a:ea typeface="Helvetica Neue"/>
                          <a:cs typeface="Helvetica Neue"/>
                        </a:rPr>
                        <a:t>3  Acknowledge the limit</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“I cannot verify your live registration status from here.”</a:t>
                      </a:r>
                    </a:p>
                  </a:txBody>
                  <a:tcPr marL="91440" marR="91440" marT="45720" marB="45720">
                    <a:solidFill>
                      <a:srgbClr val="FFFFFF"/>
                    </a:solidFill>
                  </a:tcPr>
                </a:tc>
              </a:tr>
              <a:tr h="709613">
                <a:tc>
                  <a:txBody>
                    <a:bodyPr/>
                    <a:lstStyle/>
                    <a:p>
                      <a:r>
                        <a:rPr sz="1800" b="1">
                          <a:solidFill>
                            <a:srgbClr val="233746"/>
                          </a:solidFill>
                          <a:latin typeface="Helvetica Neue"/>
                          <a:ea typeface="Helvetica Neue"/>
                          <a:cs typeface="Helvetica Neue"/>
                        </a:rPr>
                        <a:t>4  Route and track</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Create a case for the authorised team and show its status</a:t>
                      </a:r>
                    </a:p>
                  </a:txBody>
                  <a:tcPr marL="91440" marR="91440" marT="45720" marB="45720">
                    <a:solidFill>
                      <a:srgbClr val="EDF3F4"/>
                    </a:solidFill>
                  </a:tcPr>
                </a:tc>
              </a:tr>
            </a:tbl>
          </a:graphicData>
        </a:graphic>
      </p:graphicFrame>
      <p:sp>
        <p:nvSpPr>
          <p:cNvPr id="6" name="">
            <a:extLst xmlns:a="http://schemas.openxmlformats.org/drawingml/2006/main">
              <a:ext uri="{FF2B5EF4-FFF2-40B4-BE49-F238E27FC236}">
                <a16:creationId xmlns:a16="http://schemas.microsoft.com/office/drawing/2014/main" id="{00BF4367-F97E-4D6B-A4C0-5A8AE6AFEE78}"/>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AI explains and routes. Staff verify official records. This is a proposed experience, not an existing VNUK service.</a:t>
            </a:r>
          </a:p>
        </p:txBody>
      </p:sp>
    </p:spTree>
    <p:extLst>
      <p:ext uri="{BB962C8B-B14F-4D97-AF65-F5344CB8AC3E}">
        <p14:creationId xmlns:p14="http://schemas.microsoft.com/office/powerpoint/2010/main" val="364910014"/>
      </p:ext>
    </p:extLst>
  </p:cSld>
</p:sld>
</file>

<file path=ppt/slides/slide18.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7F55270-73D6-4E42-BA3C-B541BD8A0E2F}"/>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05  RECOMMENDATION</a:t>
            </a:r>
          </a:p>
        </p:txBody>
      </p:sp>
      <p:sp>
        <p:nvSpPr>
          <p:cNvPr id="2" name="">
            <a:extLst xmlns:a="http://schemas.openxmlformats.org/drawingml/2006/main">
              <a:ext uri="{FF2B5EF4-FFF2-40B4-BE49-F238E27FC236}">
                <a16:creationId xmlns:a16="http://schemas.microsoft.com/office/drawing/2014/main" id="{C3927AED-343F-4DDE-96EB-9E94BDB2B4BF}"/>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Pilot conditions and success measures</a:t>
            </a:r>
          </a:p>
        </p:txBody>
      </p:sp>
      <p:sp>
        <p:nvSpPr>
          <p:cNvPr id="3" name="">
            <a:extLst xmlns:a="http://schemas.openxmlformats.org/drawingml/2006/main">
              <a:ext uri="{FF2B5EF4-FFF2-40B4-BE49-F238E27FC236}">
                <a16:creationId xmlns:a16="http://schemas.microsoft.com/office/drawing/2014/main" id="{06878F11-9D5D-4880-BF24-B2AAC812A894}"/>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Baseline first. Agree improvement targets before student rollout.</a:t>
            </a:r>
          </a:p>
        </p:txBody>
      </p:sp>
      <p:sp>
        <p:nvSpPr>
          <p:cNvPr id="4" name="">
            <a:extLst xmlns:a="http://schemas.openxmlformats.org/drawingml/2006/main">
              <a:ext uri="{FF2B5EF4-FFF2-40B4-BE49-F238E27FC236}">
                <a16:creationId xmlns:a16="http://schemas.microsoft.com/office/drawing/2014/main" id="{4800A30B-B5A9-4406-B3AF-B86ED6525152}"/>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18</a:t>
            </a:r>
          </a:p>
        </p:txBody>
      </p:sp>
      <p:graphicFrame>
        <p:nvGraphicFramePr>
          <p:cNvPr id="11" name=""/>
          <p:cNvGraphicFramePr/>
          <p:nvPr/>
        </p:nvGraphicFramePr>
        <p:xfrm>
          <a:off xmlns:a="http://schemas.openxmlformats.org/drawingml/2006/main" x="533400" y="2428875"/>
          <a:ext xmlns:a="http://schemas.openxmlformats.org/drawingml/2006/main" cx="11125200" cy="3476625"/>
        </p:xfrm>
        <a:graphic xmlns:a="http://schemas.openxmlformats.org/drawingml/2006/main">
          <a:graphicData uri="http://schemas.openxmlformats.org/drawingml/2006/table">
            <a:tbl>
              <a:tblPr/>
              <a:tblGrid>
                <a:gridCol w="5334000"/>
                <a:gridCol w="5791200"/>
              </a:tblGrid>
              <a:tr h="495300">
                <a:tc>
                  <a:txBody>
                    <a:bodyPr/>
                    <a:lstStyle/>
                    <a:p>
                      <a:r>
                        <a:rPr sz="1800" b="1">
                          <a:solidFill>
                            <a:srgbClr val="FFFFFF"/>
                          </a:solidFill>
                          <a:latin typeface="Helvetica Neue"/>
                          <a:ea typeface="Helvetica Neue"/>
                          <a:cs typeface="Helvetica Neue"/>
                        </a:rPr>
                        <a:t>Before launch</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Measure during the pilot</a:t>
                      </a:r>
                    </a:p>
                  </a:txBody>
                  <a:tcPr marL="91440" marR="91440" marT="45720" marB="45720">
                    <a:solidFill>
                      <a:srgbClr val="183449"/>
                    </a:solidFill>
                  </a:tcPr>
                </a:tc>
              </a:tr>
              <a:tr h="596265">
                <a:tc>
                  <a:txBody>
                    <a:bodyPr/>
                    <a:lstStyle/>
                    <a:p>
                      <a:r>
                        <a:rPr sz="1800" b="1">
                          <a:solidFill>
                            <a:srgbClr val="233746"/>
                          </a:solidFill>
                          <a:latin typeface="Helvetica Neue"/>
                          <a:ea typeface="Helvetica Neue"/>
                          <a:cs typeface="Helvetica Neue"/>
                        </a:rPr>
                        <a:t>Named content owner and case-handling staff</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Staff handling minutes per resolved enquiry</a:t>
                      </a:r>
                    </a:p>
                  </a:txBody>
                  <a:tcPr marL="91440" marR="91440" marT="45720" marB="45720">
                    <a:solidFill>
                      <a:srgbClr val="FFFFFF"/>
                    </a:solidFill>
                  </a:tcPr>
                </a:tc>
              </a:tr>
              <a:tr h="596265">
                <a:tc>
                  <a:txBody>
                    <a:bodyPr/>
                    <a:lstStyle/>
                    <a:p>
                      <a:r>
                        <a:rPr sz="1800" b="1">
                          <a:solidFill>
                            <a:srgbClr val="233746"/>
                          </a:solidFill>
                          <a:latin typeface="Helvetica Neue"/>
                          <a:ea typeface="Helvetica Neue"/>
                          <a:cs typeface="Helvetica Neue"/>
                        </a:rPr>
                        <a:t>Approved guidance and a tested answer set</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Accuracy and source relevance on reviewed answers</a:t>
                      </a:r>
                    </a:p>
                  </a:txBody>
                  <a:tcPr marL="91440" marR="91440" marT="45720" marB="45720">
                    <a:solidFill>
                      <a:srgbClr val="EDF3F4"/>
                    </a:solidFill>
                  </a:tcPr>
                </a:tc>
              </a:tr>
              <a:tr h="596265">
                <a:tc>
                  <a:txBody>
                    <a:bodyPr/>
                    <a:lstStyle/>
                    <a:p>
                      <a:r>
                        <a:rPr sz="1800" b="1">
                          <a:solidFill>
                            <a:srgbClr val="233746"/>
                          </a:solidFill>
                          <a:latin typeface="Helvetica Neue"/>
                          <a:ea typeface="Helvetica Neue"/>
                          <a:cs typeface="Helvetica Neue"/>
                        </a:rPr>
                        <a:t>Working handoff and escalation route</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Resolution time and unresolved-case rate</a:t>
                      </a:r>
                    </a:p>
                  </a:txBody>
                  <a:tcPr marL="91440" marR="91440" marT="45720" marB="45720">
                    <a:solidFill>
                      <a:srgbClr val="FFFFFF"/>
                    </a:solidFill>
                  </a:tcPr>
                </a:tc>
              </a:tr>
              <a:tr h="596265">
                <a:tc>
                  <a:txBody>
                    <a:bodyPr/>
                    <a:lstStyle/>
                    <a:p>
                      <a:r>
                        <a:rPr sz="1800" b="1">
                          <a:solidFill>
                            <a:srgbClr val="233746"/>
                          </a:solidFill>
                          <a:latin typeface="Helvetica Neue"/>
                          <a:ea typeface="Helvetica Neue"/>
                          <a:cs typeface="Helvetica Neue"/>
                        </a:rPr>
                        <a:t>Baseline from comparable enquiries</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Repeat contacts and student effort</a:t>
                      </a:r>
                    </a:p>
                  </a:txBody>
                  <a:tcPr marL="91440" marR="91440" marT="45720" marB="45720">
                    <a:solidFill>
                      <a:srgbClr val="EDF3F4"/>
                    </a:solidFill>
                  </a:tcPr>
                </a:tc>
              </a:tr>
              <a:tr h="596265">
                <a:tc>
                  <a:txBody>
                    <a:bodyPr/>
                    <a:lstStyle/>
                    <a:p>
                      <a:r>
                        <a:rPr sz="1800" b="1">
                          <a:solidFill>
                            <a:srgbClr val="233746"/>
                          </a:solidFill>
                          <a:latin typeface="Helvetica Neue"/>
                          <a:ea typeface="Helvetica Neue"/>
                          <a:cs typeface="Helvetica Neue"/>
                        </a:rPr>
                        <a:t>Approved access and data-handling rules</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Access exceptions and inappropriate disclosures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E011CAE6-EEEA-4685-8C9F-51F2FB6C49A9}"/>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Proceed only if staff can maintain content and accept escalations. Correctness comes before response speed.</a:t>
            </a:r>
          </a:p>
        </p:txBody>
      </p:sp>
    </p:spTree>
    <p:extLst>
      <p:ext uri="{BB962C8B-B14F-4D97-AF65-F5344CB8AC3E}">
        <p14:creationId xmlns:p14="http://schemas.microsoft.com/office/powerpoint/2010/main" val="2097791842"/>
      </p:ext>
    </p:extLst>
  </p:cSld>
</p:sld>
</file>

<file path=ppt/slides/slide19.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214ECAC-1522-4D32-BCE7-E4CA1145E186}"/>
              </a:ext>
            </a:extLst>
          </p:cNvPr>
          <p:cNvSpPr>
            <a:spLocks xmlns:a="http://schemas.openxmlformats.org/drawingml/2006/main" noGrp="1"/>
          </p:cNvSpPr>
          <p:nvPr/>
        </p:nvSpPr>
        <p:spPr>
          <a:xfrm xmlns:a="http://schemas.openxmlformats.org/drawingml/2006/main">
            <a:off x="53340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78A"/>
                </a:solidFill>
                <a:latin typeface="Helvetica Neue"/>
                <a:ea typeface="Helvetica Neue"/>
                <a:cs typeface="Helvetica Neue"/>
              </a:defRPr>
            </a:pPr>
            <a:r>
              <a:rPr sz="1275" b="1">
                <a:solidFill>
                  <a:srgbClr val="16878A"/>
                </a:solidFill>
                <a:latin typeface="Helvetica Neue"/>
                <a:ea typeface="Helvetica Neue"/>
                <a:cs typeface="Helvetica Neue"/>
              </a:rPr>
              <a:t>05  RECOMMENDATION</a:t>
            </a:r>
          </a:p>
        </p:txBody>
      </p:sp>
      <p:sp>
        <p:nvSpPr>
          <p:cNvPr id="2" name="">
            <a:extLst xmlns:a="http://schemas.openxmlformats.org/drawingml/2006/main">
              <a:ext uri="{FF2B5EF4-FFF2-40B4-BE49-F238E27FC236}">
                <a16:creationId xmlns:a16="http://schemas.microsoft.com/office/drawing/2014/main" id="{581AFF2A-361E-4371-87F8-75F4542E048E}"/>
              </a:ext>
            </a:extLst>
          </p:cNvPr>
          <p:cNvSpPr>
            <a:spLocks xmlns:a="http://schemas.openxmlformats.org/drawingml/2006/main" noGrp="1"/>
          </p:cNvSpPr>
          <p:nvPr/>
        </p:nvSpPr>
        <p:spPr>
          <a:xfrm xmlns:a="http://schemas.openxmlformats.org/drawingml/2006/main">
            <a:off x="533400" y="781050"/>
            <a:ext cx="1114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449"/>
                </a:solidFill>
                <a:latin typeface="Helvetica Neue"/>
                <a:ea typeface="Helvetica Neue"/>
                <a:cs typeface="Helvetica Neue"/>
              </a:defRPr>
            </a:pPr>
            <a:r>
              <a:rPr sz="3300" b="1">
                <a:solidFill>
                  <a:srgbClr val="183449"/>
                </a:solidFill>
                <a:latin typeface="Helvetica Neue"/>
                <a:ea typeface="Helvetica Neue"/>
                <a:cs typeface="Helvetica Neue"/>
              </a:rPr>
              <a:t>A focused pilot with a broader domain vision</a:t>
            </a:r>
          </a:p>
        </p:txBody>
      </p:sp>
      <p:sp>
        <p:nvSpPr>
          <p:cNvPr id="3" name="">
            <a:extLst xmlns:a="http://schemas.openxmlformats.org/drawingml/2006/main">
              <a:ext uri="{FF2B5EF4-FFF2-40B4-BE49-F238E27FC236}">
                <a16:creationId xmlns:a16="http://schemas.microsoft.com/office/drawing/2014/main" id="{7F2FD9CE-3CC1-4855-9419-1DB5A95B6D68}"/>
              </a:ext>
            </a:extLst>
          </p:cNvPr>
          <p:cNvSpPr>
            <a:spLocks xmlns:a="http://schemas.openxmlformats.org/drawingml/2006/main" noGrp="1"/>
          </p:cNvSpPr>
          <p:nvPr/>
        </p:nvSpPr>
        <p:spPr>
          <a:xfrm xmlns:a="http://schemas.openxmlformats.org/drawingml/2006/main">
            <a:off x="533400" y="17049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17180"/>
                </a:solidFill>
                <a:latin typeface="Helvetica Neue"/>
                <a:ea typeface="Helvetica Neue"/>
                <a:cs typeface="Helvetica Neue"/>
              </a:defRPr>
            </a:pPr>
            <a:r>
              <a:rPr sz="1800" b="0">
                <a:solidFill>
                  <a:srgbClr val="617180"/>
                </a:solidFill>
                <a:latin typeface="Helvetica Neue"/>
                <a:ea typeface="Helvetica Neue"/>
                <a:cs typeface="Helvetica Neue"/>
              </a:rPr>
              <a:t>Start with reliable support. Expand only when evidence justifies the next capability.</a:t>
            </a:r>
          </a:p>
        </p:txBody>
      </p:sp>
      <p:sp>
        <p:nvSpPr>
          <p:cNvPr id="4" name="">
            <a:extLst xmlns:a="http://schemas.openxmlformats.org/drawingml/2006/main">
              <a:ext uri="{FF2B5EF4-FFF2-40B4-BE49-F238E27FC236}">
                <a16:creationId xmlns:a16="http://schemas.microsoft.com/office/drawing/2014/main" id="{08C07C4E-2C68-4B05-84EB-F3A66F9C52CD}"/>
              </a:ext>
            </a:extLst>
          </p:cNvPr>
          <p:cNvSpPr>
            <a:spLocks xmlns:a="http://schemas.openxmlformats.org/drawingml/2006/main" noGrp="1"/>
          </p:cNvSpPr>
          <p:nvPr/>
        </p:nvSpPr>
        <p:spPr>
          <a:xfrm xmlns:a="http://schemas.openxmlformats.org/drawingml/2006/main">
            <a:off x="11087100" y="63341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19</a:t>
            </a:r>
          </a:p>
        </p:txBody>
      </p:sp>
      <p:graphicFrame>
        <p:nvGraphicFramePr>
          <p:cNvPr id="12" name=""/>
          <p:cNvGraphicFramePr/>
          <p:nvPr/>
        </p:nvGraphicFramePr>
        <p:xfrm>
          <a:off xmlns:a="http://schemas.openxmlformats.org/drawingml/2006/main" x="533400" y="2428875"/>
          <a:ext xmlns:a="http://schemas.openxmlformats.org/drawingml/2006/main" cx="11125200" cy="2857500"/>
        </p:xfrm>
        <a:graphic xmlns:a="http://schemas.openxmlformats.org/drawingml/2006/main">
          <a:graphicData uri="http://schemas.openxmlformats.org/drawingml/2006/table">
            <a:tbl>
              <a:tblPr/>
              <a:tblGrid>
                <a:gridCol w="1619250"/>
                <a:gridCol w="5095875"/>
                <a:gridCol w="4410075"/>
              </a:tblGrid>
              <a:tr h="495300">
                <a:tc>
                  <a:txBody>
                    <a:bodyPr/>
                    <a:lstStyle/>
                    <a:p>
                      <a:r>
                        <a:rPr sz="1800" b="1">
                          <a:solidFill>
                            <a:srgbClr val="FFFFFF"/>
                          </a:solidFill>
                          <a:latin typeface="Helvetica Neue"/>
                          <a:ea typeface="Helvetica Neue"/>
                          <a:cs typeface="Helvetica Neue"/>
                        </a:rPr>
                        <a:t>Stage</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Capability</a:t>
                      </a:r>
                    </a:p>
                  </a:txBody>
                  <a:tcPr marL="91440" marR="91440" marT="45720" marB="45720">
                    <a:solidFill>
                      <a:srgbClr val="183449"/>
                    </a:solidFill>
                  </a:tcPr>
                </a:tc>
                <a:tc>
                  <a:txBody>
                    <a:bodyPr/>
                    <a:lstStyle/>
                    <a:p>
                      <a:r>
                        <a:rPr sz="1800" b="1">
                          <a:solidFill>
                            <a:srgbClr val="FFFFFF"/>
                          </a:solidFill>
                          <a:latin typeface="Helvetica Neue"/>
                          <a:ea typeface="Helvetica Neue"/>
                          <a:cs typeface="Helvetica Neue"/>
                        </a:rPr>
                        <a:t>Expansion condition</a:t>
                      </a:r>
                    </a:p>
                  </a:txBody>
                  <a:tcPr marL="91440" marR="91440" marT="45720" marB="45720">
                    <a:solidFill>
                      <a:srgbClr val="183449"/>
                    </a:solidFill>
                  </a:tcPr>
                </a:tc>
              </a:tr>
              <a:tr h="787400">
                <a:tc>
                  <a:txBody>
                    <a:bodyPr/>
                    <a:lstStyle/>
                    <a:p>
                      <a:r>
                        <a:rPr sz="1800" b="1">
                          <a:solidFill>
                            <a:srgbClr val="233746"/>
                          </a:solidFill>
                          <a:latin typeface="Helvetica Neue"/>
                          <a:ea typeface="Helvetica Neue"/>
                          <a:cs typeface="Helvetica Neue"/>
                        </a:rPr>
                        <a:t>1  Reliable guidance</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Sourced answers for one defined CSE process</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Correct answers and maintainable content</a:t>
                      </a:r>
                    </a:p>
                  </a:txBody>
                  <a:tcPr marL="91440" marR="91440" marT="45720" marB="45720">
                    <a:solidFill>
                      <a:srgbClr val="FFFFFF"/>
                    </a:solidFill>
                  </a:tcPr>
                </a:tc>
              </a:tr>
              <a:tr h="787400">
                <a:tc>
                  <a:txBody>
                    <a:bodyPr/>
                    <a:lstStyle/>
                    <a:p>
                      <a:r>
                        <a:rPr sz="1800" b="1">
                          <a:solidFill>
                            <a:srgbClr val="233746"/>
                          </a:solidFill>
                          <a:latin typeface="Helvetica Neue"/>
                          <a:ea typeface="Helvetica Neue"/>
                          <a:cs typeface="Helvetica Neue"/>
                        </a:rPr>
                        <a:t>2  Guided resolution</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Checklists, staff routing and case status</a:t>
                      </a:r>
                    </a:p>
                  </a:txBody>
                  <a:tcPr marL="91440" marR="91440" marT="45720" marB="45720">
                    <a:solidFill>
                      <a:srgbClr val="EDF3F4"/>
                    </a:solidFill>
                  </a:tcPr>
                </a:tc>
                <a:tc>
                  <a:txBody>
                    <a:bodyPr/>
                    <a:lstStyle/>
                    <a:p>
                      <a:r>
                        <a:rPr sz="1800" b="0">
                          <a:solidFill>
                            <a:srgbClr val="233746"/>
                          </a:solidFill>
                          <a:latin typeface="Helvetica Neue"/>
                          <a:ea typeface="Helvetica Neue"/>
                          <a:cs typeface="Helvetica Neue"/>
                        </a:rPr>
                        <a:t>Fewer repeat contacts without extra staff burden</a:t>
                      </a:r>
                    </a:p>
                  </a:txBody>
                  <a:tcPr marL="91440" marR="91440" marT="45720" marB="45720">
                    <a:solidFill>
                      <a:srgbClr val="EDF3F4"/>
                    </a:solidFill>
                  </a:tcPr>
                </a:tc>
              </a:tr>
              <a:tr h="787400">
                <a:tc>
                  <a:txBody>
                    <a:bodyPr/>
                    <a:lstStyle/>
                    <a:p>
                      <a:r>
                        <a:rPr sz="1800" b="1">
                          <a:solidFill>
                            <a:srgbClr val="233746"/>
                          </a:solidFill>
                          <a:latin typeface="Helvetica Neue"/>
                          <a:ea typeface="Helvetica Neue"/>
                          <a:cs typeface="Helvetica Neue"/>
                        </a:rPr>
                        <a:t>3  Wider support</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Validated BMS workflows and milestone reminders</a:t>
                      </a:r>
                    </a:p>
                  </a:txBody>
                  <a:tcPr marL="91440" marR="91440" marT="45720" marB="45720">
                    <a:solidFill>
                      <a:srgbClr val="FFFFFF"/>
                    </a:solidFill>
                  </a:tcPr>
                </a:tc>
                <a:tc>
                  <a:txBody>
                    <a:bodyPr/>
                    <a:lstStyle/>
                    <a:p>
                      <a:r>
                        <a:rPr sz="1800" b="0">
                          <a:solidFill>
                            <a:srgbClr val="233746"/>
                          </a:solidFill>
                          <a:latin typeface="Helvetica Neue"/>
                          <a:ea typeface="Helvetica Neue"/>
                          <a:cs typeface="Helvetica Neue"/>
                        </a:rPr>
                        <a:t>Reliable data, permissions and demonstrated demand</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F0C9E6A0-B5C3-43FD-87DB-158499BCFF99}"/>
              </a:ext>
            </a:extLst>
          </p:cNvPr>
          <p:cNvSpPr>
            <a:spLocks xmlns:a="http://schemas.openxmlformats.org/drawingml/2006/main" noGrp="1"/>
          </p:cNvSpPr>
          <p:nvPr/>
        </p:nvSpPr>
        <p:spPr>
          <a:xfrm xmlns:a="http://schemas.openxmlformats.org/drawingml/2006/main">
            <a:off x="533400" y="5619750"/>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878A"/>
                </a:solidFill>
                <a:latin typeface="Helvetica Neue"/>
                <a:ea typeface="Helvetica Neue"/>
                <a:cs typeface="Helvetica Neue"/>
              </a:defRPr>
            </a:pPr>
            <a:r>
              <a:rPr sz="2175" b="1">
                <a:solidFill>
                  <a:srgbClr val="16878A"/>
                </a:solidFill>
                <a:latin typeface="Helvetica Neue"/>
                <a:ea typeface="Helvetica Neue"/>
                <a:cs typeface="Helvetica Neue"/>
              </a:rPr>
              <a:t>Decision proposed: validate ownership and run a bounded support pilot.</a:t>
            </a:r>
          </a:p>
        </p:txBody>
      </p:sp>
      <p:sp>
        <p:nvSpPr>
          <p:cNvPr id="7" name="">
            <a:extLst xmlns:a="http://schemas.openxmlformats.org/drawingml/2006/main">
              <a:ext uri="{FF2B5EF4-FFF2-40B4-BE49-F238E27FC236}">
                <a16:creationId xmlns:a16="http://schemas.microsoft.com/office/drawing/2014/main" id="{75657F71-615B-4A45-8EAE-12C48FC59466}"/>
              </a:ext>
            </a:extLst>
          </p:cNvPr>
          <p:cNvSpPr>
            <a:spLocks xmlns:a="http://schemas.openxmlformats.org/drawingml/2006/main" noGrp="1"/>
          </p:cNvSpPr>
          <p:nvPr/>
        </p:nvSpPr>
        <p:spPr>
          <a:xfrm xmlns:a="http://schemas.openxmlformats.org/drawingml/2006/main">
            <a:off x="533400" y="615315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17180"/>
                </a:solidFill>
                <a:latin typeface="Helvetica Neue"/>
                <a:ea typeface="Helvetica Neue"/>
                <a:cs typeface="Helvetica Neue"/>
              </a:defRPr>
            </a:pPr>
            <a:r>
              <a:rPr sz="1200" b="0">
                <a:solidFill>
                  <a:srgbClr val="617180"/>
                </a:solidFill>
                <a:latin typeface="Helvetica Neue"/>
                <a:ea typeface="Helvetica Neue"/>
                <a:cs typeface="Helvetica Neue"/>
              </a:rPr>
              <a:t>Customer Experience research identifies the needs. Pilot evidence must determine whether to expand.</a:t>
            </a:r>
          </a:p>
        </p:txBody>
      </p:sp>
    </p:spTree>
    <p:extLst>
      <p:ext uri="{BB962C8B-B14F-4D97-AF65-F5344CB8AC3E}">
        <p14:creationId xmlns:p14="http://schemas.microsoft.com/office/powerpoint/2010/main" val="20641974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2026-09-23T07:08:45.9350000Z</dcterms:created>
  <dcterms:modified xsi:type="dcterms:W3CDTF">2026-09-23T07:08:45.9350000Z</dcterms:modified>
</coreProperties>
</file>