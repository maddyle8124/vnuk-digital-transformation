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0138b50fe42d4" /><Relationship Type="http://schemas.openxmlformats.org/officeDocument/2006/relationships/extended-properties" Target="/docProps/app.xml" Id="R05133146d8cb4f78" /><Relationship Type="http://schemas.openxmlformats.org/officeDocument/2006/relationships/officeDocument" Target="/ppt/presentation.xml" Id="Rf4fbe33e00cc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5a6e9c31154181"/>
  </p:sldMasterIdLst>
  <p:notesMasterIdLst>
    <p:notesMasterId xmlns:r="http://schemas.openxmlformats.org/officeDocument/2006/relationships" r:id="R78cc068a04e8478c"/>
  </p:notesMasterIdLst>
  <p:sldIdLst>
    <p:sldId xmlns:r="http://schemas.openxmlformats.org/officeDocument/2006/relationships" id="256" r:id="Rdb0204dd1fa44b11"/>
    <p:sldId xmlns:r="http://schemas.openxmlformats.org/officeDocument/2006/relationships" id="257" r:id="Re3a7e4d2156c4c76"/>
    <p:sldId xmlns:r="http://schemas.openxmlformats.org/officeDocument/2006/relationships" id="258" r:id="R2c18bceb9cf84131"/>
    <p:sldId xmlns:r="http://schemas.openxmlformats.org/officeDocument/2006/relationships" id="259" r:id="Re8c3e6f2b12c4aaa"/>
    <p:sldId xmlns:r="http://schemas.openxmlformats.org/officeDocument/2006/relationships" id="260" r:id="R8d71d02e0977470c"/>
    <p:sldId xmlns:r="http://schemas.openxmlformats.org/officeDocument/2006/relationships" id="261" r:id="R92dedc3255d842c8"/>
    <p:sldId xmlns:r="http://schemas.openxmlformats.org/officeDocument/2006/relationships" id="262" r:id="R3a7183ab60714d10"/>
    <p:sldId xmlns:r="http://schemas.openxmlformats.org/officeDocument/2006/relationships" id="263" r:id="R803511a3ad604696"/>
    <p:sldId xmlns:r="http://schemas.openxmlformats.org/officeDocument/2006/relationships" id="264" r:id="Ra343bd2121564a90"/>
    <p:sldId xmlns:r="http://schemas.openxmlformats.org/officeDocument/2006/relationships" id="265" r:id="R0751cdc024084451"/>
    <p:sldId xmlns:r="http://schemas.openxmlformats.org/officeDocument/2006/relationships" id="266" r:id="Rf419b66094d146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db8d5265254322" /><Relationship Type="http://schemas.openxmlformats.org/officeDocument/2006/relationships/slideMaster" Target="/ppt/slideMasters/slideMaster1.xml" Id="Rf85a6e9c31154181" /><Relationship Type="http://schemas.openxmlformats.org/officeDocument/2006/relationships/notesMaster" Target="/ppt/notesMasters/notesMaster1.xml" Id="R78cc068a04e8478c" /><Relationship Type="http://schemas.openxmlformats.org/officeDocument/2006/relationships/presProps" Target="/ppt/presProps.xml" Id="R95ef48d1754c4824" /><Relationship Type="http://schemas.openxmlformats.org/officeDocument/2006/relationships/tableStyles" Target="/ppt/tableStyles.xml" Id="R707876e97d954978" /><Relationship Type="http://schemas.openxmlformats.org/officeDocument/2006/relationships/slide" Target="/ppt/slides/slide1.xml" Id="Rdb0204dd1fa44b11" /><Relationship Type="http://schemas.openxmlformats.org/officeDocument/2006/relationships/slide" Target="/ppt/slides/slide2.xml" Id="Re3a7e4d2156c4c76" /><Relationship Type="http://schemas.openxmlformats.org/officeDocument/2006/relationships/slide" Target="/ppt/slides/slide3.xml" Id="R2c18bceb9cf84131" /><Relationship Type="http://schemas.openxmlformats.org/officeDocument/2006/relationships/slide" Target="/ppt/slides/slide4.xml" Id="Re8c3e6f2b12c4aaa" /><Relationship Type="http://schemas.openxmlformats.org/officeDocument/2006/relationships/slide" Target="/ppt/slides/slide5.xml" Id="R8d71d02e0977470c" /><Relationship Type="http://schemas.openxmlformats.org/officeDocument/2006/relationships/slide" Target="/ppt/slides/slide6.xml" Id="R92dedc3255d842c8" /><Relationship Type="http://schemas.openxmlformats.org/officeDocument/2006/relationships/slide" Target="/ppt/slides/slide7.xml" Id="R3a7183ab60714d10" /><Relationship Type="http://schemas.openxmlformats.org/officeDocument/2006/relationships/slide" Target="/ppt/slides/slide8.xml" Id="R803511a3ad604696" /><Relationship Type="http://schemas.openxmlformats.org/officeDocument/2006/relationships/slide" Target="/ppt/slides/slide9.xml" Id="Ra343bd2121564a90" /><Relationship Type="http://schemas.openxmlformats.org/officeDocument/2006/relationships/slide" Target="/ppt/slides/slide10.xml" Id="R0751cdc024084451" /><Relationship Type="http://schemas.openxmlformats.org/officeDocument/2006/relationships/slide" Target="/ppt/slides/slide11.xml" Id="Rf419b66094d146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9b3e02769c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fcb1d2ad0d4a80" /><Relationship Type="http://schemas.openxmlformats.org/officeDocument/2006/relationships/notesMaster" Target="/ppt/notesMasters/notesMaster1.xml" Id="R8628e6a0824946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9b4e13d0a14d5a" /><Relationship Type="http://schemas.openxmlformats.org/officeDocument/2006/relationships/notesMaster" Target="/ppt/notesMasters/notesMaster1.xml" Id="Rd97f183094384d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d03d8f1f1a4ea7" /><Relationship Type="http://schemas.openxmlformats.org/officeDocument/2006/relationships/notesMaster" Target="/ppt/notesMasters/notesMaster1.xml" Id="R9347cfcf77c84f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c812e916ed4edc" /><Relationship Type="http://schemas.openxmlformats.org/officeDocument/2006/relationships/notesMaster" Target="/ppt/notesMasters/notesMaster1.xml" Id="Rdf3ed4b82b5746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b3a02547c047fe" /><Relationship Type="http://schemas.openxmlformats.org/officeDocument/2006/relationships/notesMaster" Target="/ppt/notesMasters/notesMaster1.xml" Id="R173fec852cd142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babb6e2e02482d" /><Relationship Type="http://schemas.openxmlformats.org/officeDocument/2006/relationships/notesMaster" Target="/ppt/notesMasters/notesMaster1.xml" Id="R0168be41b6cb4d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319624d2ab4f51" /><Relationship Type="http://schemas.openxmlformats.org/officeDocument/2006/relationships/notesMaster" Target="/ppt/notesMasters/notesMaster1.xml" Id="R062866b4132245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03eabc9ee9487e" /><Relationship Type="http://schemas.openxmlformats.org/officeDocument/2006/relationships/notesMaster" Target="/ppt/notesMasters/notesMaster1.xml" Id="R0071399dbc0849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7fbd7e806344a8" /><Relationship Type="http://schemas.openxmlformats.org/officeDocument/2006/relationships/notesMaster" Target="/ppt/notesMasters/notesMaster1.xml" Id="Refec7ce805f1428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2123b5baf1413e" /><Relationship Type="http://schemas.openxmlformats.org/officeDocument/2006/relationships/notesMaster" Target="/ppt/notesMasters/notesMaster1.xml" Id="R6bd190e16f6a4c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8b250579204b37" /><Relationship Type="http://schemas.openxmlformats.org/officeDocument/2006/relationships/notesMaster" Target="/ppt/notesMasters/notesMaster1.xml" Id="Rbcd5d444003543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Introduce the Week 5 checkpoint. The long-term product serves all programmes, while the MVP uses a 30-student sample.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product scope is university-wide, while the pilot remains deliberately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Contrast a temporary chatbot project with a continuing student-support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Read the goal once, then explain how the measures avoid treating launch as success.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riskiest assumption: VNUK can maintain reliable guidance and route requests consistently.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Show that the MVP produces evidence for a decision rather than a feature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the top five using value, risk, learning and dependency.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Use the four examples to show that the backlog is testable.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what the team can finish with 160 hours and which dependencies could reduce the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Explain that the allocation creates ownership but does not prevent collaboration.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DBB43005 Session 5 Week 5 Agile Transformation and Digital Product Development; Group 1 Week 5 Evidence and Assumptions Log, updated 14 October 2026. Recorded research evidence, team estimates and proposed pilot targets are labelled separately.</a:t>
            </a:r>
          </a:p>
          <a:p xmlns:a="http://schemas.openxmlformats.org/drawingml/2006/main">
            <a:r>
              <a:t>Presenter notes: Close by linking the five activities and asking for approval to validate the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d98ffa6a2347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e3134790f4e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7ec6b051c4c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9a3f745c724a9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e3533e3bb4c5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b5810cca2f4e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1E0D44-011F-452F-9C0A-12934E1C22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ACC29C-353E-449F-A70E-F3BDC40D0D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FD833C2-7E6E-49DB-9466-A7B1DB64CC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C13FD5-596E-43CA-BBB8-95070C34C3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58C985B-1473-472F-AA48-6247B13598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DC6689-456C-4A34-8298-16F0D1BAC3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68D007-7E7B-4D15-87D7-C2BC5B26B3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ED95BD4-47F2-4860-BA15-C2A7D699B4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0A5DF7-0CF3-475C-8FA4-E224C88F3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AD9F75-D965-47A8-83E5-2253DE188A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43716815114876" /><Relationship Type="http://schemas.openxmlformats.org/officeDocument/2006/relationships/slideLayout" Target="/ppt/slideLayouts/slideLayout1.xml" Id="R4035318247e246a3" /><Relationship Type="http://schemas.openxmlformats.org/officeDocument/2006/relationships/slideLayout" Target="/ppt/slideLayouts/slideLayout2.xml" Id="Rc505c83b03a545ec" /><Relationship Type="http://schemas.openxmlformats.org/officeDocument/2006/relationships/slideLayout" Target="/ppt/slideLayouts/slideLayout3.xml" Id="R4a5a50fd9d614fa2" /><Relationship Type="http://schemas.openxmlformats.org/officeDocument/2006/relationships/slideLayout" Target="/ppt/slideLayouts/slideLayout4.xml" Id="Rf02c4169330f4143" /><Relationship Type="http://schemas.openxmlformats.org/officeDocument/2006/relationships/slideLayout" Target="/ppt/slideLayouts/slideLayout5.xml" Id="Rbd99b6db9f334281" /><Relationship Type="http://schemas.openxmlformats.org/officeDocument/2006/relationships/slideLayout" Target="/ppt/slideLayouts/slideLayout6.xml" Id="R6e91b722f7b743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35318247e246a3"/>
    <p:sldLayoutId xmlns:r="http://schemas.openxmlformats.org/officeDocument/2006/relationships" id="2147483650" r:id="Rc505c83b03a545ec"/>
    <p:sldLayoutId xmlns:r="http://schemas.openxmlformats.org/officeDocument/2006/relationships" id="2147483651" r:id="R4a5a50fd9d614fa2"/>
    <p:sldLayoutId xmlns:r="http://schemas.openxmlformats.org/officeDocument/2006/relationships" id="2147483652" r:id="Rf02c4169330f4143"/>
    <p:sldLayoutId xmlns:r="http://schemas.openxmlformats.org/officeDocument/2006/relationships" id="2147483653" r:id="Rbd99b6db9f334281"/>
    <p:sldLayoutId xmlns:r="http://schemas.openxmlformats.org/officeDocument/2006/relationships" id="2147483654" r:id="R6e91b722f7b743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4630019e9467e" /><Relationship Type="http://schemas.openxmlformats.org/officeDocument/2006/relationships/notesSlide" Target="/ppt/notesSlides/notesSlide1.xml" Id="R1ec1e7437b3745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0f35fe01f844e4" /><Relationship Type="http://schemas.openxmlformats.org/officeDocument/2006/relationships/chart" Target="/ppt/slides/charts/chart1.xml" Id="R58c00ac893b9423f" /><Relationship Type="http://schemas.openxmlformats.org/officeDocument/2006/relationships/notesSlide" Target="/ppt/notesSlides/notesSlide2.xml" Id="R406b15a25bc842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f033aac614914" /><Relationship Type="http://schemas.openxmlformats.org/officeDocument/2006/relationships/notesSlide" Target="/ppt/notesSlides/notesSlide3.xml" Id="R398e9d1f712f48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499aeafdd4499" /><Relationship Type="http://schemas.openxmlformats.org/officeDocument/2006/relationships/notesSlide" Target="/ppt/notesSlides/notesSlide4.xml" Id="Rc5473927be144f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fbc5d8c864769" /><Relationship Type="http://schemas.openxmlformats.org/officeDocument/2006/relationships/notesSlide" Target="/ppt/notesSlides/notesSlide5.xml" Id="Rbd41b4baaae64c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18fc4a3ad49cc" /><Relationship Type="http://schemas.openxmlformats.org/officeDocument/2006/relationships/chart" Target="/ppt/slides/charts/chart2.xml" Id="R83ec6d7d6ee743cd" /><Relationship Type="http://schemas.openxmlformats.org/officeDocument/2006/relationships/notesSlide" Target="/ppt/notesSlides/notesSlide6.xml" Id="Reeb2c07dd5dc4d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596ea8b56541ef" /><Relationship Type="http://schemas.openxmlformats.org/officeDocument/2006/relationships/notesSlide" Target="/ppt/notesSlides/notesSlide7.xml" Id="R0df00233de7c48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dbd0dc080d4922" /><Relationship Type="http://schemas.openxmlformats.org/officeDocument/2006/relationships/notesSlide" Target="/ppt/notesSlides/notesSlide8.xml" Id="Rdd36f771782448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7d7b70c5a4723" /><Relationship Type="http://schemas.openxmlformats.org/officeDocument/2006/relationships/notesSlide" Target="/ppt/notesSlides/notesSlide9.xml" Id="Rb214bc89989a4d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00799749f043b0" /><Relationship Type="http://schemas.openxmlformats.org/officeDocument/2006/relationships/chart" Target="/ppt/slides/charts/chart3.xml" Id="R9f9d86af69be49dc" /><Relationship Type="http://schemas.openxmlformats.org/officeDocument/2006/relationships/notesSlide" Target="/ppt/notesSlides/notesSlide10.xml" Id="R92e7e266ad1c469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f7f92947e94d43" /><Relationship Type="http://schemas.openxmlformats.org/officeDocument/2006/relationships/notesSlide" Target="/ppt/notesSlides/notesSlide11.xml" Id="R7a1aaa27b0f5458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Relative demand index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Normal period</c:v>
                </c:pt>
                <c:pt idx="1">
                  <c:v>Peak period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175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doughnutChart>
        <c:ser>
          <c:idx val="0"/>
          <c:order val="0"/>
          <c:tx>
            <c:v>Pilot students</c:v>
          </c:tx>
          <c:spPr>
            <a:solidFill xmlns:a="http://schemas.openxmlformats.org/drawingml/2006/main">
              <a:srgbClr val="16878A"/>
            </a:solidFill>
          </c:spPr>
          <c:cat>
            <c:strRef>
              <c:f>'Chart Data'!$A$2:$A$4</c:f>
              <c:strCache>
                <c:ptCount val="3"/>
                <c:pt idx="0">
                  <c:v>CSE</c:v>
                </c:pt>
                <c:pt idx="1">
                  <c:v>IBM</c:v>
                </c:pt>
                <c:pt idx="2">
                  <c:v>BMS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10</c:v>
                </c:pt>
                <c:pt idx="1">
                  <c:v>10</c:v>
                </c:pt>
                <c:pt idx="2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1"/>
          <c:showSerName val="0"/>
          <c:showPercent val="0"/>
          <c:showBubbleSize val="0"/>
          <c:showLeaderLines val="0"/>
        </c:dLbls>
      </c:doughnutChart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16878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Analytics and audit</c:v>
                </c:pt>
                <c:pt idx="1">
                  <c:v>Development</c:v>
                </c:pt>
                <c:pt idx="2">
                  <c:v>QA and user improvement</c:v>
                </c:pt>
                <c:pt idx="3">
                  <c:v>Content and learning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183449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45B9F4-C5CF-4D87-9093-1C57B7AD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0FA23E-E582-423A-9B56-3C68A059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DBB43005  DIGITAL INNOVATION AND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5BD20F-F3FE-4621-8EC2-912FCB70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Agile Product Development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B0E0A-4949-44FA-A406-1AE338CB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0502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Week 5 activities applied to the VNUK Student Support Hub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D8A39-BBB8-404A-A8D4-2001B90C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981ED-7BC8-4FFF-901E-321E5C5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ACTIVITIES 1-5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3F65C3-DF97-4404-92AC-19D3536C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81425"/>
            <a:ext cx="47625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Product Backlog</a:t>
            </a:r>
          </a:p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Sprint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6037C-9C25-4EA9-B893-F56DD051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D2A29-6394-449B-A23C-1785082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VNUK students in the long-term product 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4FD70-89D1-44A3-AEAF-B1962C35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571875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FF511-9044-4C15-8C9F-77FFD418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91000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in the proposed MVP sample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479F9-9221-4784-B42A-21574518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3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GROUP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94455-C097-499D-847D-AD9D5A81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1150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Liu Yu Han  •  Le Nguyen Thanh Hang  •  Tamás Pieskó  •  Zsombi Mester</a:t>
            </a:r>
          </a:p>
        </p:txBody>
      </p:sp>
    </p:spTree>
    <p:extLst>
      <p:ext uri="{BB962C8B-B14F-4D97-AF65-F5344CB8AC3E}">
        <p14:creationId xmlns:p14="http://schemas.microsoft.com/office/powerpoint/2010/main" val="6866125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EE95B9-D3BE-4FAC-BAA2-D0782ABC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EVIDENCE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D0DAD-A542-4C3B-822F-C0CA23AB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One university-wide product, tested with a small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F58EC-CA9E-471D-ACEB-98FD837E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Recorded evidence and team estimates define the first learning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99DFA-EF80-4E4E-A2BD-8607EF33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70C8E-5082-4B3E-AA2A-35DF3EF5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C7E1F-9850-48A1-A59A-76989BA4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1,200+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E68BE3-2997-45DF-B9C8-0EBB9699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students across IBM, BMS and CSE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69F8E-4C70-4585-91DF-CA8093C0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70-80%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19F00-5E2F-4CB8-925D-39F6C3BA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estimated rise in enquiries during peak periods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494DB3-FDE9-46ED-B629-0EF19B1F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1 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FE969-4AD1-4149-B2D3-4D2F559E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usual administrative response expectation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35C20-D02D-4593-9041-04136777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&gt;5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D3482-CACA-4C9A-ADF8-B98AA3BD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follow-up emails in some complex credit cases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Team estimate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9EC73-229E-4854-B43F-C446BDEF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05000"/>
            <a:ext cx="200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73EC3-852D-447D-B482-6F25166A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524125"/>
            <a:ext cx="2143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pilot students: 10 per programme</a:t>
            </a:r>
          </a:p>
          <a:p xmlns:a="http://schemas.openxmlformats.org/drawingml/2006/main">
            <a:pPr>
              <a:def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Product decision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221E01-2F07-471B-8A6C-A617A0F8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Demand pattern</a:t>
            </a:r>
          </a:p>
        </p:txBody>
      </p:sp>
      <p:graphicFrame>
        <p:nvGraphicFramePr>
          <p:cNvPr id="17" name="Chart">
            <a:extLst xmlns:a="http://schemas.openxmlformats.org/drawingml/2006/main">
              <a:ext uri="{FF2B5EF4-FFF2-40B4-BE49-F238E27FC236}">
                <a16:creationId xmlns:a16="http://schemas.microsoft.com/office/drawing/2014/main" id="{6D482BDE-DBAD-4E48-AACD-66EBF05112F7}"/>
              </a:ext>
            </a:extLst>
          </p:cNvPr>
          <p:cNvGraphicFramePr/>
          <p:nvPr/>
        </p:nvGraphicFramePr>
        <p:xfrm>
          <a:off xmlns:a="http://schemas.openxmlformats.org/drawingml/2006/main" x="533400" y="4095750"/>
          <a:ext xmlns:a="http://schemas.openxmlformats.org/drawingml/2006/main" cx="5334000" cy="1809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c00ac893b9423f"/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7EB82C-8D65-48EC-8C18-BFBBF765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Index uses the midpoint of the estimated 70-80% uplift.</a:t>
            </a:r>
          </a:p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Absolute enquiries per week remain to be measured.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A4F6B-6ADB-4C56-A1A0-75751A4C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Priority request 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4B690E-ED07-4298-B057-A8B5EF5E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CE995-BD21-4360-ABF9-948A4695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95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Credit registration and class changes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780A18-13FD-4174-B4BB-97459D2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38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2C30BA-9C0C-46DB-8F8E-FF930875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C9AC1A-9790-48AB-B792-F1BD7E49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76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Graduation and scholarship processes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036621-39EB-4D0C-B843-ABD0BA20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19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A7030F-1850-40DB-9AC3-AEFAC399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76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017E9-2677-4B2F-9239-C7265940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57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Tuition, admission and enrolment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FAB660-5D8B-41DC-9310-825376F6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00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497B9-3F26-48BE-8785-65213821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C379F3-7744-4485-B389-F26CFFA2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3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CSE project topics and supervisors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4D1C64-23CC-4957-B4B5-B6AE6CFB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81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A87B48-4900-4E10-AE13-EFC7903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4D4389-45DF-46CA-9D0E-963FC133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19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department and contact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ED635B-C5E0-4C16-AA73-B98473D0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9626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9477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63A7C6-B4AB-46A5-87CD-1F1FE161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786825-DED3-49E5-A06D-A77D7349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The Student Support Hub as a digital 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D3EC5-5558-4199-9DAA-B85295D1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Success depends on student outcomes and continuous ownership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07E5B-A8B5-43E4-B8EA-4C833F44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24AA5-78FF-4B4C-A12D-8A2EDC7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BD014-B234-4B4B-B647-36D1F249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7FE91-FC98-47D8-8F3D-3C1942E4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09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A06B0-C973-445B-9D5B-621D4DC0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an HTML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3333C-C5F6-4305-92CB-0E7B8E61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7B6940-FACD-428C-8959-1FD45E2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Deliver a fixed feature list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7B811-6D08-4D91-A9C2-A88843C0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AD4FB-9C17-4A1F-A0C5-5A81EA9D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Close after acceptance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09DCF1-BA22-4617-8C2D-5C0341A1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90633-9EEC-444B-9ADD-A904DC5C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time and budget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3462A-7451-4E44-9CA7-DF870AD9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CD31A2-760F-428B-B2D7-67227C56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Improve task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4ED9C4-20E4-472F-BB28-E89BBF91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717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18240C-9A38-478F-9AC4-8C0B0B06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Adapt the backlog with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E243B8-ED57-474F-B4F6-136618E3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3242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B6950-2E84-45CC-BF4A-8751AE03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3852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Continue while the need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A38E2-1C80-4CEF-9368-5D87B737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76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0C8BE8-03AD-4743-AD25-94B202BA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9909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Measure adoption and service outcomes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5619A-E808-4EC4-BB13-B09E078A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5C947-3A14-470F-A4D8-A28D4AEC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4000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6F6FEE-2C1C-4F0A-9D3A-C90E3CE4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2410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DEFINITION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696C6E-0FA9-4F40-8F84-E3CE4CC7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00350"/>
            <a:ext cx="33337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continuing VNUK service that helps students find the correct procedure, prepare a complete request and reach the responsible department.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16891E-6B84-43EE-BC2E-0B9BE0AE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4BE995-8ECB-44F5-B262-67F8B458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FCDFFC-B976-4C28-A369-037D2878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IBM, BMS and CSE students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E6FF32-609E-465E-9C7F-50E505CA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24FD18-584E-4E1E-9A2D-9CEF0345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904148-AA36-4801-BF4E-147F741E0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Guidance, routing and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89F12F-3C1F-4FFA-A402-8A1E65CD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9B02E1-8041-43D6-8234-925CD454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Owner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9009EA-9266-4763-901B-E4A77554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Administration with IT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CAC871-4028-44ED-A8D2-94D4911C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95875"/>
            <a:ext cx="1000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B7CB65-F322-46A4-B068-CF08D5B5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14925"/>
            <a:ext cx="847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Success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F88279-6CE1-461A-9B06-96FE83D9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476875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Correct completion with less follow-up</a:t>
            </a:r>
          </a:p>
        </p:txBody>
      </p:sp>
    </p:spTree>
    <p:extLst>
      <p:ext uri="{BB962C8B-B14F-4D97-AF65-F5344CB8AC3E}">
        <p14:creationId xmlns:p14="http://schemas.microsoft.com/office/powerpoint/2010/main" val="12661230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8BC9E7-3982-445F-8AD0-9C21A3B0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7E2D5-7DA9-445C-9AC9-33E57D8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CD41E-B5F2-49F4-B0C3-9E361617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A four-part goal connects the user need to measurable pilot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2571F-137C-40A4-A6C0-FB3476C5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5E17D-6E79-4502-B95B-33F31D6F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D50C9-DA47-4766-BE1B-2246C9F4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1F142-C904-4666-89A0-A7BFD512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C909B-3E58-44F4-993B-BF653AA7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students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across IBM, BMS and CSE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7A036-A2A7-4225-9004-72E10ACF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IMPROVE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0D67A-75E4-4A49-AE7F-AA1A8634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E6E69-CBCC-4B05-9877-9EC4C792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Access to correct procedures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responsible contacts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59D7D-4DFC-4BA6-8DBB-04400992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BY ENABLING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6B455-1E35-4E91-9AA8-6BCD53BF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37C1D-C826-46FF-994F-998CEE67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Central guidance, checklists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and structured handoff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19A2E1-EA4E-4A67-8F34-F76524F6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57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5C732-CE1B-4A48-AECD-1B9D1381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20980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15632-7E7F-42D8-A15C-83749FC3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9825"/>
            <a:ext cx="238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three-month pilot</a:t>
            </a:r>
          </a:p>
          <a:p xmlns:a="http://schemas.openxmlformats.org/drawingml/2006/main">
            <a:pPr>
              <a:def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with 30 students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3A2E3-74DC-411D-82E1-1136E81A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111252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D9010-BF70-411B-BD71-DCB0C0D92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Goal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9C910-9463-40A1-AEA3-29E47B3A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Improve students’ ability to identify the correct procedure and complete the next action, while reducing avoidable follow-up and keeping staff effort sustainable.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BEB48B-7E4A-4781-A51F-3131752D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≥95%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B7A61-A7DB-43F7-9A0C-369039B4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EE00C-608C-46D8-944B-CDCCCB17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017CF-CF2E-4EDD-B4C9-DA46F130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critical wrong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1FD81-EF51-497A-830F-D9C589B5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≥80%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3DE58-7D67-4157-B458-9AEE9002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correct routing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D550D-56C9-47A7-A46E-1B23C25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-20%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AF819E-5BDC-47AC-8AE7-0AF793B9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repeat contacts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93DFC2-5D08-4D48-B42C-8248D443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29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4FEF35-CF68-42D0-B4B4-8087CFB7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534025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content with owner and review date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D5E68B-9968-4F9F-91CE-07ABDD4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023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Targets require institutional agreement. Current repeat-contact and routing baselines remain to be measured.</a:t>
            </a:r>
          </a:p>
        </p:txBody>
      </p:sp>
    </p:spTree>
    <p:extLst>
      <p:ext uri="{BB962C8B-B14F-4D97-AF65-F5344CB8AC3E}">
        <p14:creationId xmlns:p14="http://schemas.microsoft.com/office/powerpoint/2010/main" val="21426311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00DD58-9381-4E34-BD0E-B46E55C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00964-5F28-4C06-A4E9-84D43BE0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C276F-BB9E-43EB-89D9-405205A8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test focuses on guidance and routing, with no live record changes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4C171-44B0-46CD-B419-3E033E8E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DF242-A713-4609-948A-7AD9442F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C0C31-D7A2-443A-ACD6-5963884C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RISKIEST ASSUMPTION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48C6DA-DFD3-4E0E-A048-F5004704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VNUK can turn dispersed email knowledge into approved guidance that staff can maintain.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E9C78-7378-4073-894F-BF6F92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TARGET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92A72-6754-42AB-AE4D-9031E17A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10 CSE, 10 IBM and 10 BMS students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388AB-C610-468C-BC20-8684ADDB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76AB0-DA29-4CAA-AEDE-DB0B2F8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JOURNEY SLICE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8AF8BB-3C8C-4B33-98CA-BAD063DC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146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Select request, see procedure, prepare request, reach the right unit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6C909-5976-43E6-A6E0-7E4B6829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242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7C459C-8B86-4608-A90E-DBD1FE69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MVP 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B3BA1-DDE8-4FF6-BED5-BCE3A404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Wizard of Oz plus a process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1274F9-00D1-4462-A245-10CD7B6C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7A241-5F31-4935-9589-CC0C7A97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290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9C81"/>
                </a:solidFill>
                <a:latin typeface="Helvetica Neue"/>
                <a:ea typeface="Helvetica Neue"/>
                <a:cs typeface="Helvetica Neue"/>
              </a:rPr>
              <a:t>MINIMUM SCOPE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AE3FC6-94D2-4198-AB69-19413EBF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862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Request categories, checklists, contacts, escalation and basic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D993B-25D7-4000-890B-00E895900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9582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96BEB0-0233-46A5-AA5A-B7DE1C3D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5C526-8540-406B-8BBF-DCD214D3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Accuracy, routing, follow-up, task completion and staff effort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040CAF-4E4D-4DF2-A90B-8825A90B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5536B-D172-4CDD-A8F1-A36B8DAF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EXCLUSIONS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736A73-74F1-496C-95E9-C999C2F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5777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Live EMS changes, grades, tuition calculation and automated eligibility decisions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9986DA-FF16-42FC-8924-5493083E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67375"/>
            <a:ext cx="504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8534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794CF3-09D8-4D59-B230-8D5F7628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E1B33-F819-4EB4-AF32-1F7C57CE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MVP evidence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29268-CC5F-4B04-80F0-CB4E34C4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pilot combines a balanced student sample with three decision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1C72A1-80C8-4399-B979-E380A29C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793A2-ACDC-4D64-9840-A0770FA9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65D8F9A-9501-4B5B-8267-8713A73C9FB6}"/>
              </a:ext>
            </a:extLst>
          </p:cNvPr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371475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ec6d7d6ee743c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55C84-DFA7-4508-859E-8872FCD7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67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30 students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7C3AC-8A4D-439E-B72F-5466D09A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6AD5F-C150-466F-8612-EDD9E859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4337B-2EC6-4E06-9D4F-7CF02490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1621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8FCCB-8ADF-4AC9-8973-26CF42F7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240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Targets met and staff can maintain the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5D888-327C-468E-AD54-E61B1A91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9E59F-4BB8-47F0-846C-35372318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004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43550-FF7A-4E6D-AC77-0B28A694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4194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5B3ED-584D-4D65-BBB3-C0940EE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813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Value appears, but workflow or quality needs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A6AB5-1711-49EB-8EA8-4CF97FC8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64770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DD415-2DE5-406F-A0C4-8EA85ABE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57725"/>
            <a:ext cx="13811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1063C-930E-46F5-99E0-41425D02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676775"/>
            <a:ext cx="1228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BBB472-C65E-4EA8-A11B-8D0B3839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386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simpler hub performs as well with less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03AD95-4363-4093-80FB-F8950E6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1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Three-month 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663BC8-2B10-4490-9C56-0BC116DD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943600"/>
            <a:ext cx="4381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61A4EA-C500-4D28-83DD-1602D011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1505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Month 1  Baseline and content     Month 2  Guided use     Month 3  Compare outcomes</a:t>
            </a:r>
          </a:p>
        </p:txBody>
      </p:sp>
    </p:spTree>
    <p:extLst>
      <p:ext uri="{BB962C8B-B14F-4D97-AF65-F5344CB8AC3E}">
        <p14:creationId xmlns:p14="http://schemas.microsoft.com/office/powerpoint/2010/main" val="1201847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89128-DC37-4391-8634-BEE36DB0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90593-ED2C-4774-A31D-1FBEA0B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Ordered Product Backlog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38F44-BE4E-4956-93D5-83468C1D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items establish trusted content before advanced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77E0C-A26C-48BD-8EBF-8804AC1F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CF590-EF65-40FD-A5BA-CD0BE05C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C6B93-4D69-4BD1-96CD-CD9313AE4A88}"/>
              </a:ext>
            </a:extLst>
          </p:cNvPr>
          <p:cNvGraphicFramePr/>
          <p:nvPr/>
        </p:nvGraphicFramePr>
        <p:xfrm>
          <a:off xmlns:a="http://schemas.openxmlformats.org/drawingml/2006/main" x="533400" y="1666875"/>
          <a:ext xmlns:a="http://schemas.openxmlformats.org/drawingml/2006/main" cx="111252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62000"/>
                <a:gridCol w="5286375"/>
                <a:gridCol w="2000250"/>
                <a:gridCol w="3076575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Backlog item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Type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Why now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T w="9525">
                      <a:solidFill>
                        <a:srgbClr val="D8E1E7"/>
                      </a:solidFill>
                      <a:prstDash val="solid"/>
                    </a:lnT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183449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Approved content model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Foundation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Programme and request context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Relevance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Procedure and next-step checklist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Core value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Correct department and contact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Routing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Safe escalation and case owner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request template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Content expiry and review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Currency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 test set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Discovery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Request analytics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Measurement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 status visibility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Less follow-up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Privacy and retention controls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Integrity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1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8E1E7"/>
                      </a:solidFill>
                      <a:prstDash val="solid"/>
                    </a:lnL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Conversational AI layer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Later option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8E1E7"/>
                      </a:solidFill>
                      <a:prstDash val="solid"/>
                    </a:lnR>
                    <a:lnB w="9525">
                      <a:solidFill>
                        <a:srgbClr val="D8E1E7"/>
                      </a:solidFill>
                      <a:prstDash val="solid"/>
                    </a:lnB>
                    <a:solidFill>
                      <a:srgbClr val="EDF3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584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18658-DAEF-478A-9659-5D16EB06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EC597-EE49-4728-AF01-12DF4F3C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Acceptance criteria for the top four items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55345-994A-4E2A-9F92-3FD9C327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Each item has an observable normal flow and a clear safety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7ABC1-191C-4164-AB1D-9EC4F837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5AD5D-4787-43E2-BA56-FEBC893E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DCB57-E7D2-42EB-AB92-3C1BAE5B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22BA9-E05C-45DC-8828-688166CA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01  Approved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D24E3-F45D-40A0-9FB9-57B604EA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guidance item is proposed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staff publish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it has a source, owner, programme and review date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BB33F-3F8C-48D0-985C-02E2ABE7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9AE94-329B-4E33-A4EA-F2B7081D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02  Request context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3E545-F49A-4DA2-BD3A-BA6DC638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 student starts a request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programme and category are selected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only applicable guidance appears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6046B-A184-4F1E-888A-D974EC7A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D5D4B8-4E33-4DDC-9DD7-03CCC9EB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03  Procedure checklist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8E019-AF8B-41E9-97C4-DB956C3B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approved guidance matches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opens the result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required steps and documents are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D7849-675C-4DC9-A499-464ECD0A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809750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68350-C166-488A-954B-C7A92B71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04  Correct routing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7F33C-05AF-419A-A417-01455791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619375"/>
            <a:ext cx="2381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GIVEN the case needs staff help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WHEN the student submits it</a:t>
            </a:r>
          </a:p>
          <a:p xmlns:a="http://schemas.openxmlformats.org/drawingml/2006/main">
            <a:pPr>
              <a:def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THEN the responsible unit and expected response are shown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6BC9F4-613B-46FC-8C51-A75B5520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112520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AF2F3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CCD24B-EC2D-4374-B884-D2A172A2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1857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Shared safety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07AF5-673A-4AF0-83B3-03AE5841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14950"/>
            <a:ext cx="8715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If approved guidance is missing or conflicting, the product stops and routes the request to staff. It does not infer an academic or financial decision.</a:t>
            </a:r>
          </a:p>
        </p:txBody>
      </p:sp>
    </p:spTree>
    <p:extLst>
      <p:ext uri="{BB962C8B-B14F-4D97-AF65-F5344CB8AC3E}">
        <p14:creationId xmlns:p14="http://schemas.microsoft.com/office/powerpoint/2010/main" val="2120107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AC4E22-B20B-4C91-A509-84699841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21AF0-0390-4BB2-A2F1-23742C11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Goal and two-week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219CC-01B0-4325-99E4-2139E8C5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first Sprint creates a usable guidance and routing slice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EC35E-0549-4304-A3C9-F9D0305A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BCF15-A6FF-4635-98E5-9386C189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11A94-5CBD-415C-BD50-52668BAC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1125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D41BAF-1AD1-4598-B7DD-D29BA950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SPRINT GOAL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8D94C-8A59-4639-9ED8-38D81166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24025"/>
            <a:ext cx="8810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 student selects a request, sees a verified procedure and reaches the responsible unit when staff help is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F490B9-CBF4-4A10-8BB5-3E410C2E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449"/>
          </a:solidFill>
          <a:ln xmlns:a="http://schemas.openxmlformats.org/drawingml/2006/main" w="9525">
            <a:solidFill>
              <a:srgbClr val="1834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BF447-C0B4-45A1-8CD7-EE0729F6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DAYS 1-2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ACDADC-C0A3-42A9-855C-E35A9941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Audit enquiries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confirm taxonomy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D4003-C512-45EE-BD41-7A52ECAB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8A"/>
          </a:solidFill>
          <a:ln xmlns:a="http://schemas.openxmlformats.org/drawingml/2006/main" w="9525">
            <a:solidFill>
              <a:srgbClr val="1687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064BBE-F327-4DD5-902E-D3D29955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DAYS 3-4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018DF-1820-41A7-BD21-6CCAA63B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Structure guidance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content ownership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CF61F-E819-4443-AADD-D0F16636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58B"/>
          </a:solidFill>
          <a:ln xmlns:a="http://schemas.openxmlformats.org/drawingml/2006/main" w="9525">
            <a:solidFill>
              <a:srgbClr val="3545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5FBED-68DE-4BD7-83A2-923BEDF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DAYS 5-7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92F14-45BA-4981-AA3B-02EF8144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Build the HTML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guidance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C2088-CFDA-4B5B-8DA8-A8E1E595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F14E4E-BCD7-4599-9214-6E90DCCC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DAYS 8-9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1294A-BA65-4F19-B491-D5BDB0A8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Run QA and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student usability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DEF43-96C3-49AF-8141-0AC1CDAF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905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F013B-B3AD-44EE-A7E6-4D8C1EE6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861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DAY 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5BE18B-B2AF-4F64-B0B6-AA724AB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0997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Review evidence</a:t>
            </a:r>
          </a:p>
          <a:p xmlns:a="http://schemas.openxmlformats.org/drawingml/2006/main">
            <a:pPr>
              <a:def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and update backlog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83594-344B-4C4A-BB77-266F45B1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Selected backlog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E39E8-C960-4B28-B6AA-945C5959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530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Items 1-5 plus the initial accuracy test 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7DCFB-AFEB-4119-B4C0-BA8FAEDA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Main dependencies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C9937F-FEC8-49D1-B5B4-49BE1DD8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530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Approved procedures, staff reviewers and access to de-identified enquiry patterns</a:t>
            </a:r>
          </a:p>
        </p:txBody>
      </p:sp>
    </p:spTree>
    <p:extLst>
      <p:ext uri="{BB962C8B-B14F-4D97-AF65-F5344CB8AC3E}">
        <p14:creationId xmlns:p14="http://schemas.microsoft.com/office/powerpoint/2010/main" val="8741093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3CAA8E-51D0-4CD0-B626-4AAFBE3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ACTIVITY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6D3DB-9B53-4846-9EBD-08BF4D4D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Sprint capacity and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85B3A-8FCA-43D3-A63E-2125DDB9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Four members contribute 40 hours each across a 160-hour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707A4-4999-466C-A547-129CBB99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19D17A-5E22-4F5F-ACA1-889677E8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72623A7-6130-4E5B-A1F7-65A2219B5B3A}"/>
              </a:ext>
            </a:extLst>
          </p:cNvPr>
          <p:cNvGraphicFramePr/>
          <p:nvPr/>
        </p:nvGraphicFramePr>
        <p:xfrm>
          <a:off xmlns:a="http://schemas.openxmlformats.org/drawingml/2006/main" x="523875" y="1762125"/>
          <a:ext xmlns:a="http://schemas.openxmlformats.org/drawingml/2006/main" cx="5572125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9d86af69be49d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18CA7-86BF-4C40-BF27-9B20ACD1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160 hours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37687-81AD-4EE7-A655-8246AD82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4 people × 10 working days × 4 hours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967C2-9BFF-4C3E-AF43-2C1E8EF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86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Product analytics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75BDD-9980-47DE-B112-005F8039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8610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Usage audit, enquiry categories and evidence 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24553-BF71-489E-9DA9-7650F3FB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24DDC-A40F-4A3C-89DE-982C6A73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433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Development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60B25A-A8F6-4572-86D8-22EFE570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4332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HTML prototype and technical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1C981-7AAB-4288-9AB4-F7EF291E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D08239-F01C-45E2-9086-74A22831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50C689-E480-40C3-B3F7-3F9E8E27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00550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Acceptance testing and user-flow improvement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FC9A1-7EFE-464F-90E3-416E8644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053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A86836-571B-4577-93C6-1B4B5698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Content and L&amp;D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66409-AEFD-4BA0-A023-FD8AA25D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57775"/>
            <a:ext cx="27146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Knowledge inputs and onboarding material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953D5-4023-439E-BD8E-C531AF2A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626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19712-1B1B-475D-A7E9-10BEA72D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6740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Forecast risk: staff review or missing procedures may reduce the number of finished backlog items.</a:t>
            </a:r>
          </a:p>
        </p:txBody>
      </p:sp>
    </p:spTree>
    <p:extLst>
      <p:ext uri="{BB962C8B-B14F-4D97-AF65-F5344CB8AC3E}">
        <p14:creationId xmlns:p14="http://schemas.microsoft.com/office/powerpoint/2010/main" val="4993900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70DF7EF-0C2D-4CB3-81F8-622A85BB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CHECKPOINT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E0117-E08D-49D8-88CA-2AE30F46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"/>
            <a:ext cx="11096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Five activities produce one testable product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8F9DD-C759-4800-8B26-FC6C37C0F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096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The team enters the pilot with explicit ownership, evidence needs and decision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2661E-A74A-4D8D-BCE9-DFC73A21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0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3564F-A467-4534-AF93-1E831303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770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F7515-F46A-49F1-AC42-E9D89AF5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E36A02-8510-49E2-B519-449153EAE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99E19-95F5-41B1-B7A8-F7A11301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Continuing support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0B4FE0-3447-4106-895F-5BF2F4B0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D43C3-587F-49CB-89E6-492BECC4A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A02BB-C5DF-44D7-8F22-1F285CE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6878A"/>
                </a:solidFill>
                <a:latin typeface="Helvetica Neue"/>
                <a:ea typeface="Helvetica Neue"/>
                <a:cs typeface="Helvetica Neue"/>
              </a:rPr>
              <a:t>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FFCE8-08A3-48AF-86DC-7F62F900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Better completion with less follow-up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002B5-5D57-4119-8C7E-73D86C89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724988-5B96-4F30-8BDA-AB0ABA91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B450F-8CD2-440E-B4D4-0DE011EF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35458B"/>
                </a:solidFill>
                <a:latin typeface="Helvetica Neue"/>
                <a:ea typeface="Helvetica Neue"/>
                <a:cs typeface="Helvetica Neue"/>
              </a:rPr>
              <a:t>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46883A-D5DB-4C6A-9168-852B15E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30 students, three programmes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CF54A-9F0A-4E0B-8C0F-570FE610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39D577-BF9D-4DD0-AE59-EB189E67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C81AA-3A5D-41AD-A138-C9B67E8E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C37A25"/>
                </a:solidFill>
                <a:latin typeface="Helvetica Neue"/>
                <a:ea typeface="Helvetica Neue"/>
                <a:cs typeface="Helvetica Neue"/>
              </a:rPr>
              <a:t>BACKLOG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E60825-45F3-4427-9544-577D7575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Trusted content before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986B1-2FD1-4A3F-8F96-FC86F039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076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2C79CC-C7A0-4D0E-A29F-9BF0A3A3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8097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0E1D0-991C-4601-9A5C-4FDF5662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19275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SPRINT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1DFC33-B08B-4E79-91CD-F84807FB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33600"/>
            <a:ext cx="1476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160-hour two-week forecast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DD54F-8ED4-40B6-986A-5DECF5F8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111252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DCE27-B610-4248-8183-87CAD7D1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909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E1537"/>
                </a:solidFill>
                <a:latin typeface="Helvetica Neue"/>
                <a:ea typeface="Helvetica Neue"/>
                <a:cs typeface="Helvetica Neue"/>
              </a:rPr>
              <a:t>DECISION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EF520-0DD9-48BC-80E6-A5378183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3382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83449"/>
                </a:solidFill>
                <a:latin typeface="Helvetica Neue"/>
                <a:ea typeface="Helvetica Neue"/>
                <a:cs typeface="Helvetica Neue"/>
              </a:rPr>
              <a:t>Approve a three-month HTML pilot that measures demand, routing quality, repeat contact and staff effort before any investment in live integration or autonomous AI.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B192B-63A9-4BE9-BBB9-81A5E669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69C81"/>
          </a:solidFill>
          <a:ln xmlns:a="http://schemas.openxmlformats.org/drawingml/2006/main" w="9525">
            <a:solidFill>
              <a:srgbClr val="569C8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E986E2-D97F-41D5-8F2D-8922635E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CONTINUE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4B2A3-6B28-4FD5-A61F-97460F08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Evidence thresholds met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CCBF6E-076F-47B6-9122-441F04CE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37A25"/>
          </a:solidFill>
          <a:ln xmlns:a="http://schemas.openxmlformats.org/drawingml/2006/main" w="9525">
            <a:solidFill>
              <a:srgbClr val="C37A2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E6474-1B90-4A60-A687-5B0C7E51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ADAPT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DF857F-D6D2-43BB-BFA5-44938169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Workflow or content needs repair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4AD6F6-EC7E-4B87-B26E-F099FE6C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95875"/>
            <a:ext cx="1285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E1537"/>
          </a:solidFill>
          <a:ln xmlns:a="http://schemas.openxmlformats.org/drawingml/2006/main" w="9525">
            <a:solidFill>
              <a:srgbClr val="8E153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F8B633-EA7B-4286-BA87-95056BD9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114925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STOP AI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6BE597-96BE-4B2A-B008-AFB20862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33746"/>
                </a:solidFill>
                <a:latin typeface="Helvetica Neue"/>
                <a:ea typeface="Helvetica Neue"/>
                <a:cs typeface="Helvetica Neue"/>
              </a:rPr>
              <a:t>Simpler guidance hub performs as well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77B05C-EEF3-4250-99B4-63016FAB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007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17180"/>
                </a:solidFill>
                <a:latin typeface="Helvetica Neue"/>
                <a:ea typeface="Helvetica Neue"/>
                <a:cs typeface="Helvetica Neue"/>
              </a:rPr>
              <a:t>Next evidence: weekly enquiry volume, routing baseline, repeat-contact baseline and staff handling time.</a:t>
            </a:r>
          </a:p>
        </p:txBody>
      </p:sp>
    </p:spTree>
    <p:extLst>
      <p:ext uri="{BB962C8B-B14F-4D97-AF65-F5344CB8AC3E}">
        <p14:creationId xmlns:p14="http://schemas.microsoft.com/office/powerpoint/2010/main" val="19781613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2026-10-14T06:20:11.2160000Z</dcterms:created>
  <dcterms:modified xsi:type="dcterms:W3CDTF">2026-10-14T06:20:11.2160000Z</dcterms:modified>
</coreProperties>
</file>