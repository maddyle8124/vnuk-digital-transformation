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3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7ef01979bbd4456" /><Relationship Type="http://schemas.openxmlformats.org/officeDocument/2006/relationships/extended-properties" Target="/docProps/app.xml" Id="R0b63181b39ea4604" /><Relationship Type="http://schemas.openxmlformats.org/officeDocument/2006/relationships/officeDocument" Target="/ppt/presentation.xml" Id="R6d0ed03c85684d6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747e818b88d4593"/>
  </p:sldMasterIdLst>
  <p:notesMasterIdLst>
    <p:notesMasterId xmlns:r="http://schemas.openxmlformats.org/officeDocument/2006/relationships" r:id="Rb586d7144f7b4379"/>
  </p:notesMasterIdLst>
  <p:sldIdLst>
    <p:sldId xmlns:r="http://schemas.openxmlformats.org/officeDocument/2006/relationships" id="256" r:id="Re37fc9efba124bf8"/>
    <p:sldId xmlns:r="http://schemas.openxmlformats.org/officeDocument/2006/relationships" id="257" r:id="Rf73ee4a53cd94685"/>
    <p:sldId xmlns:r="http://schemas.openxmlformats.org/officeDocument/2006/relationships" id="258" r:id="R34df640cff4f4d58"/>
    <p:sldId xmlns:r="http://schemas.openxmlformats.org/officeDocument/2006/relationships" id="259" r:id="Rf1807dff24014e73"/>
    <p:sldId xmlns:r="http://schemas.openxmlformats.org/officeDocument/2006/relationships" id="260" r:id="R8a18f4d487c14cea"/>
    <p:sldId xmlns:r="http://schemas.openxmlformats.org/officeDocument/2006/relationships" id="261" r:id="R60f4a0733bc34a79"/>
    <p:sldId xmlns:r="http://schemas.openxmlformats.org/officeDocument/2006/relationships" id="262" r:id="R31a634e589e641d1"/>
    <p:sldId xmlns:r="http://schemas.openxmlformats.org/officeDocument/2006/relationships" id="263" r:id="R7f976a7e898b496a"/>
    <p:sldId xmlns:r="http://schemas.openxmlformats.org/officeDocument/2006/relationships" id="264" r:id="Rbe82ce8efed84c20"/>
    <p:sldId xmlns:r="http://schemas.openxmlformats.org/officeDocument/2006/relationships" id="265" r:id="Rbdd18e473d1f4d40"/>
    <p:sldId xmlns:r="http://schemas.openxmlformats.org/officeDocument/2006/relationships" id="266" r:id="Rd94d5b1447eb439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7a8ad84138144f7" /><Relationship Type="http://schemas.openxmlformats.org/officeDocument/2006/relationships/slideMaster" Target="/ppt/slideMasters/slideMaster1.xml" Id="Rf747e818b88d4593" /><Relationship Type="http://schemas.openxmlformats.org/officeDocument/2006/relationships/notesMaster" Target="/ppt/notesMasters/notesMaster1.xml" Id="Rb586d7144f7b4379" /><Relationship Type="http://schemas.openxmlformats.org/officeDocument/2006/relationships/presProps" Target="/ppt/presProps.xml" Id="R752e7077fd68469b" /><Relationship Type="http://schemas.openxmlformats.org/officeDocument/2006/relationships/tableStyles" Target="/ppt/tableStyles.xml" Id="R8d5dd23eeb134d7a" /><Relationship Type="http://schemas.openxmlformats.org/officeDocument/2006/relationships/slide" Target="/ppt/slides/slide1.xml" Id="Re37fc9efba124bf8" /><Relationship Type="http://schemas.openxmlformats.org/officeDocument/2006/relationships/slide" Target="/ppt/slides/slide2.xml" Id="Rf73ee4a53cd94685" /><Relationship Type="http://schemas.openxmlformats.org/officeDocument/2006/relationships/slide" Target="/ppt/slides/slide3.xml" Id="R34df640cff4f4d58" /><Relationship Type="http://schemas.openxmlformats.org/officeDocument/2006/relationships/slide" Target="/ppt/slides/slide4.xml" Id="Rf1807dff24014e73" /><Relationship Type="http://schemas.openxmlformats.org/officeDocument/2006/relationships/slide" Target="/ppt/slides/slide5.xml" Id="R8a18f4d487c14cea" /><Relationship Type="http://schemas.openxmlformats.org/officeDocument/2006/relationships/slide" Target="/ppt/slides/slide6.xml" Id="R60f4a0733bc34a79" /><Relationship Type="http://schemas.openxmlformats.org/officeDocument/2006/relationships/slide" Target="/ppt/slides/slide7.xml" Id="R31a634e589e641d1" /><Relationship Type="http://schemas.openxmlformats.org/officeDocument/2006/relationships/slide" Target="/ppt/slides/slide8.xml" Id="R7f976a7e898b496a" /><Relationship Type="http://schemas.openxmlformats.org/officeDocument/2006/relationships/slide" Target="/ppt/slides/slide9.xml" Id="Rbe82ce8efed84c20" /><Relationship Type="http://schemas.openxmlformats.org/officeDocument/2006/relationships/slide" Target="/ppt/slides/slide10.xml" Id="Rbdd18e473d1f4d40" /><Relationship Type="http://schemas.openxmlformats.org/officeDocument/2006/relationships/slide" Target="/ppt/slides/slide11.xml" Id="Rd94d5b1447eb439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ae61087164749b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95ba833d95f4abb" /><Relationship Type="http://schemas.openxmlformats.org/officeDocument/2006/relationships/notesMaster" Target="/ppt/notesMasters/notesMaster1.xml" Id="R240e8da4c0044f1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81434d3ee3149f6" /><Relationship Type="http://schemas.openxmlformats.org/officeDocument/2006/relationships/notesMaster" Target="/ppt/notesMasters/notesMaster1.xml" Id="R764069aa53c242c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8ea071132d54a12" /><Relationship Type="http://schemas.openxmlformats.org/officeDocument/2006/relationships/notesMaster" Target="/ppt/notesMasters/notesMaster1.xml" Id="R712f757163bf473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91d72894e8b47f5" /><Relationship Type="http://schemas.openxmlformats.org/officeDocument/2006/relationships/notesMaster" Target="/ppt/notesMasters/notesMaster1.xml" Id="R133276e53d6e495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dac345198794aaa" /><Relationship Type="http://schemas.openxmlformats.org/officeDocument/2006/relationships/notesMaster" Target="/ppt/notesMasters/notesMaster1.xml" Id="R0a008fae39fc4c8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4912c5fb5cc4f13" /><Relationship Type="http://schemas.openxmlformats.org/officeDocument/2006/relationships/notesMaster" Target="/ppt/notesMasters/notesMaster1.xml" Id="R3c8fbfb427634e3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d0325e19228418b" /><Relationship Type="http://schemas.openxmlformats.org/officeDocument/2006/relationships/notesMaster" Target="/ppt/notesMasters/notesMaster1.xml" Id="Rbbed81051f86449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c33ecfb0a2d4843" /><Relationship Type="http://schemas.openxmlformats.org/officeDocument/2006/relationships/notesMaster" Target="/ppt/notesMasters/notesMaster1.xml" Id="Rfdc3629452ea441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e38c5875555463c" /><Relationship Type="http://schemas.openxmlformats.org/officeDocument/2006/relationships/notesMaster" Target="/ppt/notesMasters/notesMaster1.xml" Id="R1ced90e40d9c48d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6bead3f69ad4d66" /><Relationship Type="http://schemas.openxmlformats.org/officeDocument/2006/relationships/notesMaster" Target="/ppt/notesMasters/notesMaster1.xml" Id="Rb7f349bf02b7425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338aa0119b54746" /><Relationship Type="http://schemas.openxmlformats.org/officeDocument/2006/relationships/notesMaster" Target="/ppt/notesMasters/notesMaster1.xml" Id="R9c25f75f9565471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DBB43005 Session 5 Week 5 Agile Transformation and Digital Product Development; Group 1 Week 5 Evidence and Assumptions Log, updated 14 October 2026. Recorded research evidence, team estimates and proposed pilot targets are labelled separately.</a:t>
            </a:r>
          </a:p>
          <a:p xmlns:a="http://schemas.openxmlformats.org/drawingml/2006/main">
            <a:r>
              <a:t>Presenter notes: Introduce the Week 5 checkpoint. The long-term product serves all programmes, while the MVP uses a 30-student sample.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DBB43005 Session 5 Week 5 Agile Transformation and Digital Product Development; Group 1 Week 5 Evidence and Assumptions Log, updated 14 October 2026. Recorded research evidence, team estimates and proposed pilot targets are labelled separately.</a:t>
            </a:r>
          </a:p>
          <a:p xmlns:a="http://schemas.openxmlformats.org/drawingml/2006/main">
            <a:r>
              <a:t>Presenter notes: Explain that the product scope is university-wide, while the pilot remains deliberately small.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DBB43005 Session 5 Week 5 Agile Transformation and Digital Product Development; Group 1 Week 5 Evidence and Assumptions Log, updated 14 October 2026. Recorded research evidence, team estimates and proposed pilot targets are labelled separately.</a:t>
            </a:r>
          </a:p>
          <a:p xmlns:a="http://schemas.openxmlformats.org/drawingml/2006/main">
            <a:r>
              <a:t>Presenter notes: Contrast a temporary chatbot project with a continuing student-support product.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DBB43005 Session 5 Week 5 Agile Transformation and Digital Product Development; Group 1 Week 5 Evidence and Assumptions Log, updated 14 October 2026. Recorded research evidence, team estimates and proposed pilot targets are labelled separately.</a:t>
            </a:r>
          </a:p>
          <a:p xmlns:a="http://schemas.openxmlformats.org/drawingml/2006/main">
            <a:r>
              <a:t>Presenter notes: Read the goal once, then explain how the measures avoid treating launch as success.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DBB43005 Session 5 Week 5 Agile Transformation and Digital Product Development; Group 1 Week 5 Evidence and Assumptions Log, updated 14 October 2026. Recorded research evidence, team estimates and proposed pilot targets are labelled separately.</a:t>
            </a:r>
          </a:p>
          <a:p xmlns:a="http://schemas.openxmlformats.org/drawingml/2006/main">
            <a:r>
              <a:t>Presenter notes: Explain the riskiest assumption: VNUK can maintain reliable guidance and route requests consistently.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DBB43005 Session 5 Week 5 Agile Transformation and Digital Product Development; Group 1 Week 5 Evidence and Assumptions Log, updated 14 October 2026. Recorded research evidence, team estimates and proposed pilot targets are labelled separately.</a:t>
            </a:r>
          </a:p>
          <a:p xmlns:a="http://schemas.openxmlformats.org/drawingml/2006/main">
            <a:r>
              <a:t>Presenter notes: Show that the MVP produces evidence for a decision rather than a feature demonstration.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DBB43005 Session 5 Week 5 Agile Transformation and Digital Product Development; Group 1 Week 5 Evidence and Assumptions Log, updated 14 October 2026. Recorded research evidence, team estimates and proposed pilot targets are labelled separately.</a:t>
            </a:r>
          </a:p>
          <a:p xmlns:a="http://schemas.openxmlformats.org/drawingml/2006/main">
            <a:r>
              <a:t>Presenter notes: Explain the top five using value, risk, learning and dependency.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DBB43005 Session 5 Week 5 Agile Transformation and Digital Product Development; Group 1 Week 5 Evidence and Assumptions Log, updated 14 October 2026. Recorded research evidence, team estimates and proposed pilot targets are labelled separately.</a:t>
            </a:r>
          </a:p>
          <a:p xmlns:a="http://schemas.openxmlformats.org/drawingml/2006/main">
            <a:r>
              <a:t>Presenter notes: Use the four examples to show that the backlog is testable.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DBB43005 Session 5 Week 5 Agile Transformation and Digital Product Development; Group 1 Week 5 Evidence and Assumptions Log, updated 14 October 2026. Recorded research evidence, team estimates and proposed pilot targets are labelled separately.</a:t>
            </a:r>
          </a:p>
          <a:p xmlns:a="http://schemas.openxmlformats.org/drawingml/2006/main">
            <a:r>
              <a:t>Presenter notes: Explain what the team can finish with 160 hours and which dependencies could reduce the forecast.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DBB43005 Session 5 Week 5 Agile Transformation and Digital Product Development; Group 1 Week 5 Evidence and Assumptions Log, updated 14 October 2026. Recorded research evidence, team estimates and proposed pilot targets are labelled separately.</a:t>
            </a:r>
          </a:p>
          <a:p xmlns:a="http://schemas.openxmlformats.org/drawingml/2006/main">
            <a:r>
              <a:t>Presenter notes: Explain that the allocation creates ownership but does not prevent collaboration.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DBB43005 Session 5 Week 5 Agile Transformation and Digital Product Development; Group 1 Week 5 Evidence and Assumptions Log, updated 14 October 2026. Recorded research evidence, team estimates and proposed pilot targets are labelled separately.</a:t>
            </a:r>
          </a:p>
          <a:p xmlns:a="http://schemas.openxmlformats.org/drawingml/2006/main">
            <a:r>
              <a:t>Presenter notes: Close by linking the five activities and asking for approval to validate the MVP.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95088e09bf43a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bceebdc96e443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c19458b53f48c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fdb59c12e54b0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34b1a6b40642d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d3db41bbf5454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9984524-A16A-42E7-BABF-E40268721D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DB9CF87-7AA5-465E-87A0-803388942AA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A41CC29-00BB-4777-82E8-020CB4CF6C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0045528-2616-466A-BDF2-4A8A6C8106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73D195B-B5BC-495D-8633-F680CB9453A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E8D960E-5875-42EC-BDC4-5B50A62201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4A42822-0FB0-4D32-AECD-02AA4E89FC5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F424196-BB63-45BA-AEA0-6BD41185B94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F5DF606-567E-4454-8D41-4722040574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95E6039-E375-4842-9536-A6032F8A875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fc55d2881474e90" /><Relationship Type="http://schemas.openxmlformats.org/officeDocument/2006/relationships/slideLayout" Target="/ppt/slideLayouts/slideLayout1.xml" Id="R969a246fc74c43ec" /><Relationship Type="http://schemas.openxmlformats.org/officeDocument/2006/relationships/slideLayout" Target="/ppt/slideLayouts/slideLayout2.xml" Id="R0c7a159893624a02" /><Relationship Type="http://schemas.openxmlformats.org/officeDocument/2006/relationships/slideLayout" Target="/ppt/slideLayouts/slideLayout3.xml" Id="R3531901b6c0c4db4" /><Relationship Type="http://schemas.openxmlformats.org/officeDocument/2006/relationships/slideLayout" Target="/ppt/slideLayouts/slideLayout4.xml" Id="Re7d81c11c68841fa" /><Relationship Type="http://schemas.openxmlformats.org/officeDocument/2006/relationships/slideLayout" Target="/ppt/slideLayouts/slideLayout5.xml" Id="Rcc3b20a732364101" /><Relationship Type="http://schemas.openxmlformats.org/officeDocument/2006/relationships/slideLayout" Target="/ppt/slideLayouts/slideLayout6.xml" Id="Rdbd6f5e8a8584aa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69a246fc74c43ec"/>
    <p:sldLayoutId xmlns:r="http://schemas.openxmlformats.org/officeDocument/2006/relationships" id="2147483650" r:id="R0c7a159893624a02"/>
    <p:sldLayoutId xmlns:r="http://schemas.openxmlformats.org/officeDocument/2006/relationships" id="2147483651" r:id="R3531901b6c0c4db4"/>
    <p:sldLayoutId xmlns:r="http://schemas.openxmlformats.org/officeDocument/2006/relationships" id="2147483652" r:id="Re7d81c11c68841fa"/>
    <p:sldLayoutId xmlns:r="http://schemas.openxmlformats.org/officeDocument/2006/relationships" id="2147483653" r:id="Rcc3b20a732364101"/>
    <p:sldLayoutId xmlns:r="http://schemas.openxmlformats.org/officeDocument/2006/relationships" id="2147483654" r:id="Rdbd6f5e8a8584aa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732213c4ec4723" /><Relationship Type="http://schemas.openxmlformats.org/officeDocument/2006/relationships/notesSlide" Target="/ppt/notesSlides/notesSlide1.xml" Id="R8314d756b7d9485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e577422877487c" /><Relationship Type="http://schemas.openxmlformats.org/officeDocument/2006/relationships/chart" Target="/ppt/slides/charts/chart1.xml" Id="R9ceabe1286fb44ab" /><Relationship Type="http://schemas.openxmlformats.org/officeDocument/2006/relationships/notesSlide" Target="/ppt/notesSlides/notesSlide2.xml" Id="R5de4691e92b54d4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44268243154dbf" /><Relationship Type="http://schemas.openxmlformats.org/officeDocument/2006/relationships/notesSlide" Target="/ppt/notesSlides/notesSlide3.xml" Id="R44464f220bd146d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b67ccb8b454d53" /><Relationship Type="http://schemas.openxmlformats.org/officeDocument/2006/relationships/notesSlide" Target="/ppt/notesSlides/notesSlide4.xml" Id="R2f7279e8474a46d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a749e9236142ed" /><Relationship Type="http://schemas.openxmlformats.org/officeDocument/2006/relationships/notesSlide" Target="/ppt/notesSlides/notesSlide5.xml" Id="Rd7928e99c015484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6c4c48bcb346d2" /><Relationship Type="http://schemas.openxmlformats.org/officeDocument/2006/relationships/chart" Target="/ppt/slides/charts/chart2.xml" Id="Rbab1918b17184c1f" /><Relationship Type="http://schemas.openxmlformats.org/officeDocument/2006/relationships/notesSlide" Target="/ppt/notesSlides/notesSlide6.xml" Id="R488ba17f08b94ce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37ff8ccc7d4c1d" /><Relationship Type="http://schemas.openxmlformats.org/officeDocument/2006/relationships/notesSlide" Target="/ppt/notesSlides/notesSlide7.xml" Id="R1fe7dc6178fa4ce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83e29850264748" /><Relationship Type="http://schemas.openxmlformats.org/officeDocument/2006/relationships/notesSlide" Target="/ppt/notesSlides/notesSlide8.xml" Id="Rf01de7f90f3646a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bec2c0f3d14077" /><Relationship Type="http://schemas.openxmlformats.org/officeDocument/2006/relationships/notesSlide" Target="/ppt/notesSlides/notesSlide9.xml" Id="Rb8a1ab7edc054bc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104a7495bc4572" /><Relationship Type="http://schemas.openxmlformats.org/officeDocument/2006/relationships/chart" Target="/ppt/slides/charts/chart3.xml" Id="R3b54e8c7f2cb4dd6" /><Relationship Type="http://schemas.openxmlformats.org/officeDocument/2006/relationships/notesSlide" Target="/ppt/notesSlides/notesSlide10.xml" Id="R8237d249245a428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d0c62bad3b4575" /><Relationship Type="http://schemas.openxmlformats.org/officeDocument/2006/relationships/notesSlide" Target="/ppt/notesSlides/notesSlide11.xml" Id="Reb8ddb6586ba411b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Relative demand index</c:v>
          </c:tx>
          <c:spPr>
            <a:solidFill xmlns:a="http://schemas.openxmlformats.org/drawingml/2006/main">
              <a:srgbClr val="16878A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Normal period</c:v>
                </c:pt>
                <c:pt idx="1">
                  <c:v>Peak period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100</c:v>
                </c:pt>
                <c:pt idx="1">
                  <c:v>175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83449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200"/>
          <c:min val="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50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doughnutChart>
        <c:ser>
          <c:idx val="0"/>
          <c:order val="0"/>
          <c:tx>
            <c:v>Pilot students</c:v>
          </c:tx>
          <c:spPr>
            <a:solidFill xmlns:a="http://schemas.openxmlformats.org/drawingml/2006/main">
              <a:srgbClr val="16878A"/>
            </a:solidFill>
          </c:spPr>
          <c:cat>
            <c:strRef>
              <c:f>'Chart Data'!$A$2:$A$4</c:f>
              <c:strCache>
                <c:ptCount val="3"/>
                <c:pt idx="0">
                  <c:v>CSE</c:v>
                </c:pt>
                <c:pt idx="1">
                  <c:v>IBM</c:v>
                </c:pt>
                <c:pt idx="2">
                  <c:v>BMS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10</c:v>
                </c:pt>
                <c:pt idx="1">
                  <c:v>10</c:v>
                </c:pt>
                <c:pt idx="2">
                  <c:v>10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83449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1"/>
          <c:showCatName val="1"/>
          <c:showSerName val="0"/>
          <c:showPercent val="0"/>
          <c:showBubbleSize val="0"/>
          <c:showLeaderLines val="0"/>
        </c:dLbls>
      </c:doughnutChart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latin typeface="Helvetica Neue"/>
              <a:ea typeface="Helvetica Neue"/>
              <a:cs typeface="Helvetica Neue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Hours</c:v>
          </c:tx>
          <c:spPr>
            <a:solidFill xmlns:a="http://schemas.openxmlformats.org/drawingml/2006/main">
              <a:srgbClr val="16878A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Analytics and audit</c:v>
                </c:pt>
                <c:pt idx="1">
                  <c:v>Development</c:v>
                </c:pt>
                <c:pt idx="2">
                  <c:v>QA and user improvement</c:v>
                </c:pt>
                <c:pt idx="3">
                  <c:v>Content and learning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40</c:v>
                </c:pt>
                <c:pt idx="1">
                  <c:v>40</c:v>
                </c:pt>
                <c:pt idx="2">
                  <c:v>40</c:v>
                </c:pt>
                <c:pt idx="3">
                  <c:v>40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 b="1">
                  <a:solidFill>
                    <a:srgbClr val="183449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929066-BB70-45AF-AC6A-0F1CB1269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1537"/>
          </a:solidFill>
          <a:ln xmlns:a="http://schemas.openxmlformats.org/drawingml/2006/main" w="9525">
            <a:solidFill>
              <a:srgbClr val="8E153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449876-1319-4F56-B3C9-65889B87B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20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DBB43005  DIGITAL INNOVATION AND TRANSFORMATION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A2FC09-62E7-4438-9B68-1060FFBAF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360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Agile Product Development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C17AD4-2393-48F5-AB08-3B146322C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05025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Week 5 activities applied to the VNUK Student Support Hub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1B1ABA-871C-4A2B-8D38-952F5328A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38450"/>
            <a:ext cx="1714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8A"/>
          </a:solidFill>
          <a:ln xmlns:a="http://schemas.openxmlformats.org/drawingml/2006/main" w="9525">
            <a:solidFill>
              <a:srgbClr val="16878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25D629-3785-4959-B17F-38F0EEDF1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528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350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rPr>
              <a:t>ACTIVITIES 1-5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8430F9-6DE7-439A-B844-3F09E5202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47625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217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Product definition</a:t>
            </a:r>
          </a:p>
          <a:p xmlns:a="http://schemas.openxmlformats.org/drawingml/2006/main">
            <a:pPr>
              <a:defRPr sz="217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Product Goal</a:t>
            </a:r>
          </a:p>
          <a:p xmlns:a="http://schemas.openxmlformats.org/drawingml/2006/main">
            <a:pPr>
              <a:defRPr sz="217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MVP</a:t>
            </a:r>
          </a:p>
          <a:p xmlns:a="http://schemas.openxmlformats.org/drawingml/2006/main">
            <a:pPr>
              <a:defRPr sz="217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Product Backlog</a:t>
            </a:r>
          </a:p>
          <a:p xmlns:a="http://schemas.openxmlformats.org/drawingml/2006/main">
            <a:pPr>
              <a:defRPr sz="217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Sprint Planning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774496-EC00-47E6-985D-FA6501928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71875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34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1,200+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65AF18-FAE7-4335-A9A0-A60C26FB4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191000"/>
            <a:ext cx="2143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VNUK students in the long-term product scope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0CACCD-DC61-4CE5-B2D9-BF3C27B97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571875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3450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rPr>
              <a:t>30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BAFFAD-A76F-4332-8C34-41B74E3F4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191000"/>
            <a:ext cx="2143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students in the proposed MVP sample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5FE54E-0BE6-4E0E-8B3A-7124793F5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341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125" b="1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GROUP 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2B00AB-A293-4A21-8ABA-EA3C65B1E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6115050"/>
            <a:ext cx="876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1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Liu Yu Han  •  Le Nguyen Thanh Hang  •  Tamás Pieskó  •  Zsombi Mester</a:t>
            </a:r>
          </a:p>
        </p:txBody>
      </p:sp>
    </p:spTree>
    <p:extLst>
      <p:ext uri="{BB962C8B-B14F-4D97-AF65-F5344CB8AC3E}">
        <p14:creationId xmlns:p14="http://schemas.microsoft.com/office/powerpoint/2010/main" val="19603766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526621B-450D-452D-8D61-BE0680300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EVIDENCE AND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24B313-DD2A-47F4-8CC8-6FB2EC635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096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One university-wide product, tested with a small sample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F84B38-BEC1-45AA-9A66-B8F4ECA1D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14425"/>
            <a:ext cx="11096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Recorded evidence and team estimates define the first learning cycle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31EBCD-E1B3-4896-8E4F-755405320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0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5FF1E2-CE92-4FCF-A2F5-8D8D340BF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BBD25D-838C-44FF-AB30-1B2E292CF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0500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34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1,200+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002594-20E8-420D-AC37-E3398AA2C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24125"/>
            <a:ext cx="2143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students across IBM, BMS and CSE</a:t>
            </a:r>
          </a:p>
          <a:p xmlns:a="http://schemas.openxmlformats.org/drawingml/2006/main">
            <a:pPr>
              <a:def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Team estimate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ADA648-30CE-4100-B731-E29DCF30F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90500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3450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rPr>
              <a:t>70-80%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95B666-9A88-4B32-8FBB-B7BEDD8EF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524125"/>
            <a:ext cx="2143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estimated rise in enquiries during peak periods</a:t>
            </a:r>
          </a:p>
          <a:p xmlns:a="http://schemas.openxmlformats.org/drawingml/2006/main">
            <a:pPr>
              <a:def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Team estimate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DECC5F-9060-49C4-B9EC-9DDC7A689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90500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34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1 day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D700E0-BB0F-438F-AA74-8E3B342FB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524125"/>
            <a:ext cx="2143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usual administrative response expectation</a:t>
            </a:r>
          </a:p>
          <a:p xmlns:a="http://schemas.openxmlformats.org/drawingml/2006/main">
            <a:pPr>
              <a:def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Team estimate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86A483-1C7C-44A4-B345-2964DAB97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90500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3450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rPr>
              <a:t>&gt;5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6C2F73-6785-4E36-8860-2D2E5F5E7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524125"/>
            <a:ext cx="2143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follow-up emails in some complex credit cases</a:t>
            </a:r>
          </a:p>
          <a:p xmlns:a="http://schemas.openxmlformats.org/drawingml/2006/main">
            <a:pPr>
              <a:def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Team estimate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1193B1-A2A2-4134-BF91-F49B8F956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90500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3450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rPr>
              <a:t>30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BAF0E1-2B77-46A6-A334-EC567FD71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524125"/>
            <a:ext cx="2143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pilot students: 10 per programme</a:t>
            </a:r>
          </a:p>
          <a:p xmlns:a="http://schemas.openxmlformats.org/drawingml/2006/main">
            <a:pPr>
              <a:def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Product decision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28F746-E624-443E-A754-F2CDDD956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47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Demand pattern</a:t>
            </a:r>
          </a:p>
        </p:txBody>
      </p:sp>
      <p:graphicFrame>
        <p:nvGraphicFramePr>
          <p:cNvPr id="17" name="Chart">
            <a:extLst xmlns:a="http://schemas.openxmlformats.org/drawingml/2006/main">
              <a:ext uri="{FF2B5EF4-FFF2-40B4-BE49-F238E27FC236}">
                <a16:creationId xmlns:a16="http://schemas.microsoft.com/office/drawing/2014/main" id="{0D9F7405-E150-4A14-82A5-B138494C24F2}"/>
              </a:ext>
            </a:extLst>
          </p:cNvPr>
          <p:cNvGraphicFramePr/>
          <p:nvPr/>
        </p:nvGraphicFramePr>
        <p:xfrm>
          <a:off xmlns:a="http://schemas.openxmlformats.org/drawingml/2006/main" x="533400" y="4095750"/>
          <a:ext xmlns:a="http://schemas.openxmlformats.org/drawingml/2006/main" cx="5334000" cy="1809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ceabe1286fb44ab"/>
          </a:graphicData>
        </a:graphic>
      </p:graphicFrame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B54665-6AF2-4DBC-B00A-3A8E046F8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4360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9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Index uses the midpoint of the estimated 70-80% uplift.</a:t>
            </a:r>
          </a:p>
          <a:p xmlns:a="http://schemas.openxmlformats.org/drawingml/2006/main">
            <a:pPr>
              <a:defRPr sz="9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Absolute enquiries per week remain to be measured.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98E026-E3E1-4963-A2B1-6E757AD00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14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Priority request categories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9873B5-86F4-4EAF-AAF4-594B27A03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4337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9FEBD0-58A7-484F-8D81-3C99EA8A4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095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Credit registration and class changes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48CEBE-D0E1-49BA-935B-552E52A64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438650"/>
            <a:ext cx="419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7AEA44-65EE-4F29-8A6A-8CB654CC0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2437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992E9B-9C53-4530-8BF2-8BDEEE94E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476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Graduation and scholarship processes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AA61E0-E8AD-4173-91B0-B422D4B62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819650"/>
            <a:ext cx="419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46E539-B4D3-4B23-8700-9651C1953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90537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38FDB7-DE9E-47D4-8279-A97423358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857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Tuition, admission and enrolment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00B424-2814-4A24-9DD4-FAA04D799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200650"/>
            <a:ext cx="419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07FB9DE-1144-4EA1-9AE5-A5E5D2E2C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8637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08E25F3-037B-4A00-A794-18514AD43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238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CSE project topics and supervisors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8EE7AF1-9331-4B36-8863-881EDF5C0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581650"/>
            <a:ext cx="419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96E0569-70DD-4EAF-98AA-0ED75A7F8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66737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FD86B9B-B095-4CEA-ABB5-7BF7AC344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61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Correct department and contact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2182923-0BC0-43A9-9324-1D13F6A97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962650"/>
            <a:ext cx="419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451598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7DA2755-D315-4E82-9BC7-28B7E61A4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ACTIVITY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155495-3F5B-40F0-9381-AB2AA16A7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096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The Student Support Hub as a digital product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656D9D-4B1E-4A22-AA7E-B7B4CC061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14425"/>
            <a:ext cx="11096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Success depends on student outcomes and continuous ownership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515314-DF3C-45F4-8E95-67C669EA3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0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00E4FB-5037-4DDC-B623-28CA729D0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E3B493-5A97-4E36-945E-C1078BDA2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350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rPr>
              <a:t>PROJECT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F36406-F24C-4547-8712-C71E01D60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8097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3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PRODUCT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B95663-4635-45B9-9451-323D56FDC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3362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Build an HTML portal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614988-F487-4AE5-BFBC-F1036101B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71775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DF6838-3995-4C52-855E-0B3BADA46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8607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Deliver a fixed feature list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1384FC-C46B-4F61-AED0-F15C47D46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24225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8590EA-AEAC-4DD4-A4C0-92A1E679B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3852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Close after acceptance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CFFA76-8E7B-47DB-83F4-CA3444497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76675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F5AEEF-6040-438D-8D9E-EE363E9F8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9097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Measure time and budget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A6ACA2-C892-40F5-9FE2-C26F4C7E6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29125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31303D-19CB-41E1-B4FD-F76379B47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3362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Improve task completion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5845FD-4225-46B6-9775-4AA7D2CB7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771775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B76151-F8CC-4D64-A61C-25D0245A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88607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Adapt the backlog with evidence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6EDF43-EB41-4A5E-9613-FF244E2A7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324225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2D586E-AC73-4348-AB8B-6F2A108D3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43852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Continue while the need exists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50323C-4C43-40F1-9F4A-343D1D75E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876675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06B0DF-2978-48DC-B398-04444287B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99097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Measure adoption and service outcomes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2D86E5-D442-483A-BBF0-BE44D3EFF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429125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BBEC56-5FCD-4F9E-9237-EDA1BAC95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95500"/>
            <a:ext cx="4000500" cy="2619375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EAF2F3"/>
          </a:solidFill>
          <a:ln xmlns:a="http://schemas.openxmlformats.org/drawingml/2006/main" w="9525">
            <a:solidFill>
              <a:srgbClr val="16878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B89CAA-EBF0-42CA-B3A8-386634C20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2410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125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PRODUCT DEFINITION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5979A7-CC9C-4A2D-9635-9A33F73A2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800350"/>
            <a:ext cx="33337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87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A continuing VNUK service that helps students find the correct procedure, prepare a complete request and reach the responsible department.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BFA124-A316-492F-9F4E-953EFB38C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095875"/>
            <a:ext cx="100012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6878A"/>
          </a:solidFill>
          <a:ln xmlns:a="http://schemas.openxmlformats.org/drawingml/2006/main" w="9525">
            <a:solidFill>
              <a:srgbClr val="16878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A2CA39-8E1A-4362-91A0-45852DE52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5114925"/>
            <a:ext cx="847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User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952DB10-05FD-458F-8E94-4F9754FF8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476875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12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IBM, BMS and CSE students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00C71C0-35B7-43B7-80B6-421FD86C7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095875"/>
            <a:ext cx="100012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6878A"/>
          </a:solidFill>
          <a:ln xmlns:a="http://schemas.openxmlformats.org/drawingml/2006/main" w="9525">
            <a:solidFill>
              <a:srgbClr val="16878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5700C13-3950-4FB3-B242-7C0AEEEE9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114925"/>
            <a:ext cx="847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Boundary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C251CFE-CCB6-4FA7-AED1-7604F948D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5476875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12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Guidance, routing and handoff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221EE1F-3E0D-42BB-8897-90F234B9E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095875"/>
            <a:ext cx="100012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35458B"/>
          </a:solidFill>
          <a:ln xmlns:a="http://schemas.openxmlformats.org/drawingml/2006/main" w="9525">
            <a:solidFill>
              <a:srgbClr val="35458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E2F98FD-5207-4FAD-B860-A396CB433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5114925"/>
            <a:ext cx="847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Owner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421BBCA-8018-4820-A8EF-A45FF2EA6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476875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12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Administration with IT support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D9F4198-74D6-46AC-8B25-72CAFE7CF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095875"/>
            <a:ext cx="100012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6878A"/>
          </a:solidFill>
          <a:ln xmlns:a="http://schemas.openxmlformats.org/drawingml/2006/main" w="9525">
            <a:solidFill>
              <a:srgbClr val="16878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74597A7-EA76-4248-AE53-FDB0E17A9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114925"/>
            <a:ext cx="847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Success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EFE171C-6F53-4E70-A526-C6A7C449C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5476875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12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Correct completion with less follow-up</a:t>
            </a:r>
          </a:p>
        </p:txBody>
      </p:sp>
    </p:spTree>
    <p:extLst>
      <p:ext uri="{BB962C8B-B14F-4D97-AF65-F5344CB8AC3E}">
        <p14:creationId xmlns:p14="http://schemas.microsoft.com/office/powerpoint/2010/main" val="15781998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47AC3CE-7E90-4404-BCD5-8AFD221C6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ACTIVITY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8FB537-B9AA-43F3-8F35-D46865FE9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096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Product Goal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CEA363-71B7-4162-894B-C06E2B723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14425"/>
            <a:ext cx="11096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A four-part goal connects the user need to measurable pilot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8B358C-A058-4619-AE11-A54779A87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0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22E846-1AE5-4CD7-B1A1-F7741E907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040C95-6FC5-4B76-9F50-B043A4278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573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125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FOR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09F52F-05C9-4886-8EF4-E4E547B64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09800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8A"/>
          </a:solidFill>
          <a:ln xmlns:a="http://schemas.openxmlformats.org/drawingml/2006/main" w="9525">
            <a:solidFill>
              <a:srgbClr val="16878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88B862-ADD5-4060-BDAF-F272EDFC8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09825"/>
            <a:ext cx="238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VNUK students</a:t>
            </a:r>
          </a:p>
          <a:p xmlns:a="http://schemas.openxmlformats.org/drawingml/2006/main">
            <a:pPr>
              <a:def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across IBM, BMS and CSE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BDF31B-FC16-467D-AA5C-DCCE30079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8573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125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rPr>
              <a:t>IMPROVE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80AAF7-C1D0-459C-9C62-4471FD399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209800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58B"/>
          </a:solidFill>
          <a:ln xmlns:a="http://schemas.openxmlformats.org/drawingml/2006/main" w="9525">
            <a:solidFill>
              <a:srgbClr val="35458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3A50C4-EEBD-4CB6-8DC4-7A25C2162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409825"/>
            <a:ext cx="238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Access to correct procedures</a:t>
            </a:r>
          </a:p>
          <a:p xmlns:a="http://schemas.openxmlformats.org/drawingml/2006/main">
            <a:pPr>
              <a:def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and responsible contacts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048814-15D4-4B77-828A-0EC0B593F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573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125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rPr>
              <a:t>BY ENABLING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C76E83-7DAF-4E8C-BE96-24A0232E5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09800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7A25"/>
          </a:solidFill>
          <a:ln xmlns:a="http://schemas.openxmlformats.org/drawingml/2006/main" w="9525">
            <a:solidFill>
              <a:srgbClr val="C37A2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F7FE9B-5550-42E3-B5DD-965A9A09E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09825"/>
            <a:ext cx="238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Central guidance, checklists</a:t>
            </a:r>
          </a:p>
          <a:p xmlns:a="http://schemas.openxmlformats.org/drawingml/2006/main">
            <a:pPr>
              <a:def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and structured handoff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957C99-9E64-4CC8-ABFD-DB333208C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8573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125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rPr>
              <a:t>DURING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E68FEC-27FF-4CD2-A782-2C534058C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209800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1537"/>
          </a:solidFill>
          <a:ln xmlns:a="http://schemas.openxmlformats.org/drawingml/2006/main" w="9525">
            <a:solidFill>
              <a:srgbClr val="8E153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74D5DA-239B-42B2-92BF-EF82D4F65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409825"/>
            <a:ext cx="238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A three-month pilot</a:t>
            </a:r>
          </a:p>
          <a:p xmlns:a="http://schemas.openxmlformats.org/drawingml/2006/main">
            <a:pPr>
              <a:def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with 30 students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40F890-02FE-4E85-B305-C78631C5F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67125"/>
            <a:ext cx="11125200" cy="981075"/>
          </a:xfrm>
          <a:prstGeom xmlns:a="http://schemas.openxmlformats.org/drawingml/2006/main" prst="roundRect">
            <a:avLst>
              <a:gd name="adj" fmla="val 77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C97440-2B83-462A-A796-D02E7F3E5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2905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125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Product Goal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1347DC-B878-426D-87E0-2C314CDB4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80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Improve students’ ability to identify the correct procedure and complete the next action, while reducing avoidable follow-up and keeping staff effort sustainable.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D6437A-52D7-4462-8277-D8EF852B6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2920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2625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≥95%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10BA05-171F-444F-BC84-3F75336C7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34025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1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correct guidance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88990B-B325-4C43-8793-BBCF8F74C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02920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2625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rPr>
              <a:t>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29523D-4ABC-47DA-8AE3-4D7DCCA55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534025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1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critical wrong decisions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494A59-3107-4FB9-BED6-22DDBA874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02920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2625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rPr>
              <a:t>≥80%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EE45C4-8901-44DE-94F9-1F710A326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534025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1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correct routing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A67308-F21E-459D-8099-CECD819B4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02920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2625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rPr>
              <a:t>-20%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2BEAF9-AA53-4861-835C-CC6404E89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534025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1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repeat contacts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5BD647-9C68-46F2-A51F-7F28B0859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02920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2625" b="1">
                <a:solidFill>
                  <a:srgbClr val="569C8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569C8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569C81"/>
                </a:solidFill>
                <a:latin typeface="Helvetica Neue"/>
                <a:ea typeface="Helvetica Neue"/>
                <a:cs typeface="Helvetica Neue"/>
              </a:rPr>
              <a:t>100%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FDDACC-7116-4067-ADC0-534488F19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534025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1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content with owner and review date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E768B95-A625-40B7-AF29-61FD9AD12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9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Targets require institutional agreement. Current repeat-contact and routing baselines remain to be measured.</a:t>
            </a:r>
          </a:p>
        </p:txBody>
      </p:sp>
    </p:spTree>
    <p:extLst>
      <p:ext uri="{BB962C8B-B14F-4D97-AF65-F5344CB8AC3E}">
        <p14:creationId xmlns:p14="http://schemas.microsoft.com/office/powerpoint/2010/main" val="5642871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B0A794-D109-4F49-93CC-5F4329F2B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ACTIVITY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8FB7A4-2372-440E-8D6A-BF342FA4E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096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MVP scope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DB690A-47D6-4741-AF58-07938AC63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14425"/>
            <a:ext cx="11096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The first test focuses on guidance and routing, with no live record changes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5B2DCA-5CEC-4A11-985F-5C1A823AE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0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B746DB-D9B7-4F4F-834B-C89F37686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37B0F9-C251-4CE6-B1E2-5F6CB49F2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050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rPr>
              <a:t>RISKIEST ASSUMPTION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2C950A-82E5-4007-9EA2-05A704212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5740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202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VNUK can turn dispersed email knowledge into approved guidance that staff can maintain.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4C027F-4F9A-4A30-B332-350A416BE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975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TARGET USERS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AC8838-ED45-4B79-9E0A-15E63541C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14675"/>
            <a:ext cx="504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35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10 CSE, 10 IBM and 10 BMS students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6562F9-7C96-4E5C-B234-F1574156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24275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DC5B24-BB67-4E4F-B231-39403BEAA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575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975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rPr>
              <a:t>JOURNEY SLICE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AB5607-72D0-41D5-8C4D-08C86147F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14675"/>
            <a:ext cx="504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35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Select request, see procedure, prepare request, reach the right unit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28C5B5-B622-48D1-AC50-C1DF032F0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24275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54D7EF-282D-460E-983A-B1A6BC451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290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975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rPr>
              <a:t>MVP PATTERN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BF1079-8AA9-4363-B133-C3B04EDC8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86225"/>
            <a:ext cx="504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35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HTML Wizard of Oz plus a process pilot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0215EA-7E4F-4D6C-8458-B91D8584E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95825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03705E-5E79-4FC7-9086-F4152E8B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290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975" b="1">
                <a:solidFill>
                  <a:srgbClr val="569C8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569C8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69C81"/>
                </a:solidFill>
                <a:latin typeface="Helvetica Neue"/>
                <a:ea typeface="Helvetica Neue"/>
                <a:cs typeface="Helvetica Neue"/>
              </a:rPr>
              <a:t>MINIMUM SCOPE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7C409E-FCB1-432B-B610-514FC1BF3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86225"/>
            <a:ext cx="504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35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Request categories, checklists, contacts, escalation and basic analytics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688EB0-2753-44A5-8001-FEA33483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95825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8E7A8B-905A-4662-97D6-CC435CA36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006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975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rPr>
              <a:t>EVIDENCE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C5A8B8-9DDF-4BC0-B3B6-4D3E3CA98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57775"/>
            <a:ext cx="504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35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Accuracy, routing, follow-up, task completion and staff effort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129670-26AF-45EF-8D58-7CC93CABD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67375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D15415-6A71-477E-AB53-20D4E1F2D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006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975" b="1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EXCLUSIONS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E06A94-E0EB-4A4D-A781-867DCF4B0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057775"/>
            <a:ext cx="504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35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Live EMS changes, grades, tuition calculation and automated eligibility decisions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AF4DF1-2D43-4A4B-BAB6-455A169DC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667375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078338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2128A3-84BE-4C91-889C-4C68E8BC9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ACTIVITY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013EEB-F554-4BC0-87AC-A24C31913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096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MVP evidence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A2DC1B-E584-4D4B-B682-C64BFD494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14425"/>
            <a:ext cx="11096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The pilot combines a balanced student sample with three decision gates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7FC19F-158D-49DC-B012-727F05DFF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0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934E62-6C7A-4FB9-87D9-D1FE038E1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A0BDCE0D-8362-4170-A6AD-0F4A96B5D5C9}"/>
              </a:ext>
            </a:extLst>
          </p:cNvPr>
          <p:cNvGraphicFramePr/>
          <p:nvPr/>
        </p:nvGraphicFramePr>
        <p:xfrm>
          <a:off xmlns:a="http://schemas.openxmlformats.org/drawingml/2006/main" x="476250" y="1714500"/>
          <a:ext xmlns:a="http://schemas.openxmlformats.org/drawingml/2006/main" cx="3714750" cy="3476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ab1918b17184c1f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4790EC-4D4D-4797-A385-C3BF12DA5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06730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9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30 students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73DA64-070F-4CF0-857C-96AC1A8BE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52625"/>
            <a:ext cx="64770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69C8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E4F2BD-86E6-4994-BED3-BA09264E8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143125"/>
            <a:ext cx="138112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569C81"/>
          </a:solidFill>
          <a:ln xmlns:a="http://schemas.openxmlformats.org/drawingml/2006/main" w="9525">
            <a:solidFill>
              <a:srgbClr val="569C8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F05DF0-E3FB-4763-8244-D6452B17F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162175"/>
            <a:ext cx="1228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CONTINUE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8EC0A7-F506-4E98-87A0-9ACF8003A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24075"/>
            <a:ext cx="428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57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Targets met and staff can maintain the service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971E63-2B72-4691-BE28-5F16238B1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09925"/>
            <a:ext cx="64770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37A2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FF4777-14A4-437C-8BC3-C6C11AE55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400425"/>
            <a:ext cx="138112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C37A25"/>
          </a:solidFill>
          <a:ln xmlns:a="http://schemas.openxmlformats.org/drawingml/2006/main" w="9525">
            <a:solidFill>
              <a:srgbClr val="C37A2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BA9013-9534-4B76-84D4-6E991704F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419475"/>
            <a:ext cx="1228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ADAPT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B8BC2F-AC5A-4F58-BA31-313F935D8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81375"/>
            <a:ext cx="428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57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Value appears, but workflow or quality needs work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DF6053-9D7C-4760-B750-88A27D6F7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467225"/>
            <a:ext cx="64770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153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E7D04E-C7B7-4F22-B974-0CA2046D8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657725"/>
            <a:ext cx="138112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8E1537"/>
          </a:solidFill>
          <a:ln xmlns:a="http://schemas.openxmlformats.org/drawingml/2006/main" w="9525">
            <a:solidFill>
              <a:srgbClr val="8E153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01C550-334E-4FE9-A607-297D97B0F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4676775"/>
            <a:ext cx="1228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STOP AI LAYER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482E31-C190-495D-B679-45A6C2F9C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38675"/>
            <a:ext cx="428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57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A simpler hub performs as well with less risk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453E16-B290-42DC-BDD4-6B16ED3EC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810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3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Three-month pilot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2D51A9-2E1F-43A3-BAF0-FD98EF3BB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943600"/>
            <a:ext cx="4381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8A"/>
          </a:solidFill>
          <a:ln xmlns:a="http://schemas.openxmlformats.org/drawingml/2006/main" w="9525">
            <a:solidFill>
              <a:srgbClr val="16878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C93D6E-67B3-4ED7-B41F-E06701D05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115050"/>
            <a:ext cx="600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05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Month 1  Baseline and content     Month 2  Guided use     Month 3  Compare outcomes</a:t>
            </a:r>
          </a:p>
        </p:txBody>
      </p:sp>
    </p:spTree>
    <p:extLst>
      <p:ext uri="{BB962C8B-B14F-4D97-AF65-F5344CB8AC3E}">
        <p14:creationId xmlns:p14="http://schemas.microsoft.com/office/powerpoint/2010/main" val="19401747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7E22D6-D0A4-4001-99EA-71E35882A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ACTIVITY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836492-4820-4C4B-BB64-A1BEAEFC7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096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Ordered Product Backlog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47415D-CD92-4E59-AEAB-BD0480FCC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14425"/>
            <a:ext cx="11096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The first items establish trusted content before advanced automation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665084-9BF8-4D69-91B2-FDF9830A9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0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6C68E8-9C4F-4F69-90BF-C7759C199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F7CE83-42F7-4DA8-BC7B-72535385865A}"/>
              </a:ext>
            </a:extLst>
          </p:cNvPr>
          <p:cNvGraphicFramePr/>
          <p:nvPr/>
        </p:nvGraphicFramePr>
        <p:xfrm>
          <a:off xmlns:a="http://schemas.openxmlformats.org/drawingml/2006/main" x="533400" y="1666875"/>
          <a:ext xmlns:a="http://schemas.openxmlformats.org/drawingml/2006/main" cx="11125200" cy="4476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62000"/>
                <a:gridCol w="5286375"/>
                <a:gridCol w="2000250"/>
                <a:gridCol w="3076575"/>
              </a:tblGrid>
              <a:tr h="4191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Rank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7"/>
                      </a:solidFill>
                      <a:prstDash val="solid"/>
                    </a:lnL>
                    <a:lnR w="9525">
                      <a:solidFill>
                        <a:srgbClr val="D8E1E7"/>
                      </a:solidFill>
                      <a:prstDash val="solid"/>
                    </a:lnR>
                    <a:lnT w="9525">
                      <a:solidFill>
                        <a:srgbClr val="D8E1E7"/>
                      </a:solidFill>
                      <a:prstDash val="solid"/>
                    </a:lnT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1834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Backlog item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T w="9525">
                      <a:solidFill>
                        <a:srgbClr val="D8E1E7"/>
                      </a:solidFill>
                      <a:prstDash val="solid"/>
                    </a:lnT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1834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Type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T w="9525">
                      <a:solidFill>
                        <a:srgbClr val="D8E1E7"/>
                      </a:solidFill>
                      <a:prstDash val="solid"/>
                    </a:lnT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1834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Why now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T w="9525">
                      <a:solidFill>
                        <a:srgbClr val="D8E1E7"/>
                      </a:solidFill>
                      <a:prstDash val="solid"/>
                    </a:lnT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183449"/>
                    </a:solidFill>
                  </a:tcPr>
                </a:tc>
              </a:tr>
              <a:tr h="33813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7"/>
                      </a:solidFill>
                      <a:prstDash val="solid"/>
                    </a:lnL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Approved content model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Control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Foundation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813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7"/>
                      </a:solidFill>
                      <a:prstDash val="solid"/>
                    </a:lnL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Programme and request context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User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Relevance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</a:tr>
              <a:tr h="33813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7"/>
                      </a:solidFill>
                      <a:prstDash val="solid"/>
                    </a:lnL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Procedure and next-step checklist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User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Core value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813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7"/>
                      </a:solidFill>
                      <a:prstDash val="solid"/>
                    </a:lnL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Correct department and contact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User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Routing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</a:tr>
              <a:tr h="33813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7"/>
                      </a:solidFill>
                      <a:prstDash val="solid"/>
                    </a:lnL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Safe escalation and case owner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Control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Risk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813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7"/>
                      </a:solidFill>
                      <a:prstDash val="solid"/>
                    </a:lnL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Structured request template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User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Completion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</a:tr>
              <a:tr h="33813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7"/>
                      </a:solidFill>
                      <a:prstDash val="solid"/>
                    </a:lnL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Content expiry and review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Control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Currency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813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7"/>
                      </a:solidFill>
                      <a:prstDash val="solid"/>
                    </a:lnL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Accuracy test set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Discovery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Learning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</a:tr>
              <a:tr h="33813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7"/>
                      </a:solidFill>
                      <a:prstDash val="solid"/>
                    </a:lnL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Request analytics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Technical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Measurement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813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7"/>
                      </a:solidFill>
                      <a:prstDash val="solid"/>
                    </a:lnL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Case status visibility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User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Less follow-up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</a:tr>
              <a:tr h="33813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7"/>
                      </a:solidFill>
                      <a:prstDash val="solid"/>
                    </a:lnL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Privacy and retention controls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Control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Integrity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813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7"/>
                      </a:solidFill>
                      <a:prstDash val="solid"/>
                    </a:lnL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Conversational AI layer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Technical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Later option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169456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DD2326-52AB-4D7B-9A81-2245E53BA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ACTIVITY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16D7C2-E34B-4093-9E8F-BFE9A5927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096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Acceptance criteria for the top four items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2C65C2-431F-4E88-AF32-4061D8BD6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14425"/>
            <a:ext cx="11096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Each item has an observable normal flow and a clear safety boundary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C476D4-B8F5-4A78-A127-453733F0D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0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3143AC-B045-4ADB-B929-2B667DCFB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046586-F851-4D4E-B4BA-CFCD5FE13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2381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8A"/>
          </a:solidFill>
          <a:ln xmlns:a="http://schemas.openxmlformats.org/drawingml/2006/main" w="9525">
            <a:solidFill>
              <a:srgbClr val="16878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24F3E3-04EF-441C-BA9A-B7591CFB9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193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42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01  Approved content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275A42-46F7-4900-912C-103D2EC0D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19375"/>
            <a:ext cx="2381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GIVEN a guidance item is proposed</a:t>
            </a:r>
          </a:p>
          <a:p xmlns:a="http://schemas.openxmlformats.org/drawingml/2006/main">
            <a: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WHEN staff publish it</a:t>
            </a:r>
          </a:p>
          <a:p xmlns:a="http://schemas.openxmlformats.org/drawingml/2006/main">
            <a: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THEN it has a source, owner, programme and review date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ED4217-2655-4AA7-BFD4-D99A1614E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809750"/>
            <a:ext cx="2381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58B"/>
          </a:solidFill>
          <a:ln xmlns:a="http://schemas.openxmlformats.org/drawingml/2006/main" w="9525">
            <a:solidFill>
              <a:srgbClr val="35458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BDE741-993D-49B9-AAFC-47BB1BFD8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0193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42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02  Request context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A0EC0A-3D5C-488F-B2C4-0DCFEEF3E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19375"/>
            <a:ext cx="2381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GIVEN a student starts a request</a:t>
            </a:r>
          </a:p>
          <a:p xmlns:a="http://schemas.openxmlformats.org/drawingml/2006/main">
            <a: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WHEN programme and category are selected</a:t>
            </a:r>
          </a:p>
          <a:p xmlns:a="http://schemas.openxmlformats.org/drawingml/2006/main">
            <a: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THEN only applicable guidance appears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5CC214-A44F-4202-8D73-943D6C755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2381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7A25"/>
          </a:solidFill>
          <a:ln xmlns:a="http://schemas.openxmlformats.org/drawingml/2006/main" w="9525">
            <a:solidFill>
              <a:srgbClr val="C37A2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C219DE-FFD8-4715-BD21-574FFBC84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193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42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03  Procedure checklist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BD457F-1924-4D25-878F-20BAA2EEE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19375"/>
            <a:ext cx="2381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GIVEN approved guidance matches</a:t>
            </a:r>
          </a:p>
          <a:p xmlns:a="http://schemas.openxmlformats.org/drawingml/2006/main">
            <a: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WHEN the student opens the result</a:t>
            </a:r>
          </a:p>
          <a:p xmlns:a="http://schemas.openxmlformats.org/drawingml/2006/main">
            <a: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THEN required steps and documents are visible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307F1C-32BE-4AEB-A512-05DEE1B67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809750"/>
            <a:ext cx="2381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1537"/>
          </a:solidFill>
          <a:ln xmlns:a="http://schemas.openxmlformats.org/drawingml/2006/main" w="9525">
            <a:solidFill>
              <a:srgbClr val="8E153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E007F0-230B-497F-A97C-EE51300A5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0193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42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04  Correct routing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3A335A-C6DC-423C-8240-EF9E80EB6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619375"/>
            <a:ext cx="2381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GIVEN the case needs staff help</a:t>
            </a:r>
          </a:p>
          <a:p xmlns:a="http://schemas.openxmlformats.org/drawingml/2006/main">
            <a: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WHEN the student submits it</a:t>
            </a:r>
          </a:p>
          <a:p xmlns:a="http://schemas.openxmlformats.org/drawingml/2006/main">
            <a: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THEN the responsible unit and expected response are shown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F50338-80C3-4D8D-B07C-CDD3A9CB2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11125200" cy="733425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EAF2F3"/>
          </a:solidFill>
          <a:ln xmlns:a="http://schemas.openxmlformats.org/drawingml/2006/main" w="9525">
            <a:solidFill>
              <a:srgbClr val="16878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37BDC9-45B9-4C09-8FFD-5BA1B3C37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1857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Shared safety rule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6F2EEE-B0D8-4476-B051-205CE6C5F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314950"/>
            <a:ext cx="8715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50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If approved guidance is missing or conflicting, the product stops and routes the request to staff. It does not infer an academic or financial decision.</a:t>
            </a:r>
          </a:p>
        </p:txBody>
      </p:sp>
    </p:spTree>
    <p:extLst>
      <p:ext uri="{BB962C8B-B14F-4D97-AF65-F5344CB8AC3E}">
        <p14:creationId xmlns:p14="http://schemas.microsoft.com/office/powerpoint/2010/main" val="124684794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B22BB1-B253-4AA6-B514-9ED769B81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ACTIVITY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6D66BC-1F5E-4E97-93C8-313D42DA4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096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Sprint Goal and two-week forecast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586772-B862-475D-B69E-8C02E7DA7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14425"/>
            <a:ext cx="11096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The first Sprint creates a usable guidance and routing slice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1A8060-6FBD-4CD5-AC93-BA53B955D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0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14166B-B83C-4A64-82F3-BE5FF07BD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B5BA89-BB78-4F76-A395-455B78E18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11252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878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879CD4-BA2D-4DB3-8D71-63D39564A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SPRINT GOAL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44F1E0-6FA7-4D82-AAFC-2F167FA61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724025"/>
            <a:ext cx="8810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72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A student selects a request, sees a verified procedure and reaches the responsible unit when staff help is required.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B7A1A2-A9D8-4F54-9637-BF639AC97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86100"/>
            <a:ext cx="1905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449"/>
          </a:solidFill>
          <a:ln xmlns:a="http://schemas.openxmlformats.org/drawingml/2006/main" w="9525">
            <a:solidFill>
              <a:srgbClr val="18344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8439FE-85A9-466F-92D1-8DFE2B2C1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861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0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DAYS 1-2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61F316-4DA4-4BC5-8FAC-20C25B311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09975"/>
            <a:ext cx="1952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Audit enquiries</a:t>
            </a:r>
          </a:p>
          <a:p xmlns:a="http://schemas.openxmlformats.org/drawingml/2006/main">
            <a:pPr>
              <a:def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and confirm taxonomy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F66992-464F-43C9-B056-72B4D3423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86100"/>
            <a:ext cx="1905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8A"/>
          </a:solidFill>
          <a:ln xmlns:a="http://schemas.openxmlformats.org/drawingml/2006/main" w="9525">
            <a:solidFill>
              <a:srgbClr val="16878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57A954-4E6A-4EE6-9AF7-81795F902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861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DAYS 3-4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A95C9C-DA92-4CEA-B3B8-DFDCF5FC2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609975"/>
            <a:ext cx="1952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Structure guidance</a:t>
            </a:r>
          </a:p>
          <a:p xmlns:a="http://schemas.openxmlformats.org/drawingml/2006/main">
            <a:pPr>
              <a:def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and content ownership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C183CE-6D8A-4F42-B06E-425176838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86100"/>
            <a:ext cx="1905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58B"/>
          </a:solidFill>
          <a:ln xmlns:a="http://schemas.openxmlformats.org/drawingml/2006/main" w="9525">
            <a:solidFill>
              <a:srgbClr val="35458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9BFAC7-9574-4DC2-8CA5-316F35C42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861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050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rPr>
              <a:t>DAYS 5-7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9C9349-E7E6-4D41-9F33-2F6D0F960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609975"/>
            <a:ext cx="1952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Build the HTML</a:t>
            </a:r>
          </a:p>
          <a:p xmlns:a="http://schemas.openxmlformats.org/drawingml/2006/main">
            <a:pPr>
              <a:def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guidance flow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A27D56-674C-487D-A46C-4A4185A74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086100"/>
            <a:ext cx="1905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7A25"/>
          </a:solidFill>
          <a:ln xmlns:a="http://schemas.openxmlformats.org/drawingml/2006/main" w="9525">
            <a:solidFill>
              <a:srgbClr val="C37A2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18B7F5-6361-4DF7-B027-7848B7193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2861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050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rPr>
              <a:t>DAYS 8-9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AAAB19-46D2-45B9-A0A7-BBB57082D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609975"/>
            <a:ext cx="1952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Run QA and</a:t>
            </a:r>
          </a:p>
          <a:p xmlns:a="http://schemas.openxmlformats.org/drawingml/2006/main">
            <a:pPr>
              <a:def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student usability tests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45C3E6-E45D-41E8-96A4-4A6654B5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086100"/>
            <a:ext cx="1905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1537"/>
          </a:solidFill>
          <a:ln xmlns:a="http://schemas.openxmlformats.org/drawingml/2006/main" w="9525">
            <a:solidFill>
              <a:srgbClr val="8E153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E6457E-E207-4E3A-A84D-FA873CF68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2861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050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rPr>
              <a:t>DAY 10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6AF8C4-CF00-4142-808F-543F2B210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609975"/>
            <a:ext cx="1952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Review evidence</a:t>
            </a:r>
          </a:p>
          <a:p xmlns:a="http://schemas.openxmlformats.org/drawingml/2006/main">
            <a:pPr>
              <a:def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and update backlog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AFCE37-23F2-4A66-A4C8-ACFFCC392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101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3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Selected backlog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77B54A-6B8F-41C7-A47D-C5426545E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53025"/>
            <a:ext cx="438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Items 1-5 plus the initial accuracy test set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F7F20F-1502-4D4E-B7B9-27BD24E11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101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3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Main dependencies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79AB80-189E-4E40-B189-427670419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53025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Approved procedures, staff reviewers and access to de-identified enquiry patterns</a:t>
            </a:r>
          </a:p>
        </p:txBody>
      </p:sp>
    </p:spTree>
    <p:extLst>
      <p:ext uri="{BB962C8B-B14F-4D97-AF65-F5344CB8AC3E}">
        <p14:creationId xmlns:p14="http://schemas.microsoft.com/office/powerpoint/2010/main" val="129060344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FD9082-57CA-4978-9A8B-74BBC67C5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ACTIVITY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85EA86-9EBF-4F74-8478-A722513A7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096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Sprint capacity and roles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5605F1-4E31-44EE-8F92-829D8BE7B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14425"/>
            <a:ext cx="11096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Four members contribute 40 hours each across a 160-hour forecast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498E74-C648-4410-8691-D836E4BEC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0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11B573-242E-47B4-9FF5-FDF0E0FD3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7B6FD4FF-3CE3-4FE0-9BCF-91B539F35DF2}"/>
              </a:ext>
            </a:extLst>
          </p:cNvPr>
          <p:cNvGraphicFramePr/>
          <p:nvPr/>
        </p:nvGraphicFramePr>
        <p:xfrm>
          <a:off xmlns:a="http://schemas.openxmlformats.org/drawingml/2006/main" x="523875" y="1762125"/>
          <a:ext xmlns:a="http://schemas.openxmlformats.org/drawingml/2006/main" cx="5572125" cy="3571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b54e8c7f2cb4dd6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11D491-E8A0-4A13-BA28-563D27920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90700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337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160 hours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7EDC7F-8162-4619-A883-EA778C172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622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5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4 people × 10 working days × 4 hours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D513B6-06D1-4970-96F0-D4F2125DC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861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275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Product analytics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6349AA-960F-43AA-A42E-BCCDB021C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086100"/>
            <a:ext cx="2714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Usage audit, enquiry categories and evidence log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254B53-42D8-4EE3-9FDD-D6785C5AF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590925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94FB3D-0A3A-480C-98E5-27CBCDA11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7433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275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rPr>
              <a:t>Development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7BEF44-C522-49D7-A6BA-DFA2C108D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743325"/>
            <a:ext cx="2714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HTML prototype and technical delivery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FD5964-0D5A-46A2-BED4-62B865B38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24815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C8D6D8-70AC-457C-827B-3073E5AB0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005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275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rPr>
              <a:t>QA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26D747-7F72-44C6-A15F-C55B8DEDC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400550"/>
            <a:ext cx="2714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Acceptance testing and user-flow improvement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06435A-308A-43EE-9104-FC41F561A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905375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F8E2E8-DA48-44B7-8752-DBA744506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05777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275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rPr>
              <a:t>Content and L&amp;D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569F01-E8B0-4BCF-8FEA-2714AB2C7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5057775"/>
            <a:ext cx="2714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Knowledge inputs and onboarding material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456759-4987-44D6-B482-F3BA83187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56260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DB4F12-6F50-4294-B38B-FE021BDEE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8674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05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Forecast risk: staff review or missing procedures may reduce the number of finished backlog items.</a:t>
            </a:r>
          </a:p>
        </p:txBody>
      </p:sp>
    </p:spTree>
    <p:extLst>
      <p:ext uri="{BB962C8B-B14F-4D97-AF65-F5344CB8AC3E}">
        <p14:creationId xmlns:p14="http://schemas.microsoft.com/office/powerpoint/2010/main" val="100112959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5F6D2E6-69BD-4271-B2EF-31B883E5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CHECKPOINT SUMMARY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FC7892-4F13-47B8-99E5-1C8698867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096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Five activities produce one testable product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8A1FF9-4EB7-41AB-A082-4DE6AAA8B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14425"/>
            <a:ext cx="11096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The team enters the pilot with explicit ownership, evidence needs and decision rules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249F58-2734-44E8-A86F-02389F71F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0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B62165-DCD5-4829-9A99-6D33FABA7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5802B2-62F9-430D-A91A-3EB0E4E05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270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1BF0C6-D387-47E1-B232-02A7F9DAE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819275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97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PRODUCT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DA2E07-325F-4928-B70E-8599E07E0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133600"/>
            <a:ext cx="1476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350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Continuing support service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B201A1-31DF-4947-BDD4-EB97656C3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076450"/>
            <a:ext cx="238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BFDAD1-475F-453F-87FE-450CB1C5D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809750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270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DF9213-89A5-41B1-B067-A47A11AB8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819275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975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GOAL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DD2503-9A20-472B-B1DE-2A5527610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133600"/>
            <a:ext cx="1476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350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Better completion with less follow-up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208CE7-1CFC-4591-8C82-A42265D25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076450"/>
            <a:ext cx="238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81EA7F-73F7-4EC6-A9EF-C45C45501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09750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2700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E5B10C-0B66-45C5-9BB5-466936A84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819275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975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rPr>
              <a:t>MVP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5E80EF-BE51-47E2-8D23-90C8B14C3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133600"/>
            <a:ext cx="1476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350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30 students, three programmes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B2595D-AC2D-442C-987E-D9FB87C07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076450"/>
            <a:ext cx="238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1ED310-8063-426E-8ECC-AFC61DFCC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809750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2700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04DD2B-01E6-4B2A-997F-4163531A2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819275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975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rPr>
              <a:t>BACKLOG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E8E282-038D-4057-845C-337A12757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133600"/>
            <a:ext cx="1476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350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Trusted content before AI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44D878-2AFC-4F75-A559-46EF772EF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076450"/>
            <a:ext cx="238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03AE81-F95D-41C7-9AF3-F91D42EE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809750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2700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47C539-785B-439D-86B9-A236A5603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819275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975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rPr>
              <a:t>SPRINT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5A734F-B2E9-492A-AF23-F62D5F198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133600"/>
            <a:ext cx="1476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350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160-hour two-week forecast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8A150A-6D75-4740-A277-AF882F053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81375"/>
            <a:ext cx="111252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4A80E9-AB66-4381-B1F7-40FFF3791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90925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050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rPr>
              <a:t>DECISION REQUEST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C1DCC2-D0C7-42B6-AD40-A8BAFA5A4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3382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9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Approve a three-month HTML pilot that measures demand, routing quality, repeat contact and staff effort before any investment in live integration or autonomous AI.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1AD1B7-4283-44F5-A06F-1BF0C8DCA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95875"/>
            <a:ext cx="12858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569C81"/>
          </a:solidFill>
          <a:ln xmlns:a="http://schemas.openxmlformats.org/drawingml/2006/main" w="9525">
            <a:solidFill>
              <a:srgbClr val="569C8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34206E-3D7E-46E2-B464-8F2DADF0F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114925"/>
            <a:ext cx="11334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CONTINUE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E213BFF-2B27-44A0-98C8-D72E93D6D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04825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27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Evidence thresholds met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0A6589-0A3E-4F47-9B08-D6F87B4B1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095875"/>
            <a:ext cx="12858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C37A25"/>
          </a:solidFill>
          <a:ln xmlns:a="http://schemas.openxmlformats.org/drawingml/2006/main" w="9525">
            <a:solidFill>
              <a:srgbClr val="C37A2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2C382D1-D132-46C7-903B-480BF0407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5114925"/>
            <a:ext cx="11334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ADAPT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177DD3D-469B-4625-8326-7CF3BA38B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504825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27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Workflow or content needs repair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B637054-7CEE-482C-B902-1B3D32AC2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095875"/>
            <a:ext cx="12858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8E1537"/>
          </a:solidFill>
          <a:ln xmlns:a="http://schemas.openxmlformats.org/drawingml/2006/main" w="9525">
            <a:solidFill>
              <a:srgbClr val="8E153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4A24D5E-CF7B-4804-B42D-0F136D8E0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5114925"/>
            <a:ext cx="11334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STOP AI LAYER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FD1D706-92C9-4D73-94A8-D191A9B07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04825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27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Simpler guidance hub performs as well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9F2673E-4770-477F-8EDB-53AADD257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00750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05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Next evidence: weekly enquiry volume, routing baseline, repeat-contact baseline and staff handling time.</a:t>
            </a:r>
          </a:p>
        </p:txBody>
      </p:sp>
    </p:spTree>
    <p:extLst>
      <p:ext uri="{BB962C8B-B14F-4D97-AF65-F5344CB8AC3E}">
        <p14:creationId xmlns:p14="http://schemas.microsoft.com/office/powerpoint/2010/main" val="8744088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2026-10-14T06:19:16.6980000Z</dcterms:created>
  <dcterms:modified xsi:type="dcterms:W3CDTF">2026-10-14T06:19:16.6980000Z</dcterms:modified>
</coreProperties>
</file>