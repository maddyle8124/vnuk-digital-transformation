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0748e1963f4363" /><Relationship Type="http://schemas.openxmlformats.org/officeDocument/2006/relationships/extended-properties" Target="/docProps/app.xml" Id="Rc92977913c0241a8" /><Relationship Type="http://schemas.openxmlformats.org/officeDocument/2006/relationships/officeDocument" Target="/ppt/presentation.xml" Id="Rff238407b5c8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94cfad9e8401b"/>
  </p:sldMasterIdLst>
  <p:notesMasterIdLst>
    <p:notesMasterId xmlns:r="http://schemas.openxmlformats.org/officeDocument/2006/relationships" r:id="Ra08d13e3b2cd4176"/>
  </p:notesMasterIdLst>
  <p:sldIdLst>
    <p:sldId xmlns:r="http://schemas.openxmlformats.org/officeDocument/2006/relationships" id="256" r:id="R125fd182a46c415e"/>
    <p:sldId xmlns:r="http://schemas.openxmlformats.org/officeDocument/2006/relationships" id="257" r:id="R1de6743a7b764abf"/>
    <p:sldId xmlns:r="http://schemas.openxmlformats.org/officeDocument/2006/relationships" id="258" r:id="R473fa84218414bb8"/>
    <p:sldId xmlns:r="http://schemas.openxmlformats.org/officeDocument/2006/relationships" id="259" r:id="R7307b289719044ab"/>
    <p:sldId xmlns:r="http://schemas.openxmlformats.org/officeDocument/2006/relationships" id="260" r:id="Rdfaca5777b734f97"/>
    <p:sldId xmlns:r="http://schemas.openxmlformats.org/officeDocument/2006/relationships" id="261" r:id="Rf0109bdd5bf34357"/>
    <p:sldId xmlns:r="http://schemas.openxmlformats.org/officeDocument/2006/relationships" id="262" r:id="R5b213828d0084ba3"/>
    <p:sldId xmlns:r="http://schemas.openxmlformats.org/officeDocument/2006/relationships" id="263" r:id="Rd029cca580ff474f"/>
    <p:sldId xmlns:r="http://schemas.openxmlformats.org/officeDocument/2006/relationships" id="264" r:id="Rbbb19c92e03f489b"/>
    <p:sldId xmlns:r="http://schemas.openxmlformats.org/officeDocument/2006/relationships" id="265" r:id="R648467d1b5524763"/>
    <p:sldId xmlns:r="http://schemas.openxmlformats.org/officeDocument/2006/relationships" id="266" r:id="Ra8a1eed833c348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c744281a1445b" /><Relationship Type="http://schemas.openxmlformats.org/officeDocument/2006/relationships/slideMaster" Target="/ppt/slideMasters/slideMaster1.xml" Id="R91e94cfad9e8401b" /><Relationship Type="http://schemas.openxmlformats.org/officeDocument/2006/relationships/notesMaster" Target="/ppt/notesMasters/notesMaster1.xml" Id="Ra08d13e3b2cd4176" /><Relationship Type="http://schemas.openxmlformats.org/officeDocument/2006/relationships/presProps" Target="/ppt/presProps.xml" Id="R5a90daeaf35a41d0" /><Relationship Type="http://schemas.openxmlformats.org/officeDocument/2006/relationships/tableStyles" Target="/ppt/tableStyles.xml" Id="R5abf5a55ad9546af" /><Relationship Type="http://schemas.openxmlformats.org/officeDocument/2006/relationships/slide" Target="/ppt/slides/slide1.xml" Id="R125fd182a46c415e" /><Relationship Type="http://schemas.openxmlformats.org/officeDocument/2006/relationships/slide" Target="/ppt/slides/slide2.xml" Id="R1de6743a7b764abf" /><Relationship Type="http://schemas.openxmlformats.org/officeDocument/2006/relationships/slide" Target="/ppt/slides/slide3.xml" Id="R473fa84218414bb8" /><Relationship Type="http://schemas.openxmlformats.org/officeDocument/2006/relationships/slide" Target="/ppt/slides/slide4.xml" Id="R7307b289719044ab" /><Relationship Type="http://schemas.openxmlformats.org/officeDocument/2006/relationships/slide" Target="/ppt/slides/slide5.xml" Id="Rdfaca5777b734f97" /><Relationship Type="http://schemas.openxmlformats.org/officeDocument/2006/relationships/slide" Target="/ppt/slides/slide6.xml" Id="Rf0109bdd5bf34357" /><Relationship Type="http://schemas.openxmlformats.org/officeDocument/2006/relationships/slide" Target="/ppt/slides/slide7.xml" Id="R5b213828d0084ba3" /><Relationship Type="http://schemas.openxmlformats.org/officeDocument/2006/relationships/slide" Target="/ppt/slides/slide8.xml" Id="Rd029cca580ff474f" /><Relationship Type="http://schemas.openxmlformats.org/officeDocument/2006/relationships/slide" Target="/ppt/slides/slide9.xml" Id="Rbbb19c92e03f489b" /><Relationship Type="http://schemas.openxmlformats.org/officeDocument/2006/relationships/slide" Target="/ppt/slides/slide10.xml" Id="R648467d1b5524763" /><Relationship Type="http://schemas.openxmlformats.org/officeDocument/2006/relationships/slide" Target="/ppt/slides/slide11.xml" Id="Ra8a1eed833c348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a56482f22641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6bbeca04c24289" /><Relationship Type="http://schemas.openxmlformats.org/officeDocument/2006/relationships/notesMaster" Target="/ppt/notesMasters/notesMaster1.xml" Id="R896620ce768b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cf86c29ec74ee1" /><Relationship Type="http://schemas.openxmlformats.org/officeDocument/2006/relationships/notesMaster" Target="/ppt/notesMasters/notesMaster1.xml" Id="Rfdb5fd6bdb4541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74e83c0f04e7f" /><Relationship Type="http://schemas.openxmlformats.org/officeDocument/2006/relationships/notesMaster" Target="/ppt/notesMasters/notesMaster1.xml" Id="R4834f574bfa9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ebe0007414c76" /><Relationship Type="http://schemas.openxmlformats.org/officeDocument/2006/relationships/notesMaster" Target="/ppt/notesMasters/notesMaster1.xml" Id="Rb7d1daca27bd46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f32c9480e445d" /><Relationship Type="http://schemas.openxmlformats.org/officeDocument/2006/relationships/notesMaster" Target="/ppt/notesMasters/notesMaster1.xml" Id="R4c70d71bf4e747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ea1317f2264e37" /><Relationship Type="http://schemas.openxmlformats.org/officeDocument/2006/relationships/notesMaster" Target="/ppt/notesMasters/notesMaster1.xml" Id="R1e39d926d52442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510e4f447443d6" /><Relationship Type="http://schemas.openxmlformats.org/officeDocument/2006/relationships/notesMaster" Target="/ppt/notesMasters/notesMaster1.xml" Id="R0c8c5c005eee44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89dcc561a4940" /><Relationship Type="http://schemas.openxmlformats.org/officeDocument/2006/relationships/notesMaster" Target="/ppt/notesMasters/notesMaster1.xml" Id="Rd2e8cef0576d4a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5cd907ee1e4708" /><Relationship Type="http://schemas.openxmlformats.org/officeDocument/2006/relationships/notesMaster" Target="/ppt/notesMasters/notesMaster1.xml" Id="R49a1e9861e8849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b5cbdbc31e4a93" /><Relationship Type="http://schemas.openxmlformats.org/officeDocument/2006/relationships/notesMaster" Target="/ppt/notesMasters/notesMaster1.xml" Id="Rdd55d0ac577448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e76e4495e34b9b" /><Relationship Type="http://schemas.openxmlformats.org/officeDocument/2006/relationships/notesMaster" Target="/ppt/notesMasters/notesMaster1.xml" Id="Rfe1897825b77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Introduce the Week 5 checkpoint. The long-term product serves all programmes, while the MVP uses a 30-student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product scope is university-wide, while the pilot remains deliberately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Contrast a temporary chatbot project with a continuing student-support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Read the goal once, then explain how the measures avoid treating launch as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riskiest assumption: VNUK can maintain reliable guidance and route requests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Show that the MVP produces evidence for a decision rather than a feature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top five using value, risk, learning and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Use the four examples to show that the backlog is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what the team can finish with 160 hours and which dependencies could reduce the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allocation creates ownership but does not prevent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Close by linking the five activities and asking for approval to validate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930f7e3bd41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15faafcdc48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ca4f8979647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e5f8e68dd49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c93873a3c45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9500c215f4c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CB79FB-5CCA-4B68-9C4A-A96DBA498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C1BEB1-4FF7-4468-9FE5-D2B7A74540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A5610E-0BE8-4026-AA5B-FEDAF75ED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462137-8DD0-4204-A1A6-BCBDB0243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A9D452-AB4C-49E3-A78F-B5A59E00C2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08F921-FC8B-427A-93BC-5702D2BD9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C40898-05D7-4667-BF14-C071FB050A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6D5D2B-557F-4A58-B200-6877F1517A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E1AE89-669C-4759-8640-E5268C53D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1AD2C0-A845-4003-959B-E4F5586D56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cee6027c664b78" /><Relationship Type="http://schemas.openxmlformats.org/officeDocument/2006/relationships/slideLayout" Target="/ppt/slideLayouts/slideLayout1.xml" Id="Rfe5b6a66f9774a69" /><Relationship Type="http://schemas.openxmlformats.org/officeDocument/2006/relationships/slideLayout" Target="/ppt/slideLayouts/slideLayout2.xml" Id="R521be5155fca4565" /><Relationship Type="http://schemas.openxmlformats.org/officeDocument/2006/relationships/slideLayout" Target="/ppt/slideLayouts/slideLayout3.xml" Id="R5db0300d7ffa46af" /><Relationship Type="http://schemas.openxmlformats.org/officeDocument/2006/relationships/slideLayout" Target="/ppt/slideLayouts/slideLayout4.xml" Id="R4e0f04e445604f9d" /><Relationship Type="http://schemas.openxmlformats.org/officeDocument/2006/relationships/slideLayout" Target="/ppt/slideLayouts/slideLayout5.xml" Id="Rab0abc0b4ea14785" /><Relationship Type="http://schemas.openxmlformats.org/officeDocument/2006/relationships/slideLayout" Target="/ppt/slideLayouts/slideLayout6.xml" Id="R5a939e13ac9145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b6a66f9774a69"/>
    <p:sldLayoutId xmlns:r="http://schemas.openxmlformats.org/officeDocument/2006/relationships" id="2147483650" r:id="R521be5155fca4565"/>
    <p:sldLayoutId xmlns:r="http://schemas.openxmlformats.org/officeDocument/2006/relationships" id="2147483651" r:id="R5db0300d7ffa46af"/>
    <p:sldLayoutId xmlns:r="http://schemas.openxmlformats.org/officeDocument/2006/relationships" id="2147483652" r:id="R4e0f04e445604f9d"/>
    <p:sldLayoutId xmlns:r="http://schemas.openxmlformats.org/officeDocument/2006/relationships" id="2147483653" r:id="Rab0abc0b4ea14785"/>
    <p:sldLayoutId xmlns:r="http://schemas.openxmlformats.org/officeDocument/2006/relationships" id="2147483654" r:id="R5a939e13ac9145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173b8a6214e41" /><Relationship Type="http://schemas.openxmlformats.org/officeDocument/2006/relationships/notesSlide" Target="/ppt/notesSlides/notesSlide1.xml" Id="R3c9a807c569d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00483089b4c3d" /><Relationship Type="http://schemas.openxmlformats.org/officeDocument/2006/relationships/chart" Target="/ppt/slides/charts/chart1.xml" Id="Rf54b4d76e8824a85" /><Relationship Type="http://schemas.openxmlformats.org/officeDocument/2006/relationships/notesSlide" Target="/ppt/notesSlides/notesSlide2.xml" Id="R27b9524118c4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d14e622b141f5" /><Relationship Type="http://schemas.openxmlformats.org/officeDocument/2006/relationships/notesSlide" Target="/ppt/notesSlides/notesSlide3.xml" Id="R16146e64f19840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cb7ffa5b34d94" /><Relationship Type="http://schemas.openxmlformats.org/officeDocument/2006/relationships/notesSlide" Target="/ppt/notesSlides/notesSlide4.xml" Id="R7592e7bc6c21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df2e73ae7483f" /><Relationship Type="http://schemas.openxmlformats.org/officeDocument/2006/relationships/notesSlide" Target="/ppt/notesSlides/notesSlide5.xml" Id="Rb30bcf32f29141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062c46a9844e9" /><Relationship Type="http://schemas.openxmlformats.org/officeDocument/2006/relationships/chart" Target="/ppt/slides/charts/chart2.xml" Id="Rf64d4543f3664853" /><Relationship Type="http://schemas.openxmlformats.org/officeDocument/2006/relationships/notesSlide" Target="/ppt/notesSlides/notesSlide6.xml" Id="Rb8637b6f9f1e46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6da052c7544b4" /><Relationship Type="http://schemas.openxmlformats.org/officeDocument/2006/relationships/notesSlide" Target="/ppt/notesSlides/notesSlide7.xml" Id="R0454416c732c4f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7929264e94411" /><Relationship Type="http://schemas.openxmlformats.org/officeDocument/2006/relationships/notesSlide" Target="/ppt/notesSlides/notesSlide8.xml" Id="Rb2c338555e464c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2328257254964" /><Relationship Type="http://schemas.openxmlformats.org/officeDocument/2006/relationships/notesSlide" Target="/ppt/notesSlides/notesSlide9.xml" Id="Rf6c6080439c94a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753aa8b9644a9" /><Relationship Type="http://schemas.openxmlformats.org/officeDocument/2006/relationships/chart" Target="/ppt/slides/charts/chart3.xml" Id="R6a3abaa460d745a2" /><Relationship Type="http://schemas.openxmlformats.org/officeDocument/2006/relationships/notesSlide" Target="/ppt/notesSlides/notesSlide10.xml" Id="R6700581f90ac47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7f6478834443a" /><Relationship Type="http://schemas.openxmlformats.org/officeDocument/2006/relationships/notesSlide" Target="/ppt/notesSlides/notesSlide11.xml" Id="R9a04b2c8273b43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demand index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Normal period</c:v>
                </c:pt>
                <c:pt idx="1">
                  <c:v>Peak period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Pilot students</c:v>
          </c:tx>
          <c:cat>
            <c:strRef>
              <c:f>'Chart Data'!$A$2:$A$4</c:f>
              <c:strCache>
                <c:ptCount val="3"/>
                <c:pt idx="0">
                  <c:v>CSE</c:v>
                </c:pt>
                <c:pt idx="1">
                  <c:v>IBM</c:v>
                </c:pt>
                <c:pt idx="2">
                  <c:v>BMS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Analytics and audit</c:v>
                </c:pt>
                <c:pt idx="1">
                  <c:v>Development</c:v>
                </c:pt>
                <c:pt idx="2">
                  <c:v>QA and user improvement</c:v>
                </c:pt>
                <c:pt idx="3">
                  <c:v>Content and learning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19A00-DBDE-4835-A1C6-1A5268D3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8C2A7-DBD5-4F59-82A1-1484FCD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DBB43005  DIGITAL INNOVATION AND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BD89C-80BA-4EC8-84C6-EC69E978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Agile Product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360D0-ADB2-44EB-BC76-18FD393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Week 5 activities applied to the VNUK Student Support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FB63-FA6A-4528-B8DD-D3BC9DAC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9F0E6-3D0D-47C8-93CC-811390CA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ACTIVITIES 1-5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9E3E9-EBD5-4044-A584-E5CCB942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Backlog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Sprint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3F756-4F85-49F8-99C4-894A2144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E0922-24ED-41B0-AF25-4431D9C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VNUK students in the long-term product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2F9BC-C9F0-415A-9983-0C20CAB9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FDE18-6882-4083-BA21-8AAFD3B9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in the proposed MVP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32E8B-68F6-45A8-AE01-A7059107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GROUP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44960-DA2D-4BCB-935B-B6AB691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Liu Yu Han, Le Nguyen Thanh Hang, Tamás Pieskó, Zsombi Mester</a:t>
            </a:r>
          </a:p>
        </p:txBody>
      </p:sp>
    </p:spTree>
    <p:extLst>
      <p:ext uri="{BB962C8B-B14F-4D97-AF65-F5344CB8AC3E}">
        <p14:creationId xmlns:p14="http://schemas.microsoft.com/office/powerpoint/2010/main" val="379040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1B2B0F-6758-44AD-B4F5-0F169F1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E0A5F-3DA8-46E8-AA3F-30A8DA0C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One university-wide product, tested with a small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9B334-D1A8-4DD0-AC4A-E50ED8B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Recorded evidence and team estimates define the first learning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5285D-0706-4807-BF1D-ED1E0BB7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DAF8-62FE-40C1-8FC7-4891658A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1731C-FBD6-4B8E-8C43-91931487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4E5E1-1615-40F6-8B7F-984FFE7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across IBM, BMS and CSE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8DBCA-01E9-41CD-B68A-052A7864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70-80%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B990E-22DF-494E-8C18-03E54E2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estimated rise in enquiries during peak periods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E0D0B-BBA4-4E93-A25D-F660B28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70BA4-A851-40BF-9028-8F466F7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usual administrative response expectation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69BAE-8CB4-47DC-A248-8175717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&gt;5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297BB-D1B0-4132-B50C-61F8E80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follow-up emails in some complex credit cases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E5064-8A9F-46BC-9FFF-8F033C0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BD9BE-B2E3-4280-B1BB-761194D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pilot students: 10 per programme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Product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28252-81BC-48B0-B7B7-CB6F696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Demand pattern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C22F8186-D07C-4FCF-B38A-A505D182FDCF}"/>
              </a:ext>
            </a:extLst>
          </p:cNvPr>
          <p:cNvGraphicFramePr/>
          <p:nvPr/>
        </p:nvGraphicFramePr>
        <p:xfrm>
          <a:off xmlns:a="http://schemas.openxmlformats.org/drawingml/2006/main" x="533400" y="4095750"/>
          <a:ext xmlns:a="http://schemas.openxmlformats.org/drawingml/2006/main" cx="5334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4b4d76e8824a85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02747-BF9A-40E5-A6D6-36B860A0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Index uses the midpoint of the estimated 70-80% uplift.</a:t>
            </a:r>
          </a:p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Absolute enquiries per week remain to be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D56DA-42C7-4F6C-A3EB-2DE89760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Priority request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E2C9B-54CE-4F95-834D-0982610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94E7D-5FE8-4B1C-B7CA-55A49109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Credit registration and class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50538-801A-495A-946C-B044A7C2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9CF4F-C73F-4CF2-8BFD-A459B67D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1B299-78E8-4A58-AF42-FAA79DF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Graduation and scholarship processes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8CF30-6878-4C50-9AEF-F6E7FA8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9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654D9-B529-4B54-BCD3-601EE67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FE468-E37D-47BF-BE14-B315D63D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Tuition, admission and enrolment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B22326-5910-429E-A809-BD64F9D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00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90228-08DB-4298-A4D3-2874A3E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3596A-BDB6-4ADC-ADB7-95BD5A5B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CSE project topics and supervisors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9E4CC-2100-4784-9D67-D84ABC76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6EE14-2EF3-4F60-81B1-AE291167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63915-34B6-4A79-AF7D-2109BEE3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19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department and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4E1E0D-89B3-4BCD-B103-71877DAA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62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9530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BDF240-F3BA-4516-8A6E-2B7D169C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1168C-43F0-42E8-B2D8-2D1D7726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The Student Support Hub as a digital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998FC-41B5-4CF2-9BD0-8B48F8C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Success depends on student outcomes and continuous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4B16-CB72-4028-A471-FAECA4F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67884-2AED-447D-AAC2-E83BB90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A26A1-F1B4-43D7-A626-AE27415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9D30-208D-4E37-899C-C63598A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940D3-1C2C-4F58-96B1-5A3E28B7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an HTML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45B63-6030-4A86-9FD9-F461B7B8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21877-2159-47DD-8FDC-679BE11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Deliver a fixed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E87D5-9723-46F8-8A7F-5442FEF8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BF5D4-F573-4BA1-93EB-36C8D452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Close after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DA04F-8809-4EED-BB2B-A2862B74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4634B-7223-4414-90F8-3B8479C4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time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8CD09-7071-4C37-9BA0-669EAC9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2C2EB-5C0A-4095-9C67-6B405F8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Improve task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719D3-F0EC-4FF1-8DDA-86C1CF13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08A7F-39A0-43FC-81CE-02B4A01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Adapt the backlog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A2675-8C6C-43B0-AE8E-3D9C0D1B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EC3E9-5A0D-4A52-9331-7E453F09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Continue while the need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3FE86-54D7-4FC7-80ED-CB092B75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8DEB1-7568-4F7C-836A-F40EFDFA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adoption and service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4CB64-6E57-45CB-A97E-2820117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65F18-968C-487D-8CC4-6B779F4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256BF-551B-4573-BD6E-4BCF997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1EB8B6-D187-445A-A5B4-B0C6ED8C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continuing VNUK service that helps students find the correct procedure, prepare a complete request and reach the responsible department.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413F83-B9BB-4564-931E-E4AC83DC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1B0E6-06E1-49CC-8525-B91DDFA5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72D97-8BC2-4C0D-BD07-CCA2803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IBM, BMS and CSE students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94C744-6472-4B18-BDCE-D21556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F8C44-86F9-419B-B4F1-B276B791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5A8E56-D2A5-410E-9BF8-317BEA1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Guidance, routing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8CCE9-79A6-43F5-BD60-54F89C57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DD5E1C-E17C-46FD-A04C-6BB1EA34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0EECF-3DF5-4B34-BBDC-0D27228B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Administration with IT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23FC6-D507-450F-8134-B4CAE9E3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4B7EFB-B6DD-498B-A63B-832211D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B9BC8-FCEE-4FE2-B3F2-7A236615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completion with less follow-up</a:t>
            </a:r>
          </a:p>
        </p:txBody>
      </p:sp>
    </p:spTree>
    <p:extLst>
      <p:ext uri="{BB962C8B-B14F-4D97-AF65-F5344CB8AC3E}">
        <p14:creationId xmlns:p14="http://schemas.microsoft.com/office/powerpoint/2010/main" val="684093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CCF14-C6DD-4843-9157-2DDEE45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25F5E-EC43-4FBA-AC56-195DC4C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BF8A4-D970-4EF3-AFBB-ADD7E20B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 four-part goal connects the user need to measurable pilot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0B7A3-700D-4F94-A330-EA83E97C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BBE3C-7170-45BB-A2B6-313D37E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56A8D-92DD-4B8B-8D3E-C21D3872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A0829-97C4-462E-9D69-6B0EB67E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816C3-EC99-47FE-8E61-176F91B2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students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across IBM, BMS and CSE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E23EE-A469-48B3-B664-7DF8E03E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23DA2-17A6-460B-972D-1909CA2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7944E-70FC-479E-98AA-21B1A81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Access to correct procedures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responsible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8509E-0412-4D59-8EFC-43BB4B48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BY ENABLING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4AF6E-FB07-4339-80D2-2D0CF79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1E53C-9CFD-45E6-A751-D5F57A38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Central guidance, checklists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structured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8C2CA-6C65-49A4-9084-3781F37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0E651-E306-4BF3-A5C7-D9C31F3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A7E95-64BC-4E6C-ADE5-B302D7E4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three-month pilot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with 30 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AF2E4-7D40-4D71-82F6-22C36BE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D874D-EE93-4013-B613-3A57C35F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05C62-EF17-4020-9057-6A1588E4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Improve students’ ability to identify the correct procedure and complete the next action, while reducing avoidable follow-up and keeping staff effort sustainable.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D7947-3022-48AA-AA4D-9C01B7A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2F156-9EF7-4C43-865C-A4A93EA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54B69-A605-42D3-885F-4028AC49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D1933-C701-4377-BE82-AAA92D30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critical wrong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10D8B-1361-4597-94C4-0325130A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≥80%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76BA7-7C7E-41FD-AACA-03BDAA17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492CF-8709-4779-8BF5-93A11A27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-20%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E657B-8FAA-48EB-AD44-11F17C7D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repeat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C31C7-25E6-46B4-A03C-D6AB2D2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4E2B32-B76A-4027-B4B1-2676285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content with owner and review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DFC55-E05F-4F1C-9C0E-7BFF283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Targets require institutional agreement. Current repeat-contact and routing baselines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1246176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984B0-0BD9-42DA-8BB1-7E789E06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6FF81-A4F1-418D-8EB6-4AFE6CBE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88068-DE00-4D2F-B99D-3953ED67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test focuses on guidance and routing, with no live record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8BB3D-592B-4053-BCF1-02B09AD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3A6B8-32BC-4881-A4F4-2416FF3A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2CFAA-E62B-4EBF-9D2C-251B8E2A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RISKIEST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BEC21-B089-4654-BC45-609C194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can turn dispersed email knowledge into approved guidance that staff can maintain.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DE3E2-413E-48EA-ABF2-5235F77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91700-A748-4096-9F43-A82B16DE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10 CSE, 10 IBM and 10 BMS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5461C-9512-41B2-89D7-D8F1E149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B5E5C-3754-45BC-A707-615D17D5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JOURNEY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F2060-A7C6-4249-85EA-72D3B17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Select request, see procedure, prepare request, reach the right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40A13-F844-4F92-8E42-9CD56350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00786-B08D-4589-A778-E7EFFA38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MVP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78591-EAB2-489E-99A8-FE6A2C08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Wizard of Oz plus a process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5AD98-A3EC-41E3-BAC6-1A4877E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C8392-DEE3-4177-891F-76EB1B25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MINIMUM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32FEE-405C-476F-9977-C9BA8E7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Request categories, checklists, contacts, escalation and basic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522D8-2FB8-4D10-B5FC-B1C56C4A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D4503-01B9-4F5E-BB6F-33188BB7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5EC85-3B37-4D1E-A963-70D715B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Accuracy, routing, follow-up, task completion and staff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83ECB-3B6F-4073-8FF6-B0C000F6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F26CA-5299-48A2-829E-ACEF02F0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EXCLUSIONS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A7741-11C3-4B7C-8150-5C6316D6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Live EMS changes, grades, tuition calculation and automated eligibility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2F633-017C-4892-859A-09EE82A4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1843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4B147-8C91-42EF-8C4C-BC85FFD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3A02D-8216-4391-B534-D7BAC7B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4EB30-778C-4B47-BAF6-F2082845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pilot combines a balanced student sample with three decision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5D31D-7274-4E2F-AB1F-30C5DA0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DD417-B046-4BEE-AAB1-06773B5E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5CC4716-0397-4D2E-887E-94E07D41A75F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371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4d4543f366485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27C24-EE03-4DCE-921F-D82191A7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30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40C47-4AC6-4512-96F1-7C5D1BBE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3646B-22B4-4982-B525-391EC8E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F038E-EFF0-4F4D-8FB8-4D9B94EA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621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06F85-B29E-427A-A79B-0746D65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Targets met and staff can maintain the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BB424-908C-498F-B50C-E6CA914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0C949-9CF8-422B-A748-098E1808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04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B2581-4DCC-402D-A719-65CAD08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85459-9CFA-40B1-BDAF-09ADD88F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Value appears, but workflow or quality needs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804E8-2976-49F8-AAB0-E991712B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CE721-B77C-4B64-A7A0-4D63C91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577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FE60A-10AA-49AA-8E96-CBCE72F9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767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92D78-D1AF-49C5-BCDC-BCF7519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simpler hub performs as well with less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1B5D1-0E12-4401-B869-9B2E9A3B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Three-month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D24F5-3864-452A-BC67-592A1DD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43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02A5A-2BC9-4688-B36D-0D585231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Month 1  Baseline and content     Month 2  Guided use     Month 3  Compare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B3D14-4EA1-4E9C-9DAB-509EED3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1269F-7736-4D6C-9F44-4CB6CCD1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2077716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213F3-5404-40CC-8AEA-C4DF769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2A7D5-436E-45BE-9BA5-1C48329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Ordered Product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3C709-2E49-4222-894D-EFD7F6A8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items establish trusted content before advanced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5541D-1E10-4A3B-9A01-ED73456D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8AF4F-45EF-4E4C-A080-6171C15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1C0D-C198-4495-B084-30C6D8EE8543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286375"/>
                <a:gridCol w="2000250"/>
                <a:gridCol w="3076575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 item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content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Programme and request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 and next-step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department and contact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escalation and case owner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request template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expiry and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test 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analytics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status visibility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follow-up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 and retention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AI layer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option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648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E5319-CCF3-479D-BF4A-463FB28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6C0DC-C609-4009-944E-50B9149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Acceptance criteria for the top four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942B5-8720-4A7E-BEE8-42CC8C9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Each item has an observable normal flow and a clear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5BC3-41DC-454A-9D43-07F3E9B0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2AB0C-637F-4AB0-B12B-3B1EA97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FAF86-C4A0-4829-BE74-0B8A5A4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75C32-950D-44FE-B820-21CC9F1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01  Approved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EE5A7-6B12-456A-9440-448BF53C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guidance item is proposed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staff publish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it has a source, owner, programme and review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1400C-9DED-4E51-B254-182F79C9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2592B-222C-4C69-BCF7-8B1EE458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02  Request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B4681-BE2F-4DFF-894D-8F61CE4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student starts a request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programme and category are selected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only applicable guidance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9915D-B547-4221-8AEE-D1133632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5932A-21A2-4933-A90F-0A4BF6D2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03  Procedure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584CF-689F-4804-830E-04CEC54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approved guidance matches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opens the result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required steps and documents are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6622A-A9BA-4AEC-B475-35DCAD2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BD6E9-17CD-4E16-9EFC-F645D09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04  Correct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E760B-D339-470A-A8B5-BC9A7B9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the case needs staff help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submits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the responsible unit and expected response are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DDFDE-B2C3-4F91-BFF4-AC538E62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4C011-092D-413A-B5CE-2CB3892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Shared safety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876BD-ABE8-426A-88A0-ED3ABB33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871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If approved guidance is missing or conflicting, the product stops and routes the request to staff. It does not infer an academic or financial decision.</a:t>
            </a:r>
          </a:p>
        </p:txBody>
      </p:sp>
    </p:spTree>
    <p:extLst>
      <p:ext uri="{BB962C8B-B14F-4D97-AF65-F5344CB8AC3E}">
        <p14:creationId xmlns:p14="http://schemas.microsoft.com/office/powerpoint/2010/main" val="997072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71C84-CE12-40CF-A30C-70F7481B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07290-2512-4ED0-9279-A0BD304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Goal and two-week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5972A-8D82-4A2B-9360-359E31F7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Sprint creates a usable guidance and routing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20AFD-E41A-4B52-82BC-897694ED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BEF01-9B8D-4D7F-9F66-FE30BBFC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445DF-5BBB-4319-865A-3D5AAB6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66B83-4037-4E85-A1B4-EB5761B7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SPRINT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8A0DB-00D0-4700-A5C6-06CA6593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881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student selects a request, sees a verified procedure and reaches the responsible unit when staff help is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2AC6D-0487-42E3-9BC9-02335600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9525">
            <a:solidFill>
              <a:srgbClr val="18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AF049-E85A-4E9F-A9F8-F02EF2C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DAYS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20ECD-8C51-4D23-A434-E8A5EA49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Audit enquiries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confirm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08439-D8C6-4A44-A186-B6650D15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1D319-0DA2-4DCF-941E-C1B75CD7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DAYS 3-4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1A0D6-A659-4452-A5FA-88800EAB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Structure guidance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content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0A8A8-91F1-49A1-AA25-48515EA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02982-3EA2-47A6-97A0-740DEB1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DAYS 5-7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D53F6-972D-4025-8343-B55AF9E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the HTML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66E89-602B-4C5D-B9EB-D5A0ADE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281DD-0831-45A3-BC79-2C26800C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DAYS 8-9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94F68-6CD6-4451-92CB-9885B815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Run QA and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student usability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B270C-478C-4B72-B751-F03D54E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FA344-3745-40BA-981F-B4F67A2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DAY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9F955-C31B-4669-94C8-BA652DA0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update backlog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DB140-ED76-47FB-90C0-F4A9761E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Selected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80CA2-4A13-442A-8F13-BD976A6C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Items 1-5 plus the initial accuracy test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FBFFB-1B2F-4D2E-8B0B-A2282514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Main dependencies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437ED-8FA1-4E91-96CF-88DCD78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Approved procedures, staff reviewers and access to de-identified enquiry patterns</a:t>
            </a:r>
          </a:p>
        </p:txBody>
      </p:sp>
    </p:spTree>
    <p:extLst>
      <p:ext uri="{BB962C8B-B14F-4D97-AF65-F5344CB8AC3E}">
        <p14:creationId xmlns:p14="http://schemas.microsoft.com/office/powerpoint/2010/main" val="366889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E5E74-995D-4FEF-AAFD-5D60EB16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5750D-6079-4783-BD6C-3CD94E6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capacity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06EDC-F634-4060-B3DE-85184AE8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Four members contribute 40 hours each across a 160-hour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0069E-FB17-4123-BCD2-82EBE0D6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963D1-4F4B-49C5-B5BF-CAAB472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61FBB9F-34C2-432F-B3BA-6C4BEACA2BDE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572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3abaa460d745a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45B5A-5C63-458A-A15B-AD2B9E23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160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5C8CF-0595-4977-9577-9C6B7AD2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4 people × 10 working days × 4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4A3C9-225E-4580-9718-3DE30B51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C1F17-D225-43D4-A0E7-4284622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Usage audit, enquiry categories and evidence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75CD6-3D59-4680-BFE8-1F9C44B4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AC063-5A69-408D-B634-BBAEF4A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40367-A97A-4524-806E-B3C8962A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prototype and technical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E9E6B-CE48-4634-89A2-542B149B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757A5-047D-4E20-8057-3DB9E53D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878B3-3319-4341-8CB7-ED116FBA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Acceptance testing and user-flow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6541C-0020-4CAD-A32C-AEBBA87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8E84D-030D-43F2-95DA-91B5752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Content and L&amp;D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F2815-0C02-465F-AC98-E0AA8D7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577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Knowledge inputs and onboarding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FC815-622A-4515-A65B-0BA52D4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01327-4736-46FD-83D4-88250A23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Forecast risk: staff review or missing procedures may reduce the number of finished backlog items.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E47F9-9067-4B50-8385-9ECAE25A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29365-A6A5-49AA-9BC5-01D0D3B5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</p:spTree>
    <p:extLst>
      <p:ext uri="{BB962C8B-B14F-4D97-AF65-F5344CB8AC3E}">
        <p14:creationId xmlns:p14="http://schemas.microsoft.com/office/powerpoint/2010/main" val="1686769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CD924-7FAB-4912-B564-9B92A2D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CHECKPOINT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94CBA-7740-42EA-BE2F-95B4E893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Five activities produce one testable product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D1C6C-B7F0-4BC8-AB79-665F708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team enters the pilot with explicit ownership, evidence needs and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F738E-9D0B-4FB2-9051-60CCAEE0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D140B-6285-4AA3-8A9A-78427DA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CB57C-33E7-45B4-BFF9-BF450E8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CE212-FE29-4318-90FF-304422F5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D0215-C886-41A6-A9CF-F89E057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Continuing support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7D2AA-78FE-48BE-8406-62FB488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7A7C6-A8C0-498B-88DD-81743706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0792B-E4F2-42A7-871F-C295BC59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80F86-FBB1-4DAA-8191-88A1CE8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Better completion with less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909CD-75F9-43E4-BC08-03050E70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58544-B578-4359-BA2E-B036E92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8C2B4-FC7E-49EC-AED4-B8BCBCB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C9377-F1FC-4E57-A70A-E48E82BE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30 students, three programmes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F5CDB-2B84-49AA-AD7B-0148BCE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B3888-A230-4B15-81B0-3ADBAB68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78C8E-984F-44FF-9E02-90F3653C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252B1-2CED-4EFC-8EE7-BBCB75F9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Trusted content before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D104A-9641-4C1C-953A-321A2F17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9E7A2-4573-4AB1-95BF-526AE927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F2A39-79F6-45B3-B453-19605D2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SPRINT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3D383-59D6-4112-95B7-2AC225A5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160-hour two-week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5F20C-CC05-4A16-AB0D-B993A30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287AF-E873-46B0-AAD2-CE64769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DC8580-295F-467F-92EE-7EE1141D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Approve a three-month HTML pilot that measures demand, routing quality, repeat contact and staff effort before any investment in live integration or autonomous AI.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A1FA4-1248-4BE1-B291-C55ACDD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18EA6F-B351-4272-B9DA-DFB7E43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3D3622-8762-454B-B2DE-17C135A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Evidence thresholds 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49989-949D-409F-BD1D-CCADC70C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78AE6-AF8E-4A14-B877-7C5D9B07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70351-61AB-4021-97BD-D0EC448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Workflow or content needs 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5DE097-9F11-4508-9280-DFE57EB3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5EB2E9-1BAE-4A8C-86BE-EBD22A1A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BF3018-E9E8-4F38-B417-5EB0AF50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Simpler guidance hub performs as well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4C7366-DB13-46F9-9E07-05D843D3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Next evidence: weekly enquiry volume, routing baseline, repeat-contact baseline and staff handling time.</a:t>
            </a:r>
          </a:p>
        </p:txBody>
      </p:sp>
    </p:spTree>
    <p:extLst>
      <p:ext uri="{BB962C8B-B14F-4D97-AF65-F5344CB8AC3E}">
        <p14:creationId xmlns:p14="http://schemas.microsoft.com/office/powerpoint/2010/main" val="130940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2026-10-14T06:21:37.7860000Z</dcterms:created>
  <dcterms:modified xsi:type="dcterms:W3CDTF">2026-10-14T06:21:37.7860000Z</dcterms:modified>
</coreProperties>
</file>