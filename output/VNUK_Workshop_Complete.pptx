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ad8e468754f4676" /><Relationship Type="http://schemas.openxmlformats.org/officeDocument/2006/relationships/extended-properties" Target="/docProps/app.xml" Id="R7f69f783b082452a" /><Relationship Type="http://schemas.openxmlformats.org/officeDocument/2006/relationships/officeDocument" Target="/ppt/presentation.xml" Id="R7944249f379f4fbf" /></Relationships>
</file>

<file path=ppt/presentation.xml><?xml version="1.0" encoding="utf-8"?>
<p:presentation xmlns:p="http://schemas.openxmlformats.org/presentationml/2006/main">
  <p:sldMasterIdLst>
    <p:sldMasterId xmlns:r="http://schemas.openxmlformats.org/officeDocument/2006/relationships" id="2147483648" r:id="Rd8c4505600bc44dc"/>
  </p:sldMasterIdLst>
  <p:notesMasterIdLst>
    <p:notesMasterId xmlns:r="http://schemas.openxmlformats.org/officeDocument/2006/relationships" r:id="R78322349299a4c49"/>
  </p:notesMasterIdLst>
  <p:sldIdLst>
    <p:sldId xmlns:r="http://schemas.openxmlformats.org/officeDocument/2006/relationships" id="256" r:id="R3a8a46a1a9584d92"/>
    <p:sldId xmlns:r="http://schemas.openxmlformats.org/officeDocument/2006/relationships" id="257" r:id="R001f53b9a0614332"/>
    <p:sldId xmlns:r="http://schemas.openxmlformats.org/officeDocument/2006/relationships" id="258" r:id="R36f3b18891544132"/>
    <p:sldId xmlns:r="http://schemas.openxmlformats.org/officeDocument/2006/relationships" id="259" r:id="R9c4042d9a90a4141"/>
    <p:sldId xmlns:r="http://schemas.openxmlformats.org/officeDocument/2006/relationships" id="260" r:id="R894b35d30bcf4ee3"/>
    <p:sldId xmlns:r="http://schemas.openxmlformats.org/officeDocument/2006/relationships" id="261" r:id="Rf741328fab4442d7"/>
    <p:sldId xmlns:r="http://schemas.openxmlformats.org/officeDocument/2006/relationships" id="262" r:id="R2d550f4a6fe14b65"/>
    <p:sldId xmlns:r="http://schemas.openxmlformats.org/officeDocument/2006/relationships" id="263" r:id="Re49617a8d3654c78"/>
    <p:sldId xmlns:r="http://schemas.openxmlformats.org/officeDocument/2006/relationships" id="264" r:id="R193366c23d624897"/>
    <p:sldId xmlns:r="http://schemas.openxmlformats.org/officeDocument/2006/relationships" id="265" r:id="R6e225d58938c4f94"/>
    <p:sldId xmlns:r="http://schemas.openxmlformats.org/officeDocument/2006/relationships" id="266" r:id="R30453e6ac06f4815"/>
    <p:sldId xmlns:r="http://schemas.openxmlformats.org/officeDocument/2006/relationships" id="267" r:id="R79a116a13ae44dcc"/>
    <p:sldId xmlns:r="http://schemas.openxmlformats.org/officeDocument/2006/relationships" id="268" r:id="Rf672063ba19c4f59"/>
    <p:sldId xmlns:r="http://schemas.openxmlformats.org/officeDocument/2006/relationships" id="269" r:id="Re33825b2ca254f09"/>
    <p:sldId xmlns:r="http://schemas.openxmlformats.org/officeDocument/2006/relationships" id="270" r:id="Rda0818fd91a94681"/>
    <p:sldId xmlns:r="http://schemas.openxmlformats.org/officeDocument/2006/relationships" id="271" r:id="R459396e989f64bf7"/>
    <p:sldId xmlns:r="http://schemas.openxmlformats.org/officeDocument/2006/relationships" id="272" r:id="Rfd4e66bc2a30444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03f79470eab4bb5" /><Relationship Type="http://schemas.openxmlformats.org/officeDocument/2006/relationships/slideMaster" Target="/ppt/slideMasters/slideMaster1.xml" Id="Rd8c4505600bc44dc" /><Relationship Type="http://schemas.openxmlformats.org/officeDocument/2006/relationships/notesMaster" Target="/ppt/notesMasters/notesMaster1.xml" Id="R78322349299a4c49" /><Relationship Type="http://schemas.openxmlformats.org/officeDocument/2006/relationships/presProps" Target="/ppt/presProps.xml" Id="Rd5603d4ee39c4f3a" /><Relationship Type="http://schemas.openxmlformats.org/officeDocument/2006/relationships/tableStyles" Target="/ppt/tableStyles.xml" Id="Rf307202524f54297" /><Relationship Type="http://schemas.openxmlformats.org/officeDocument/2006/relationships/slide" Target="/ppt/slides/slide1.xml" Id="R3a8a46a1a9584d92" /><Relationship Type="http://schemas.openxmlformats.org/officeDocument/2006/relationships/slide" Target="/ppt/slides/slide2.xml" Id="R001f53b9a0614332" /><Relationship Type="http://schemas.openxmlformats.org/officeDocument/2006/relationships/slide" Target="/ppt/slides/slide3.xml" Id="R36f3b18891544132" /><Relationship Type="http://schemas.openxmlformats.org/officeDocument/2006/relationships/slide" Target="/ppt/slides/slide4.xml" Id="R9c4042d9a90a4141" /><Relationship Type="http://schemas.openxmlformats.org/officeDocument/2006/relationships/slide" Target="/ppt/slides/slide5.xml" Id="R894b35d30bcf4ee3" /><Relationship Type="http://schemas.openxmlformats.org/officeDocument/2006/relationships/slide" Target="/ppt/slides/slide6.xml" Id="Rf741328fab4442d7" /><Relationship Type="http://schemas.openxmlformats.org/officeDocument/2006/relationships/slide" Target="/ppt/slides/slide7.xml" Id="R2d550f4a6fe14b65" /><Relationship Type="http://schemas.openxmlformats.org/officeDocument/2006/relationships/slide" Target="/ppt/slides/slide8.xml" Id="Re49617a8d3654c78" /><Relationship Type="http://schemas.openxmlformats.org/officeDocument/2006/relationships/slide" Target="/ppt/slides/slide9.xml" Id="R193366c23d624897" /><Relationship Type="http://schemas.openxmlformats.org/officeDocument/2006/relationships/slide" Target="/ppt/slides/slide10.xml" Id="R6e225d58938c4f94" /><Relationship Type="http://schemas.openxmlformats.org/officeDocument/2006/relationships/slide" Target="/ppt/slides/slide11.xml" Id="R30453e6ac06f4815" /><Relationship Type="http://schemas.openxmlformats.org/officeDocument/2006/relationships/slide" Target="/ppt/slides/slide12.xml" Id="R79a116a13ae44dcc" /><Relationship Type="http://schemas.openxmlformats.org/officeDocument/2006/relationships/slide" Target="/ppt/slides/slide13.xml" Id="Rf672063ba19c4f59" /><Relationship Type="http://schemas.openxmlformats.org/officeDocument/2006/relationships/slide" Target="/ppt/slides/slide14.xml" Id="Re33825b2ca254f09" /><Relationship Type="http://schemas.openxmlformats.org/officeDocument/2006/relationships/slide" Target="/ppt/slides/slide15.xml" Id="Rda0818fd91a94681" /><Relationship Type="http://schemas.openxmlformats.org/officeDocument/2006/relationships/slide" Target="/ppt/slides/slide16.xml" Id="R459396e989f64bf7" /><Relationship Type="http://schemas.openxmlformats.org/officeDocument/2006/relationships/slide" Target="/ppt/slides/slide17.xml" Id="Rfd4e66bc2a30444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523b4f3ac9c42b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e64819bf729466d" /><Relationship Type="http://schemas.openxmlformats.org/officeDocument/2006/relationships/notesMaster" Target="/ppt/notesMasters/notesMaster1.xml" Id="Ra77872aa44954b8c" /></Relationships>
</file>

<file path=ppt/notesSlides/_rels/notesSlide2.xml.rels>&#65279;<?xml version="1.0" encoding="utf-8"?><Relationships xmlns="http://schemas.openxmlformats.org/package/2006/relationships"><Relationship Type="http://schemas.openxmlformats.org/officeDocument/2006/relationships/slide" Target="/ppt/slides/slide2.xml" Id="Rd6d8138760254a15" /><Relationship Type="http://schemas.openxmlformats.org/officeDocument/2006/relationships/notesMaster" Target="/ppt/notesMasters/notesMaster1.xml" Id="R44a46260cf134c39" /></Relationships>
</file>

<file path=ppt/notesSlides/_rels/notesSlide3.xml.rels>&#65279;<?xml version="1.0" encoding="utf-8"?><Relationships xmlns="http://schemas.openxmlformats.org/package/2006/relationships"><Relationship Type="http://schemas.openxmlformats.org/officeDocument/2006/relationships/slide" Target="/ppt/slides/slide3.xml" Id="Rade155d26258485b" /><Relationship Type="http://schemas.openxmlformats.org/officeDocument/2006/relationships/notesMaster" Target="/ppt/notesMasters/notesMaster1.xml" Id="R595e8189d9cb4632" /></Relationships>
</file>

<file path=ppt/notesSlides/_rels/notesSlide4.xml.rels>&#65279;<?xml version="1.0" encoding="utf-8"?><Relationships xmlns="http://schemas.openxmlformats.org/package/2006/relationships"><Relationship Type="http://schemas.openxmlformats.org/officeDocument/2006/relationships/slide" Target="/ppt/slides/slide4.xml" Id="R67da3c5f4ffa405d" /><Relationship Type="http://schemas.openxmlformats.org/officeDocument/2006/relationships/notesMaster" Target="/ppt/notesMasters/notesMaster1.xml" Id="R5247a75f177540d8" /></Relationships>
</file>

<file path=ppt/notesSlides/_rels/notesSlide5.xml.rels>&#65279;<?xml version="1.0" encoding="utf-8"?><Relationships xmlns="http://schemas.openxmlformats.org/package/2006/relationships"><Relationship Type="http://schemas.openxmlformats.org/officeDocument/2006/relationships/slide" Target="/ppt/slides/slide5.xml" Id="Ra8ea59a02abc46f7" /><Relationship Type="http://schemas.openxmlformats.org/officeDocument/2006/relationships/notesMaster" Target="/ppt/notesMasters/notesMaster1.xml" Id="Ra35db9d71dc84c4d" /></Relationships>
</file>

<file path=ppt/notesSlides/_rels/notesSlide6.xml.rels>&#65279;<?xml version="1.0" encoding="utf-8"?><Relationships xmlns="http://schemas.openxmlformats.org/package/2006/relationships"><Relationship Type="http://schemas.openxmlformats.org/officeDocument/2006/relationships/slide" Target="/ppt/slides/slide6.xml" Id="Rcd07a5bbc3cd486d" /><Relationship Type="http://schemas.openxmlformats.org/officeDocument/2006/relationships/notesMaster" Target="/ppt/notesMasters/notesMaster1.xml" Id="R07af77257efa4f61" /></Relationships>
</file>

<file path=ppt/notesSlides/_rels/notesSlide7.xml.rels>&#65279;<?xml version="1.0" encoding="utf-8"?><Relationships xmlns="http://schemas.openxmlformats.org/package/2006/relationships"><Relationship Type="http://schemas.openxmlformats.org/officeDocument/2006/relationships/slide" Target="/ppt/slides/slide7.xml" Id="Rb36896c5ed4440df" /><Relationship Type="http://schemas.openxmlformats.org/officeDocument/2006/relationships/notesMaster" Target="/ppt/notesMasters/notesMaster1.xml" Id="Rb238ee87f9044658" /></Relationships>
</file>

<file path=ppt/notesSlides/_rels/notesSlide8.xml.rels>&#65279;<?xml version="1.0" encoding="utf-8"?><Relationships xmlns="http://schemas.openxmlformats.org/package/2006/relationships"><Relationship Type="http://schemas.openxmlformats.org/officeDocument/2006/relationships/slide" Target="/ppt/slides/slide8.xml" Id="R96ab7893b9bc4908" /><Relationship Type="http://schemas.openxmlformats.org/officeDocument/2006/relationships/notesMaster" Target="/ppt/notesMasters/notesMaster1.xml" Id="R39c0cfcefd624202" /></Relationships>
</file>

<file path=ppt/notesSlides/_rels/notesSlide9.xml.rels>&#65279;<?xml version="1.0" encoding="utf-8"?><Relationships xmlns="http://schemas.openxmlformats.org/package/2006/relationships"><Relationship Type="http://schemas.openxmlformats.org/officeDocument/2006/relationships/slide" Target="/ppt/slides/slide9.xml" Id="R4ef47e5db4744208" /><Relationship Type="http://schemas.openxmlformats.org/officeDocument/2006/relationships/notesMaster" Target="/ppt/notesMasters/notesMaster1.xml" Id="R2fe8b2231bd9408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62e58d264ce4db4" /><Relationship Type="http://schemas.openxmlformats.org/officeDocument/2006/relationships/notesMaster" Target="/ppt/notesMasters/notesMaster1.xml" Id="R3c1ea261634044b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a142614b19b4a7e" /><Relationship Type="http://schemas.openxmlformats.org/officeDocument/2006/relationships/notesMaster" Target="/ppt/notesMasters/notesMaster1.xml" Id="R804bd83a48444e0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f9cd3dd30964914" /><Relationship Type="http://schemas.openxmlformats.org/officeDocument/2006/relationships/notesMaster" Target="/ppt/notesMasters/notesMaster1.xml" Id="R2d25e4334d2d4bb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8696691eeb54d2a" /><Relationship Type="http://schemas.openxmlformats.org/officeDocument/2006/relationships/notesMaster" Target="/ppt/notesMasters/notesMaster1.xml" Id="R81efff04f2bd4b4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076b054c324478f" /><Relationship Type="http://schemas.openxmlformats.org/officeDocument/2006/relationships/notesMaster" Target="/ppt/notesMasters/notesMaster1.xml" Id="Raadab54ae3e64e2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62da90a9c714a0f" /><Relationship Type="http://schemas.openxmlformats.org/officeDocument/2006/relationships/notesMaster" Target="/ppt/notesMasters/notesMaster1.xml" Id="Rb56237c56481425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9eb30aa7bec4da3" /><Relationship Type="http://schemas.openxmlformats.org/officeDocument/2006/relationships/notesMaster" Target="/ppt/notesMasters/notesMaster1.xml" Id="Rf4914711a4d9439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40cfbdcb5fa4bd7" /><Relationship Type="http://schemas.openxmlformats.org/officeDocument/2006/relationships/notesMaster" Target="/ppt/notesMasters/notesMaster1.xml" Id="R32761ebd0ac644d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Workshop reference: Week 3 Digital Diagnosis workshop, PDF pages 6–7, 12, 15, 20–21. Scope covers all five workshop parts.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Sources: CSE student interviews, Huy Hoàng Q2/Q3/Q9 and Vinh Phạm Q2/Q7; CSE student interviews, Kiệt pp.1–2 and Tiến pp.4–6; CSE alumni interview notes, Đạt rough notes; CSE student interviews, Tuyến and Chính. The 4–5 day wait is one recalled case. No claim about prevalence.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Source: Customer Experience module BMS report, §3.1.2 Figures 1–3. Figure 2: 7/8 heat-related fatigue/irritability/reduced productivity and 5/8 want to finish quickly. Figure 3: 6/8 heavy workload and 4/8 insufficient practical time. Chart uses selected categories across two questions; categories overlap. Figure 1 counts at ratings 1–5 are [0,1,3,2,2]. Mean=(2+9+8+10)/8=3.625. The report narrative incorrectly gives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Sources: CSE CSE student interviews, Huy Hoàng; BMS Customer Experience module BMS report §§3.1.1–3.1.2 and 3.3. BMS borrowing and afternoon technical guidance are report-level qualitative findings, not a supplied transcript. No financial, retention or productivity effect is quantified.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The operational domains derive from the module research. Coverage is uneven. Grouping does not establish equal evidence across departments.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Analytical grouping, not a value ranking. Support resolves information needs and routes requests. Progression owns formal milestone checks and exceptions. Practical operations coordinates access and maintenance. Avoid counting the same benefit twice.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CSE student interviews document mixed access and responsiveness. BMS module report describes fragmented feedback; BMS enquiry volume is unknown.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BMS survey Figure 3: 4/8 insufficient practice time. Figure 2: 7/8 heat-related effects. CSE interviews describe computing constraints. Scheduling does not fix physical scarcity.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CSE interview evidence spans registration, thesis and graduation. BMS applicability needs validation. These are linked administrative milestones, not an automated degree-awarding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Analyst ratings relative to the three broader domains. The BMS report describes roles but not staffing coverage; CSE shows academic expertise. No approved implementation owner or budget has been provided.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Sources: CSE student interviews and BMS module report §§2.4–2.5 and 5.3. Proposed lab systems are not current capability. Data ownership, permissions and system integrations remain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assessment for the workshop, not survey findings or measured ROI. Ratings compare bounded entry projects within each domain, not complete university-wide implementation. A assumes an approved knowledge source and staff handoff. B is access/supervision coordination and remains exposed to physical-resource limits. C requires authoritative academic rules and records. Customer Experience module research informs the directional judgments. Value 1=limited potential, 5=strong outcome potential. Feasibility 1=major unresolved dependencies, 5=few. A=(4,4), B=(2,4), C=(2,5). Plot coordinates are judgments, not measurements. A drops to feasibility 2 if no content owner or staff capacity is secured.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assessment for the workshop, not survey findings or measured ROI. Ratings compare bounded entry projects within each domain, not complete university-wide implementation. A assumes an approved knowledge source and staff handoff. B is access/supervision coordination and remains exposed to physical-resource limits. C requires authoritative academic rules and records. Illustrative scores, not empirical findings. Value ratings reflect breadth and seriousness of possible outcomes; they do not quantify benefits. Strategic relevance and urgency are both 4 for all candidates because no comparative leadership preference or deadline evidence is available. Learning is 5 for support due to potentially reusable knowledge ownership and routing, 4 otherwise. A=4*.30+4*.25+4*.20+4*.15+5*.10=4.10. B=4*.30+2*.25+4*.20+4*.15+4*.10=3.50. C=5*.30+2*.25+4*.20+4*.15+4*.10=3.80. If A feasibility is 2 instead of 4, A=3.60 and C becomes first at 3.80.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Recommendation is a team proposal based on the research, not a deployed system or proven effect. Initial pilot: one CSE cohort, course-registration guidance and related enquiries. Formal registration and eligibility decisions remain with authorised staff. BMS expansion follows validation of department-specific needs and processes.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Proposed operating model. Retrieval from approved documents, source links, programme/cohort context and abstention on missing/conflicting guidance are design requirements, not claims about current tools. No student record integration is assumed in the first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Proposed pilot evaluation, not existing results or guaranteed savings. Compare comparable registration periods or comparable enquiry types. Assess all sampled answers against staff-approved references. Track harmful/wrong cohort answers and staff handling time. No numeric improvement targets are invented.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Proposed sequencing for future roadmap discussion, not approved dates or funding. Stage 1 uses approved guidance; Stage 2 tests structured case resolution; Stage 3 requires verified personal records, access controls and evidence of service benefit. No automated eligibility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a7ed36e1ee04e9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09ab906dbb44c17" /><Relationship Type="http://schemas.openxmlformats.org/officeDocument/2006/relationships/slideLayout" Target="/ppt/slideLayouts/slideLayout1.xml" Id="R6cdb488bee7048e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cdb488bee7048e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bb0c7cb96b04aae" /><Relationship Type="http://schemas.openxmlformats.org/officeDocument/2006/relationships/notesSlide" Target="/ppt/notesSlides/notesSlide1.xml" Id="R2d3f954513154e1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91ee3624d914ed6" /><Relationship Type="http://schemas.openxmlformats.org/officeDocument/2006/relationships/notesSlide" Target="/ppt/notesSlides/notesSlide2.xml" Id="Re885c722fc4d4db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c118d40b54f41ca" /><Relationship Type="http://schemas.openxmlformats.org/officeDocument/2006/relationships/chart" Target="/ppt/slides/charts/chart1.xml" Id="R2f3f695dd9d24163" /><Relationship Type="http://schemas.openxmlformats.org/officeDocument/2006/relationships/notesSlide" Target="/ppt/notesSlides/notesSlide3.xml" Id="R0d0bb85ab2f54e3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fca670314dc4c88" /><Relationship Type="http://schemas.openxmlformats.org/officeDocument/2006/relationships/notesSlide" Target="/ppt/notesSlides/notesSlide4.xml" Id="R9a261df1edca4f3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773cea290574d20" /><Relationship Type="http://schemas.openxmlformats.org/officeDocument/2006/relationships/notesSlide" Target="/ppt/notesSlides/notesSlide5.xml" Id="Rb88b2d082b824dd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307bfc4fe4c4ea5" /><Relationship Type="http://schemas.openxmlformats.org/officeDocument/2006/relationships/notesSlide" Target="/ppt/notesSlides/notesSlide6.xml" Id="R270f96c71e3749e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3ae915bb61740ca" /><Relationship Type="http://schemas.openxmlformats.org/officeDocument/2006/relationships/notesSlide" Target="/ppt/notesSlides/notesSlide7.xml" Id="R6621a63fdcd1492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e1eb8fca9af4c2a" /><Relationship Type="http://schemas.openxmlformats.org/officeDocument/2006/relationships/notesSlide" Target="/ppt/notesSlides/notesSlide8.xml" Id="R95d4136f460d484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481c50bfddd4ae8" /><Relationship Type="http://schemas.openxmlformats.org/officeDocument/2006/relationships/notesSlide" Target="/ppt/notesSlides/notesSlide9.xml" Id="R85b211015d28466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5fd1315b7a04d69" /><Relationship Type="http://schemas.openxmlformats.org/officeDocument/2006/relationships/notesSlide" Target="/ppt/notesSlides/notesSlide10.xml" Id="Refd77496d06e4a3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88a1920a6df45fb" /><Relationship Type="http://schemas.openxmlformats.org/officeDocument/2006/relationships/notesSlide" Target="/ppt/notesSlides/notesSlide11.xml" Id="Rf2e2fc2cadfe414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29281e40208413e" /><Relationship Type="http://schemas.openxmlformats.org/officeDocument/2006/relationships/chart" Target="/ppt/slides/charts/chart2.xml" Id="R3f5a9a74bc024f5c" /><Relationship Type="http://schemas.openxmlformats.org/officeDocument/2006/relationships/notesSlide" Target="/ppt/notesSlides/notesSlide12.xml" Id="R83be5afc42c2496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99c0dc84ae24710" /><Relationship Type="http://schemas.openxmlformats.org/officeDocument/2006/relationships/notesSlide" Target="/ppt/notesSlides/notesSlide13.xml" Id="R6c2a8364e024451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4f0014600794acd" /><Relationship Type="http://schemas.openxmlformats.org/officeDocument/2006/relationships/notesSlide" Target="/ppt/notesSlides/notesSlide14.xml" Id="R79e63f0279d74e2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e5c5e29d0f44df2" /><Relationship Type="http://schemas.openxmlformats.org/officeDocument/2006/relationships/notesSlide" Target="/ppt/notesSlides/notesSlide15.xml" Id="R5b52d6556d3b411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d3004a58a07409e" /><Relationship Type="http://schemas.openxmlformats.org/officeDocument/2006/relationships/notesSlide" Target="/ppt/notesSlides/notesSlide16.xml" Id="R77e7e70e8979463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2720a6a07174447" /><Relationship Type="http://schemas.openxmlformats.org/officeDocument/2006/relationships/notesSlide" Target="/ppt/notesSlides/notesSlide17.xml" Id="R0be47ee67d5441e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Respondents (out of 8)</c:v>
          </c:tx>
          <c:spPr>
            <a:solidFill xmlns:a="http://schemas.openxmlformats.org/drawingml/2006/main">
              <a:srgbClr val="16878A"/>
            </a:solidFill>
          </c:spPr>
          <c:cat>
            <c:strRef>
              <c:f>'Chart Data'!$A$2:$A$5</c:f>
              <c:strCache>
                <c:ptCount val="4"/>
                <c:pt idx="0">
                  <c:v>Heat-related fatigue</c:v>
                </c:pt>
                <c:pt idx="1">
                  <c:v>Heavy academic workload</c:v>
                </c:pt>
                <c:pt idx="2">
                  <c:v>Rushing to leave the lab</c:v>
                </c:pt>
                <c:pt idx="3">
                  <c:v>Insufficient practice time</c:v>
                </c:pt>
              </c:strCache>
            </c:strRef>
          </c:cat>
          <c:val>
            <c:numRef>
              <c:f>'Chart Data'!$B$2:$B$5</c:f>
              <c:numCache>
                <c:formatCode>General</c:formatCode>
                <c:ptCount val="4"/>
                <c:pt idx="0">
                  <c:v>7</c:v>
                </c:pt>
                <c:pt idx="1">
                  <c:v>6</c:v>
                </c:pt>
                <c:pt idx="2">
                  <c:v>5</c:v>
                </c:pt>
                <c:pt idx="3">
                  <c:v>4</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183449"/>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marker"/>
        <c:ser>
          <c:idx val="0"/>
          <c:order val="0"/>
          <c:tx>
            <c:v>A  Student support</c:v>
          </c:tx>
          <c:spPr>
            <a:solidFill xmlns:a="http://schemas.openxmlformats.org/drawingml/2006/main">
              <a:srgbClr val="16878A"/>
            </a:solidFill>
          </c:spPr>
          <c:marker>
            <c:symbol val="circle"/>
            <c:size val="15"/>
          </c:marker>
          <c:xVal>
            <c:numRef>
              <c:f>'Chart Data'!$A$2:$A$2</c:f>
              <c:numCache>
                <c:formatCode>General</c:formatCode>
                <c:ptCount val="1"/>
                <c:pt idx="0">
                  <c:v>4</c:v>
                </c:pt>
              </c:numCache>
            </c:numRef>
          </c:xVal>
          <c:yVal>
            <c:numRef>
              <c:f>'Chart Data'!$B$2:$B$2</c:f>
              <c:numCache>
                <c:formatCode>General</c:formatCode>
                <c:ptCount val="1"/>
                <c:pt idx="0">
                  <c:v>4</c:v>
                </c:pt>
              </c:numCache>
            </c:numRef>
          </c:yVal>
        </c:ser>
        <c:ser>
          <c:idx val="1"/>
          <c:order val="1"/>
          <c:tx>
            <c:v>B  Practical learning</c:v>
          </c:tx>
          <c:spPr>
            <a:solidFill xmlns:a="http://schemas.openxmlformats.org/drawingml/2006/main">
              <a:srgbClr val="D98D35"/>
            </a:solidFill>
          </c:spPr>
          <c:marker>
            <c:symbol val="square"/>
            <c:size val="15"/>
          </c:marker>
          <c:xVal>
            <c:numRef>
              <c:f>'Chart Data'!$C$2:$C$2</c:f>
              <c:numCache>
                <c:formatCode>General</c:formatCode>
                <c:ptCount val="1"/>
                <c:pt idx="0">
                  <c:v>2</c:v>
                </c:pt>
              </c:numCache>
            </c:numRef>
          </c:xVal>
          <c:yVal>
            <c:numRef>
              <c:f>'Chart Data'!$D$2:$D$2</c:f>
              <c:numCache>
                <c:formatCode>General</c:formatCode>
                <c:ptCount val="1"/>
                <c:pt idx="0">
                  <c:v>4</c:v>
                </c:pt>
              </c:numCache>
            </c:numRef>
          </c:yVal>
        </c:ser>
        <c:ser>
          <c:idx val="2"/>
          <c:order val="2"/>
          <c:tx>
            <c:v>C  Progression</c:v>
          </c:tx>
          <c:spPr>
            <a:solidFill xmlns:a="http://schemas.openxmlformats.org/drawingml/2006/main">
              <a:srgbClr val="183449"/>
            </a:solidFill>
          </c:spPr>
          <c:marker>
            <c:symbol val="diamond"/>
            <c:size val="15"/>
          </c:marker>
          <c:xVal>
            <c:numRef>
              <c:f>'Chart Data'!$E$2:$E$2</c:f>
              <c:numCache>
                <c:formatCode>General</c:formatCode>
                <c:ptCount val="1"/>
                <c:pt idx="0">
                  <c:v>2</c:v>
                </c:pt>
              </c:numCache>
            </c:numRef>
          </c:xVal>
          <c:yVal>
            <c:numRef>
              <c:f>'Chart Data'!$F$2:$F$2</c:f>
              <c:numCache>
                <c:formatCode>General</c:formatCode>
                <c:ptCount val="1"/>
                <c:pt idx="0">
                  <c:v>5</c:v>
                </c:pt>
              </c:numCache>
            </c:numRef>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1"/>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Value potential</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50112"/>
        <c:majorUnit val="1"/>
      </c:valAx>
      <c:valAx>
        <c:axId val="48650112"/>
        <c:scaling>
          <c:orientation val="minMax"/>
          <c:max val="5"/>
          <c:min val="1"/>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Feasibility</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72768"/>
        <c:majorUnit val="1"/>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7599FA4-EB61-49AB-A20E-922517B7E979}"/>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01  CURRENT-STATE ANALYSIS</a:t>
            </a:r>
          </a:p>
        </p:txBody>
      </p:sp>
      <p:sp>
        <p:nvSpPr>
          <p:cNvPr id="2" name="">
            <a:extLst xmlns:a="http://schemas.openxmlformats.org/drawingml/2006/main">
              <a:ext uri="{FF2B5EF4-FFF2-40B4-BE49-F238E27FC236}">
                <a16:creationId xmlns:a16="http://schemas.microsoft.com/office/drawing/2014/main" id="{ABEFF034-9EB7-43D2-B149-6687F1FC6340}"/>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VNUK digital diagnosis</a:t>
            </a:r>
          </a:p>
        </p:txBody>
      </p:sp>
      <p:sp>
        <p:nvSpPr>
          <p:cNvPr id="3" name="">
            <a:extLst xmlns:a="http://schemas.openxmlformats.org/drawingml/2006/main">
              <a:ext uri="{FF2B5EF4-FFF2-40B4-BE49-F238E27FC236}">
                <a16:creationId xmlns:a16="http://schemas.microsoft.com/office/drawing/2014/main" id="{BA04B023-E94C-45FB-A21C-C37950B478E6}"/>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BMS and CSE: evidence, problem domains and capability gaps</a:t>
            </a:r>
          </a:p>
        </p:txBody>
      </p:sp>
      <p:sp>
        <p:nvSpPr>
          <p:cNvPr id="4" name="">
            <a:extLst xmlns:a="http://schemas.openxmlformats.org/drawingml/2006/main">
              <a:ext uri="{FF2B5EF4-FFF2-40B4-BE49-F238E27FC236}">
                <a16:creationId xmlns:a16="http://schemas.microsoft.com/office/drawing/2014/main" id="{65566276-50A7-44DD-8C03-23B060062ED3}"/>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3BE216ED-FE69-489C-9E86-3CD10EDACDC5}"/>
              </a:ext>
            </a:extLst>
          </p:cNvPr>
          <p:cNvSpPr>
            <a:spLocks xmlns:a="http://schemas.openxmlformats.org/drawingml/2006/main" noGrp="1"/>
          </p:cNvSpPr>
          <p:nvPr/>
        </p:nvSpPr>
        <p:spPr>
          <a:xfrm xmlns:a="http://schemas.openxmlformats.org/drawingml/2006/main">
            <a:off x="533400" y="261937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33746"/>
                </a:solidFill>
                <a:latin typeface="Helvetica Neue"/>
                <a:ea typeface="Helvetica Neue"/>
                <a:cs typeface="Helvetica Neue"/>
              </a:defRPr>
            </a:pPr>
            <a:r>
              <a:rPr sz="2250" b="1">
                <a:solidFill>
                  <a:srgbClr val="233746"/>
                </a:solidFill>
                <a:latin typeface="Helvetica Neue"/>
                <a:ea typeface="Helvetica Neue"/>
                <a:cs typeface="Helvetica Neue"/>
              </a:rPr>
              <a:t>Educational service in scope</a:t>
            </a:r>
          </a:p>
        </p:txBody>
      </p:sp>
      <p:sp>
        <p:nvSpPr>
          <p:cNvPr id="6" name="">
            <a:extLst xmlns:a="http://schemas.openxmlformats.org/drawingml/2006/main">
              <a:ext uri="{FF2B5EF4-FFF2-40B4-BE49-F238E27FC236}">
                <a16:creationId xmlns:a16="http://schemas.microsoft.com/office/drawing/2014/main" id="{33FB20A2-60BB-40A4-B83C-42E19FA7CFB9}"/>
              </a:ext>
            </a:extLst>
          </p:cNvPr>
          <p:cNvSpPr>
            <a:spLocks xmlns:a="http://schemas.openxmlformats.org/drawingml/2006/main" noGrp="1"/>
          </p:cNvSpPr>
          <p:nvPr/>
        </p:nvSpPr>
        <p:spPr>
          <a:xfrm xmlns:a="http://schemas.openxmlformats.org/drawingml/2006/main">
            <a:off x="533400" y="3209925"/>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33746"/>
                </a:solidFill>
                <a:latin typeface="Helvetica Neue"/>
                <a:ea typeface="Helvetica Neue"/>
                <a:cs typeface="Helvetica Neue"/>
              </a:defRPr>
            </a:pPr>
            <a:r>
              <a:rPr sz="2325" b="0">
                <a:solidFill>
                  <a:srgbClr val="233746"/>
                </a:solidFill>
                <a:latin typeface="Helvetica Neue"/>
                <a:ea typeface="Helvetica Neue"/>
                <a:cs typeface="Helvetica Neue"/>
              </a:rPr>
              <a:t>How students access learning resources, obtain support and complete academic processes.</a:t>
            </a:r>
          </a:p>
        </p:txBody>
      </p:sp>
      <p:sp>
        <p:nvSpPr>
          <p:cNvPr id="7" name="">
            <a:extLst xmlns:a="http://schemas.openxmlformats.org/drawingml/2006/main">
              <a:ext uri="{FF2B5EF4-FFF2-40B4-BE49-F238E27FC236}">
                <a16:creationId xmlns:a16="http://schemas.microsoft.com/office/drawing/2014/main" id="{8D6A6B3C-099B-409D-947C-1B3293DA3797}"/>
              </a:ext>
            </a:extLst>
          </p:cNvPr>
          <p:cNvSpPr>
            <a:spLocks xmlns:a="http://schemas.openxmlformats.org/drawingml/2006/main" noGrp="1"/>
          </p:cNvSpPr>
          <p:nvPr/>
        </p:nvSpPr>
        <p:spPr>
          <a:xfrm xmlns:a="http://schemas.openxmlformats.org/drawingml/2006/main">
            <a:off x="6477000" y="261937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33746"/>
                </a:solidFill>
                <a:latin typeface="Helvetica Neue"/>
                <a:ea typeface="Helvetica Neue"/>
                <a:cs typeface="Helvetica Neue"/>
              </a:defRPr>
            </a:pPr>
            <a:r>
              <a:rPr sz="2250" b="1">
                <a:solidFill>
                  <a:srgbClr val="233746"/>
                </a:solidFill>
                <a:latin typeface="Helvetica Neue"/>
                <a:ea typeface="Helvetica Neue"/>
                <a:cs typeface="Helvetica Neue"/>
              </a:rPr>
              <a:t>Evidence base</a:t>
            </a:r>
          </a:p>
        </p:txBody>
      </p:sp>
      <p:sp>
        <p:nvSpPr>
          <p:cNvPr id="8" name="">
            <a:extLst xmlns:a="http://schemas.openxmlformats.org/drawingml/2006/main">
              <a:ext uri="{FF2B5EF4-FFF2-40B4-BE49-F238E27FC236}">
                <a16:creationId xmlns:a16="http://schemas.microsoft.com/office/drawing/2014/main" id="{A4B04D85-9519-4E50-82D7-402E0D17FCA6}"/>
              </a:ext>
            </a:extLst>
          </p:cNvPr>
          <p:cNvSpPr>
            <a:spLocks xmlns:a="http://schemas.openxmlformats.org/drawingml/2006/main" noGrp="1"/>
          </p:cNvSpPr>
          <p:nvPr/>
        </p:nvSpPr>
        <p:spPr>
          <a:xfrm xmlns:a="http://schemas.openxmlformats.org/drawingml/2006/main">
            <a:off x="6477000" y="3209925"/>
            <a:ext cx="5143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33746"/>
                </a:solidFill>
                <a:latin typeface="Helvetica Neue"/>
                <a:ea typeface="Helvetica Neue"/>
                <a:cs typeface="Helvetica Neue"/>
              </a:defRPr>
            </a:pPr>
            <a:r>
              <a:rPr sz="2100" b="0">
                <a:solidFill>
                  <a:srgbClr val="233746"/>
                </a:solidFill>
                <a:latin typeface="Helvetica Neue"/>
                <a:ea typeface="Helvetica Neue"/>
                <a:cs typeface="Helvetica Neue"/>
              </a:rPr>
              <a:t>CSE: interviews and process accounts</a:t>
            </a:r>
          </a:p>
          <a:p xmlns:a="http://schemas.openxmlformats.org/drawingml/2006/main">
            <a:pPr>
              <a:defRPr sz="2100" b="0">
                <a:solidFill>
                  <a:srgbClr val="233746"/>
                </a:solidFill>
                <a:latin typeface="Helvetica Neue"/>
                <a:ea typeface="Helvetica Neue"/>
                <a:cs typeface="Helvetica Neue"/>
              </a:defRPr>
            </a:pPr>
            <a:r>
              <a:rPr sz="2100" b="0">
                <a:solidFill>
                  <a:srgbClr val="233746"/>
                </a:solidFill>
                <a:latin typeface="Helvetica Neue"/>
                <a:ea typeface="Helvetica Neue"/>
                <a:cs typeface="Helvetica Neue"/>
              </a:rPr>
              <a:t>BMS: 8-response survey and CX report</a:t>
            </a:r>
          </a:p>
          <a:p xmlns:a="http://schemas.openxmlformats.org/drawingml/2006/main">
            <a:pPr>
              <a:defRPr sz="2100" b="0">
                <a:solidFill>
                  <a:srgbClr val="233746"/>
                </a:solidFill>
                <a:latin typeface="Helvetica Neue"/>
                <a:ea typeface="Helvetica Neue"/>
                <a:cs typeface="Helvetica Neue"/>
              </a:defRPr>
            </a:pPr>
            <a:r>
              <a:rPr sz="2100" b="0">
                <a:solidFill>
                  <a:srgbClr val="233746"/>
                </a:solidFill>
                <a:latin typeface="Helvetica Neue"/>
                <a:ea typeface="Helvetica Neue"/>
                <a:cs typeface="Helvetica Neue"/>
              </a:rPr>
              <a:t>Fieldwork: Dec 2025–Jan 2026</a:t>
            </a:r>
          </a:p>
        </p:txBody>
      </p:sp>
      <p:sp>
        <p:nvSpPr>
          <p:cNvPr id="9" name="">
            <a:extLst xmlns:a="http://schemas.openxmlformats.org/drawingml/2006/main">
              <a:ext uri="{FF2B5EF4-FFF2-40B4-BE49-F238E27FC236}">
                <a16:creationId xmlns:a16="http://schemas.microsoft.com/office/drawing/2014/main" id="{9FA44A7E-10BD-420A-BFCE-BA79109EBB0F}"/>
              </a:ext>
            </a:extLst>
          </p:cNvPr>
          <p:cNvSpPr>
            <a:spLocks xmlns:a="http://schemas.openxmlformats.org/drawingml/2006/main" noGrp="1"/>
          </p:cNvSpPr>
          <p:nvPr/>
        </p:nvSpPr>
        <p:spPr>
          <a:xfrm xmlns:a="http://schemas.openxmlformats.org/drawingml/2006/main">
            <a:off x="533400" y="51625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878A"/>
                </a:solidFill>
                <a:latin typeface="Helvetica Neue"/>
                <a:ea typeface="Helvetica Neue"/>
                <a:cs typeface="Helvetica Neue"/>
              </a:defRPr>
            </a:pPr>
            <a:r>
              <a:rPr sz="2025" b="1">
                <a:solidFill>
                  <a:srgbClr val="16878A"/>
                </a:solidFill>
                <a:latin typeface="Helvetica Neue"/>
                <a:ea typeface="Helvetica Neue"/>
                <a:cs typeface="Helvetica Neue"/>
              </a:rPr>
              <a:t>Current update: the team reports that the problems continue.</a:t>
            </a:r>
          </a:p>
        </p:txBody>
      </p:sp>
      <p:sp>
        <p:nvSpPr>
          <p:cNvPr id="10" name="">
            <a:extLst xmlns:a="http://schemas.openxmlformats.org/drawingml/2006/main">
              <a:ext uri="{FF2B5EF4-FFF2-40B4-BE49-F238E27FC236}">
                <a16:creationId xmlns:a16="http://schemas.microsoft.com/office/drawing/2014/main" id="{F7807F5F-0E5D-4E68-A2E5-B68E09C06B15}"/>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Historical measurements inform this diagnosis. Current severity has not been remeasured.</a:t>
            </a:r>
          </a:p>
        </p:txBody>
      </p:sp>
    </p:spTree>
    <p:extLst>
      <p:ext uri="{BB962C8B-B14F-4D97-AF65-F5344CB8AC3E}">
        <p14:creationId xmlns:p14="http://schemas.microsoft.com/office/powerpoint/2010/main" val="766546704"/>
      </p:ext>
    </p:extLst>
  </p:cSld>
</p:sld>
</file>

<file path=ppt/slides/slide2.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DC27E5A-BAF7-4603-93D6-6C970548F465}"/>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01  CURRENT-STATE ANALYSIS</a:t>
            </a:r>
          </a:p>
        </p:txBody>
      </p:sp>
      <p:sp>
        <p:nvSpPr>
          <p:cNvPr id="2" name="">
            <a:extLst xmlns:a="http://schemas.openxmlformats.org/drawingml/2006/main">
              <a:ext uri="{FF2B5EF4-FFF2-40B4-BE49-F238E27FC236}">
                <a16:creationId xmlns:a16="http://schemas.microsoft.com/office/drawing/2014/main" id="{A7A1A8D3-D92A-451C-BC4C-8BD42A02E26E}"/>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CSE: support exists, but experiences differ</a:t>
            </a:r>
          </a:p>
        </p:txBody>
      </p:sp>
      <p:sp>
        <p:nvSpPr>
          <p:cNvPr id="3" name="">
            <a:extLst xmlns:a="http://schemas.openxmlformats.org/drawingml/2006/main">
              <a:ext uri="{FF2B5EF4-FFF2-40B4-BE49-F238E27FC236}">
                <a16:creationId xmlns:a16="http://schemas.microsoft.com/office/drawing/2014/main" id="{4DA6495B-494E-40F0-BBE2-3717CDDBE21E}"/>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The interviews show both useful academic support and friction in administrative processes.</a:t>
            </a:r>
          </a:p>
        </p:txBody>
      </p:sp>
      <p:sp>
        <p:nvSpPr>
          <p:cNvPr id="4" name="">
            <a:extLst xmlns:a="http://schemas.openxmlformats.org/drawingml/2006/main">
              <a:ext uri="{FF2B5EF4-FFF2-40B4-BE49-F238E27FC236}">
                <a16:creationId xmlns:a16="http://schemas.microsoft.com/office/drawing/2014/main" id="{BC9BC7E5-2A75-445E-B437-A6990448E170}"/>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02</a:t>
            </a:r>
          </a:p>
        </p:txBody>
      </p:sp>
      <p:graphicFrame>
        <p:nvGraphicFramePr>
          <p:cNvPr id="11" name=""/>
          <p:cNvGraphicFramePr/>
          <p:nvPr/>
        </p:nvGraphicFramePr>
        <p:xfrm>
          <a:off xmlns:a="http://schemas.openxmlformats.org/drawingml/2006/main" x="533400" y="2428875"/>
          <a:ext xmlns:a="http://schemas.openxmlformats.org/drawingml/2006/main" cx="11125200" cy="3238500"/>
        </p:xfrm>
        <a:graphic xmlns:a="http://schemas.openxmlformats.org/drawingml/2006/main">
          <a:graphicData uri="http://schemas.openxmlformats.org/drawingml/2006/table">
            <a:tbl>
              <a:tblPr/>
              <a:tblGrid>
                <a:gridCol w="2333625"/>
                <a:gridCol w="4524375"/>
                <a:gridCol w="4267200"/>
              </a:tblGrid>
              <a:tr h="495300">
                <a:tc>
                  <a:txBody>
                    <a:bodyPr/>
                    <a:lstStyle/>
                    <a:p>
                      <a:r>
                        <a:rPr sz="1875" b="1">
                          <a:solidFill>
                            <a:srgbClr val="FFFFFF"/>
                          </a:solidFill>
                          <a:latin typeface="Helvetica Neue"/>
                          <a:ea typeface="Helvetica Neue"/>
                          <a:cs typeface="Helvetica Neue"/>
                        </a:rPr>
                        <a:t>Process</a:t>
                      </a:r>
                    </a:p>
                  </a:txBody>
                  <a:tcPr marL="91440" marR="91440" marT="45720" marB="45720">
                    <a:solidFill>
                      <a:srgbClr val="183449"/>
                    </a:solidFill>
                  </a:tcPr>
                </a:tc>
                <a:tc>
                  <a:txBody>
                    <a:bodyPr/>
                    <a:lstStyle/>
                    <a:p>
                      <a:r>
                        <a:rPr sz="1875" b="1">
                          <a:solidFill>
                            <a:srgbClr val="FFFFFF"/>
                          </a:solidFill>
                          <a:latin typeface="Helvetica Neue"/>
                          <a:ea typeface="Helvetica Neue"/>
                          <a:cs typeface="Helvetica Neue"/>
                        </a:rPr>
                        <a:t>Reported friction</a:t>
                      </a:r>
                    </a:p>
                  </a:txBody>
                  <a:tcPr marL="91440" marR="91440" marT="45720" marB="45720">
                    <a:solidFill>
                      <a:srgbClr val="183449"/>
                    </a:solidFill>
                  </a:tcPr>
                </a:tc>
                <a:tc>
                  <a:txBody>
                    <a:bodyPr/>
                    <a:lstStyle/>
                    <a:p>
                      <a:r>
                        <a:rPr sz="1875" b="1">
                          <a:solidFill>
                            <a:srgbClr val="FFFFFF"/>
                          </a:solidFill>
                          <a:latin typeface="Helvetica Neue"/>
                          <a:ea typeface="Helvetica Neue"/>
                          <a:cs typeface="Helvetica Neue"/>
                        </a:rPr>
                        <a:t>Counter-evidence / limit</a:t>
                      </a:r>
                    </a:p>
                  </a:txBody>
                  <a:tcPr marL="91440" marR="91440" marT="45720" marB="45720">
                    <a:solidFill>
                      <a:srgbClr val="183449"/>
                    </a:solidFill>
                  </a:tcPr>
                </a:tc>
              </a:tr>
              <a:tr h="914400">
                <a:tc>
                  <a:txBody>
                    <a:bodyPr/>
                    <a:lstStyle/>
                    <a:p>
                      <a:r>
                        <a:rPr sz="1875" b="1">
                          <a:solidFill>
                            <a:srgbClr val="233746"/>
                          </a:solidFill>
                          <a:latin typeface="Helvetica Neue"/>
                          <a:ea typeface="Helvetica Neue"/>
                          <a:cs typeface="Helvetica Neue"/>
                        </a:rPr>
                        <a:t>Course registration</a:t>
                      </a:r>
                    </a:p>
                  </a:txBody>
                  <a:tcPr marL="91440" marR="91440" marT="45720" marB="45720">
                    <a:solidFill>
                      <a:srgbClr val="FFFFFF"/>
                    </a:solidFill>
                  </a:tcPr>
                </a:tc>
                <a:tc>
                  <a:txBody>
                    <a:bodyPr/>
                    <a:lstStyle/>
                    <a:p>
                      <a:r>
                        <a:rPr sz="1875" b="0">
                          <a:solidFill>
                            <a:srgbClr val="233746"/>
                          </a:solidFill>
                          <a:latin typeface="Helvetica Neue"/>
                          <a:ea typeface="Helvetica Neue"/>
                          <a:cs typeface="Helvetica Neue"/>
                        </a:rPr>
                        <a:t>Mixed listings, lag and uncertain confirmation</a:t>
                      </a:r>
                    </a:p>
                  </a:txBody>
                  <a:tcPr marL="91440" marR="91440" marT="45720" marB="45720">
                    <a:solidFill>
                      <a:srgbClr val="FFFFFF"/>
                    </a:solidFill>
                  </a:tcPr>
                </a:tc>
                <a:tc>
                  <a:txBody>
                    <a:bodyPr/>
                    <a:lstStyle/>
                    <a:p>
                      <a:r>
                        <a:rPr sz="1875" b="0">
                          <a:solidFill>
                            <a:srgbClr val="233746"/>
                          </a:solidFill>
                          <a:latin typeface="Helvetica Neue"/>
                          <a:ea typeface="Helvetica Neue"/>
                          <a:cs typeface="Helvetica Neue"/>
                        </a:rPr>
                        <a:t>No logs or failure rate supplied</a:t>
                      </a:r>
                    </a:p>
                  </a:txBody>
                  <a:tcPr marL="91440" marR="91440" marT="45720" marB="45720">
                    <a:solidFill>
                      <a:srgbClr val="FFFFFF"/>
                    </a:solidFill>
                  </a:tcPr>
                </a:tc>
              </a:tr>
              <a:tr h="914400">
                <a:tc>
                  <a:txBody>
                    <a:bodyPr/>
                    <a:lstStyle/>
                    <a:p>
                      <a:r>
                        <a:rPr sz="1875" b="1">
                          <a:solidFill>
                            <a:srgbClr val="233746"/>
                          </a:solidFill>
                          <a:latin typeface="Helvetica Neue"/>
                          <a:ea typeface="Helvetica Neue"/>
                          <a:cs typeface="Helvetica Neue"/>
                        </a:rPr>
                        <a:t>Academic advising</a:t>
                      </a:r>
                    </a:p>
                  </a:txBody>
                  <a:tcPr marL="91440" marR="91440" marT="45720" marB="45720">
                    <a:solidFill>
                      <a:srgbClr val="EDF3F4"/>
                    </a:solidFill>
                  </a:tcPr>
                </a:tc>
                <a:tc>
                  <a:txBody>
                    <a:bodyPr/>
                    <a:lstStyle/>
                    <a:p>
                      <a:r>
                        <a:rPr sz="1875" b="0">
                          <a:solidFill>
                            <a:srgbClr val="233746"/>
                          </a:solidFill>
                          <a:latin typeface="Helvetica Neue"/>
                          <a:ea typeface="Helvetica Neue"/>
                          <a:cs typeface="Helvetica Neue"/>
                        </a:rPr>
                        <a:t>One student recalls a 4–5 day reply delay</a:t>
                      </a:r>
                    </a:p>
                  </a:txBody>
                  <a:tcPr marL="91440" marR="91440" marT="45720" marB="45720">
                    <a:solidFill>
                      <a:srgbClr val="EDF3F4"/>
                    </a:solidFill>
                  </a:tcPr>
                </a:tc>
                <a:tc>
                  <a:txBody>
                    <a:bodyPr/>
                    <a:lstStyle/>
                    <a:p>
                      <a:r>
                        <a:rPr sz="1875" b="0">
                          <a:solidFill>
                            <a:srgbClr val="233746"/>
                          </a:solidFill>
                          <a:latin typeface="Helvetica Neue"/>
                          <a:ea typeface="Helvetica Neue"/>
                          <a:cs typeface="Helvetica Neue"/>
                        </a:rPr>
                        <a:t>Others describe helpful career and postgraduate advice</a:t>
                      </a:r>
                    </a:p>
                  </a:txBody>
                  <a:tcPr marL="91440" marR="91440" marT="45720" marB="45720">
                    <a:solidFill>
                      <a:srgbClr val="EDF3F4"/>
                    </a:solidFill>
                  </a:tcPr>
                </a:tc>
              </a:tr>
              <a:tr h="914400">
                <a:tc>
                  <a:txBody>
                    <a:bodyPr/>
                    <a:lstStyle/>
                    <a:p>
                      <a:r>
                        <a:rPr sz="1875" b="1">
                          <a:solidFill>
                            <a:srgbClr val="233746"/>
                          </a:solidFill>
                          <a:latin typeface="Helvetica Neue"/>
                          <a:ea typeface="Helvetica Neue"/>
                          <a:cs typeface="Helvetica Neue"/>
                        </a:rPr>
                        <a:t>Thesis and graduation</a:t>
                      </a:r>
                    </a:p>
                  </a:txBody>
                  <a:tcPr marL="91440" marR="91440" marT="45720" marB="45720">
                    <a:solidFill>
                      <a:srgbClr val="FFFFFF"/>
                    </a:solidFill>
                  </a:tcPr>
                </a:tc>
                <a:tc>
                  <a:txBody>
                    <a:bodyPr/>
                    <a:lstStyle/>
                    <a:p>
                      <a:r>
                        <a:rPr sz="1875" b="0">
                          <a:solidFill>
                            <a:srgbClr val="233746"/>
                          </a:solidFill>
                          <a:latin typeface="Helvetica Neue"/>
                          <a:ea typeface="Helvetica Neue"/>
                          <a:cs typeface="Helvetica Neue"/>
                        </a:rPr>
                        <a:t>Unclear guidance, repeated checks and one missed notice</a:t>
                      </a:r>
                    </a:p>
                  </a:txBody>
                  <a:tcPr marL="91440" marR="91440" marT="45720" marB="45720">
                    <a:solidFill>
                      <a:srgbClr val="FFFFFF"/>
                    </a:solidFill>
                  </a:tcPr>
                </a:tc>
                <a:tc>
                  <a:txBody>
                    <a:bodyPr/>
                    <a:lstStyle/>
                    <a:p>
                      <a:r>
                        <a:rPr sz="1875" b="0">
                          <a:solidFill>
                            <a:srgbClr val="233746"/>
                          </a:solidFill>
                          <a:latin typeface="Helvetica Neue"/>
                          <a:ea typeface="Helvetica Neue"/>
                          <a:cs typeface="Helvetica Neue"/>
                        </a:rPr>
                        <a:t>An alumnus reports weekly supervision and faculty help</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E53AE984-4733-4A5B-AB15-1D7F1D0EB333}"/>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Source: supplied CSE interviews. Findings describe individual experiences, not population rates.</a:t>
            </a:r>
          </a:p>
        </p:txBody>
      </p:sp>
    </p:spTree>
    <p:extLst>
      <p:ext uri="{BB962C8B-B14F-4D97-AF65-F5344CB8AC3E}">
        <p14:creationId xmlns:p14="http://schemas.microsoft.com/office/powerpoint/2010/main" val="442879166"/>
      </p:ext>
    </p:extLst>
  </p:cSld>
</p:sld>
</file>

<file path=ppt/slides/slide3.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DD74626-B439-4A72-AE5D-07F9DFF5062F}"/>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01  CURRENT-STATE ANALYSIS</a:t>
            </a:r>
          </a:p>
        </p:txBody>
      </p:sp>
      <p:sp>
        <p:nvSpPr>
          <p:cNvPr id="2" name="">
            <a:extLst xmlns:a="http://schemas.openxmlformats.org/drawingml/2006/main">
              <a:ext uri="{FF2B5EF4-FFF2-40B4-BE49-F238E27FC236}">
                <a16:creationId xmlns:a16="http://schemas.microsoft.com/office/drawing/2014/main" id="{5D03E577-7A77-42A7-BA2B-11785F87A312}"/>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BMS: heat and practical access are distinct issues</a:t>
            </a:r>
          </a:p>
        </p:txBody>
      </p:sp>
      <p:sp>
        <p:nvSpPr>
          <p:cNvPr id="3" name="">
            <a:extLst xmlns:a="http://schemas.openxmlformats.org/drawingml/2006/main">
              <a:ext uri="{FF2B5EF4-FFF2-40B4-BE49-F238E27FC236}">
                <a16:creationId xmlns:a16="http://schemas.microsoft.com/office/drawing/2014/main" id="{5CC8BFCB-19B9-457D-AC65-F695B31FAA1E}"/>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Survey responses from 8 BMS students. Counts are more informative than percentages alone.</a:t>
            </a:r>
          </a:p>
        </p:txBody>
      </p:sp>
      <p:sp>
        <p:nvSpPr>
          <p:cNvPr id="4" name="">
            <a:extLst xmlns:a="http://schemas.openxmlformats.org/drawingml/2006/main">
              <a:ext uri="{FF2B5EF4-FFF2-40B4-BE49-F238E27FC236}">
                <a16:creationId xmlns:a16="http://schemas.microsoft.com/office/drawing/2014/main" id="{3E4D6BE8-9299-4950-AF94-F5333FA1E360}"/>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03</a:t>
            </a:r>
          </a:p>
        </p:txBody>
      </p:sp>
      <p:graphicFrame>
        <p:nvGraphicFramePr>
          <p:cNvPr id="14" name="Chart"/>
          <p:cNvGraphicFramePr/>
          <p:nvPr/>
        </p:nvGraphicFramePr>
        <p:xfrm>
          <a:off xmlns:a="http://schemas.openxmlformats.org/drawingml/2006/main" x="533400" y="2524125"/>
          <a:ext xmlns:a="http://schemas.openxmlformats.org/drawingml/2006/main" cx="7048500" cy="3048000"/>
        </p:xfrm>
        <a:graphic xmlns:a="http://schemas.openxmlformats.org/drawingml/2006/main">
          <a:graphicData uri="http://schemas.openxmlformats.org/drawingml/2006/chart">
            <c:chart xmlns:r="http://schemas.openxmlformats.org/officeDocument/2006/relationships" xmlns:c="http://schemas.openxmlformats.org/drawingml/2006/chart" r:id="R2f3f695dd9d24163"/>
          </a:graphicData>
        </a:graphic>
      </p:graphicFrame>
      <p:sp>
        <p:nvSpPr>
          <p:cNvPr id="6" name="">
            <a:extLst xmlns:a="http://schemas.openxmlformats.org/drawingml/2006/main">
              <a:ext uri="{FF2B5EF4-FFF2-40B4-BE49-F238E27FC236}">
                <a16:creationId xmlns:a16="http://schemas.microsoft.com/office/drawing/2014/main" id="{600A7FD3-6012-4AEA-B60D-4A7DD562A13F}"/>
              </a:ext>
            </a:extLst>
          </p:cNvPr>
          <p:cNvSpPr>
            <a:spLocks xmlns:a="http://schemas.openxmlformats.org/drawingml/2006/main" noGrp="1"/>
          </p:cNvSpPr>
          <p:nvPr/>
        </p:nvSpPr>
        <p:spPr>
          <a:xfrm xmlns:a="http://schemas.openxmlformats.org/drawingml/2006/main">
            <a:off x="8334375" y="266700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83449"/>
                </a:solidFill>
                <a:latin typeface="Helvetica Neue"/>
                <a:ea typeface="Helvetica Neue"/>
                <a:cs typeface="Helvetica Neue"/>
              </a:defRPr>
            </a:pPr>
            <a:r>
              <a:rPr sz="4200" b="1">
                <a:solidFill>
                  <a:srgbClr val="183449"/>
                </a:solidFill>
                <a:latin typeface="Helvetica Neue"/>
                <a:ea typeface="Helvetica Neue"/>
                <a:cs typeface="Helvetica Neue"/>
              </a:rPr>
              <a:t>3.63 / 5</a:t>
            </a:r>
          </a:p>
        </p:txBody>
      </p:sp>
      <p:sp>
        <p:nvSpPr>
          <p:cNvPr id="7" name="">
            <a:extLst xmlns:a="http://schemas.openxmlformats.org/drawingml/2006/main">
              <a:ext uri="{FF2B5EF4-FFF2-40B4-BE49-F238E27FC236}">
                <a16:creationId xmlns:a16="http://schemas.microsoft.com/office/drawing/2014/main" id="{B4A327BB-CCFA-449B-8C85-B757FBA299C2}"/>
              </a:ext>
            </a:extLst>
          </p:cNvPr>
          <p:cNvSpPr>
            <a:spLocks xmlns:a="http://schemas.openxmlformats.org/drawingml/2006/main" noGrp="1"/>
          </p:cNvSpPr>
          <p:nvPr/>
        </p:nvSpPr>
        <p:spPr>
          <a:xfrm xmlns:a="http://schemas.openxmlformats.org/drawingml/2006/main">
            <a:off x="8334375" y="3514725"/>
            <a:ext cx="323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33746"/>
                </a:solidFill>
                <a:latin typeface="Helvetica Neue"/>
                <a:ea typeface="Helvetica Neue"/>
                <a:cs typeface="Helvetica Neue"/>
              </a:defRPr>
            </a:pPr>
            <a:r>
              <a:rPr sz="1950" b="0">
                <a:solidFill>
                  <a:srgbClr val="233746"/>
                </a:solidFill>
                <a:latin typeface="Helvetica Neue"/>
                <a:ea typeface="Helvetica Neue"/>
                <a:cs typeface="Helvetica Neue"/>
              </a:rPr>
              <a:t>Mean lab satisfaction</a:t>
            </a:r>
          </a:p>
          <a:p xmlns:a="http://schemas.openxmlformats.org/drawingml/2006/main">
            <a:pPr>
              <a:defRPr sz="1950" b="0">
                <a:solidFill>
                  <a:srgbClr val="233746"/>
                </a:solidFill>
                <a:latin typeface="Helvetica Neue"/>
                <a:ea typeface="Helvetica Neue"/>
                <a:cs typeface="Helvetica Neue"/>
              </a:defRPr>
            </a:pPr>
            <a:r>
              <a:rPr sz="1950" b="0">
                <a:solidFill>
                  <a:srgbClr val="233746"/>
                </a:solidFill>
                <a:latin typeface="Helvetica Neue"/>
                <a:ea typeface="Helvetica Neue"/>
                <a:cs typeface="Helvetica Neue"/>
              </a:rPr>
              <a:t>Calculated from Figure 1</a:t>
            </a:r>
          </a:p>
        </p:txBody>
      </p:sp>
      <p:sp>
        <p:nvSpPr>
          <p:cNvPr id="8" name="">
            <a:extLst xmlns:a="http://schemas.openxmlformats.org/drawingml/2006/main">
              <a:ext uri="{FF2B5EF4-FFF2-40B4-BE49-F238E27FC236}">
                <a16:creationId xmlns:a16="http://schemas.microsoft.com/office/drawing/2014/main" id="{3B099195-D928-49D2-ADBB-D1DD25D631B4}"/>
              </a:ext>
            </a:extLst>
          </p:cNvPr>
          <p:cNvSpPr>
            <a:spLocks xmlns:a="http://schemas.openxmlformats.org/drawingml/2006/main" noGrp="1"/>
          </p:cNvSpPr>
          <p:nvPr/>
        </p:nvSpPr>
        <p:spPr>
          <a:xfrm xmlns:a="http://schemas.openxmlformats.org/drawingml/2006/main">
            <a:off x="8334375" y="4572000"/>
            <a:ext cx="31432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878A"/>
                </a:solidFill>
                <a:latin typeface="Helvetica Neue"/>
                <a:ea typeface="Helvetica Neue"/>
                <a:cs typeface="Helvetica Neue"/>
              </a:defRPr>
            </a:pPr>
            <a:r>
              <a:rPr sz="1950" b="0">
                <a:solidFill>
                  <a:srgbClr val="16878A"/>
                </a:solidFill>
                <a:latin typeface="Helvetica Neue"/>
                <a:ea typeface="Helvetica Neue"/>
                <a:cs typeface="Helvetica Neue"/>
              </a:rPr>
              <a:t>Overall satisfaction does not remove specific heat or access problems.</a:t>
            </a:r>
          </a:p>
        </p:txBody>
      </p:sp>
      <p:sp>
        <p:nvSpPr>
          <p:cNvPr id="9" name="">
            <a:extLst xmlns:a="http://schemas.openxmlformats.org/drawingml/2006/main">
              <a:ext uri="{FF2B5EF4-FFF2-40B4-BE49-F238E27FC236}">
                <a16:creationId xmlns:a16="http://schemas.microsoft.com/office/drawing/2014/main" id="{4BDAB109-A27C-4DC7-83EB-263D154CDCB9}"/>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Source: BMS report, Figures 1–3. Overlapping responses. Chart-derived mean corrects the report’s 2/5 claim.</a:t>
            </a:r>
          </a:p>
        </p:txBody>
      </p:sp>
    </p:spTree>
    <p:extLst>
      <p:ext uri="{BB962C8B-B14F-4D97-AF65-F5344CB8AC3E}">
        <p14:creationId xmlns:p14="http://schemas.microsoft.com/office/powerpoint/2010/main" val="1943498119"/>
      </p:ext>
    </p:extLst>
  </p:cSld>
</p:sld>
</file>

<file path=ppt/slides/slide4.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F6852E8-14B9-4841-883B-B9A3A174C51E}"/>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01  CURRENT-STATE ANALYSIS</a:t>
            </a:r>
          </a:p>
        </p:txBody>
      </p:sp>
      <p:sp>
        <p:nvSpPr>
          <p:cNvPr id="2" name="">
            <a:extLst xmlns:a="http://schemas.openxmlformats.org/drawingml/2006/main">
              <a:ext uri="{FF2B5EF4-FFF2-40B4-BE49-F238E27FC236}">
                <a16:creationId xmlns:a16="http://schemas.microsoft.com/office/drawing/2014/main" id="{1850C10B-8A1E-4209-A1AC-5E2877C83470}"/>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Symptoms, causes and capability gaps</a:t>
            </a:r>
          </a:p>
        </p:txBody>
      </p:sp>
      <p:sp>
        <p:nvSpPr>
          <p:cNvPr id="3" name="">
            <a:extLst xmlns:a="http://schemas.openxmlformats.org/drawingml/2006/main">
              <a:ext uri="{FF2B5EF4-FFF2-40B4-BE49-F238E27FC236}">
                <a16:creationId xmlns:a16="http://schemas.microsoft.com/office/drawing/2014/main" id="{43CA3C5B-0F2F-4711-97F2-6C9C8AC6E4A2}"/>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The process explanations below are hypotheses to test against the reported journeys.</a:t>
            </a:r>
          </a:p>
        </p:txBody>
      </p:sp>
      <p:sp>
        <p:nvSpPr>
          <p:cNvPr id="4" name="">
            <a:extLst xmlns:a="http://schemas.openxmlformats.org/drawingml/2006/main">
              <a:ext uri="{FF2B5EF4-FFF2-40B4-BE49-F238E27FC236}">
                <a16:creationId xmlns:a16="http://schemas.microsoft.com/office/drawing/2014/main" id="{C0094537-BEAC-40E3-86FD-B13E420C5E0E}"/>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04</a:t>
            </a:r>
          </a:p>
        </p:txBody>
      </p:sp>
      <p:graphicFrame>
        <p:nvGraphicFramePr>
          <p:cNvPr id="11" name=""/>
          <p:cNvGraphicFramePr/>
          <p:nvPr/>
        </p:nvGraphicFramePr>
        <p:xfrm>
          <a:off xmlns:a="http://schemas.openxmlformats.org/drawingml/2006/main" x="533400" y="2428875"/>
          <a:ext xmlns:a="http://schemas.openxmlformats.org/drawingml/2006/main" cx="11125200" cy="3476625"/>
        </p:xfrm>
        <a:graphic xmlns:a="http://schemas.openxmlformats.org/drawingml/2006/main">
          <a:graphicData uri="http://schemas.openxmlformats.org/drawingml/2006/table">
            <a:tbl>
              <a:tblPr/>
              <a:tblGrid>
                <a:gridCol w="2238375"/>
                <a:gridCol w="4438650"/>
                <a:gridCol w="4448175"/>
              </a:tblGrid>
              <a:tr h="495300">
                <a:tc>
                  <a:txBody>
                    <a:bodyPr/>
                    <a:lstStyle/>
                    <a:p>
                      <a:r>
                        <a:rPr sz="1650" b="1">
                          <a:solidFill>
                            <a:srgbClr val="FFFFFF"/>
                          </a:solidFill>
                          <a:latin typeface="Helvetica Neue"/>
                          <a:ea typeface="Helvetica Neue"/>
                          <a:cs typeface="Helvetica Neue"/>
                        </a:rPr>
                        <a:t>Diagnostic step</a:t>
                      </a:r>
                    </a:p>
                  </a:txBody>
                  <a:tcPr marL="91440" marR="91440" marT="45720" marB="45720">
                    <a:solidFill>
                      <a:srgbClr val="183449"/>
                    </a:solidFill>
                  </a:tcPr>
                </a:tc>
                <a:tc>
                  <a:txBody>
                    <a:bodyPr/>
                    <a:lstStyle/>
                    <a:p>
                      <a:r>
                        <a:rPr sz="1650" b="1">
                          <a:solidFill>
                            <a:srgbClr val="FFFFFF"/>
                          </a:solidFill>
                          <a:latin typeface="Helvetica Neue"/>
                          <a:ea typeface="Helvetica Neue"/>
                          <a:cs typeface="Helvetica Neue"/>
                        </a:rPr>
                        <a:t>CSE course registration</a:t>
                      </a:r>
                    </a:p>
                  </a:txBody>
                  <a:tcPr marL="91440" marR="91440" marT="45720" marB="45720">
                    <a:solidFill>
                      <a:srgbClr val="183449"/>
                    </a:solidFill>
                  </a:tcPr>
                </a:tc>
                <a:tc>
                  <a:txBody>
                    <a:bodyPr/>
                    <a:lstStyle/>
                    <a:p>
                      <a:r>
                        <a:rPr sz="1650" b="1">
                          <a:solidFill>
                            <a:srgbClr val="FFFFFF"/>
                          </a:solidFill>
                          <a:latin typeface="Helvetica Neue"/>
                          <a:ea typeface="Helvetica Neue"/>
                          <a:cs typeface="Helvetica Neue"/>
                        </a:rPr>
                        <a:t>BMS lab access</a:t>
                      </a:r>
                    </a:p>
                  </a:txBody>
                  <a:tcPr marL="91440" marR="91440" marT="45720" marB="45720">
                    <a:solidFill>
                      <a:srgbClr val="183449"/>
                    </a:solidFill>
                  </a:tcPr>
                </a:tc>
              </a:tr>
              <a:tr h="596265">
                <a:tc>
                  <a:txBody>
                    <a:bodyPr/>
                    <a:lstStyle/>
                    <a:p>
                      <a:r>
                        <a:rPr sz="1650" b="1">
                          <a:solidFill>
                            <a:srgbClr val="233746"/>
                          </a:solidFill>
                          <a:latin typeface="Helvetica Neue"/>
                          <a:ea typeface="Helvetica Neue"/>
                          <a:cs typeface="Helvetica Neue"/>
                        </a:rPr>
                        <a:t>Observed symptom</a:t>
                      </a:r>
                    </a:p>
                  </a:txBody>
                  <a:tcPr marL="91440" marR="91440" marT="45720" marB="45720">
                    <a:solidFill>
                      <a:srgbClr val="FFFFFF"/>
                    </a:solidFill>
                  </a:tcPr>
                </a:tc>
                <a:tc>
                  <a:txBody>
                    <a:bodyPr/>
                    <a:lstStyle/>
                    <a:p>
                      <a:r>
                        <a:rPr sz="1650" b="0">
                          <a:solidFill>
                            <a:srgbClr val="233746"/>
                          </a:solidFill>
                          <a:latin typeface="Helvetica Neue"/>
                          <a:ea typeface="Helvetica Neue"/>
                          <a:cs typeface="Helvetica Neue"/>
                        </a:rPr>
                        <a:t>Uncertainty that registration succeeded</a:t>
                      </a:r>
                    </a:p>
                  </a:txBody>
                  <a:tcPr marL="91440" marR="91440" marT="45720" marB="45720">
                    <a:solidFill>
                      <a:srgbClr val="FFFFFF"/>
                    </a:solidFill>
                  </a:tcPr>
                </a:tc>
                <a:tc>
                  <a:txBody>
                    <a:bodyPr/>
                    <a:lstStyle/>
                    <a:p>
                      <a:r>
                        <a:rPr sz="1650" b="0">
                          <a:solidFill>
                            <a:srgbClr val="233746"/>
                          </a:solidFill>
                          <a:latin typeface="Helvetica Neue"/>
                          <a:ea typeface="Helvetica Neue"/>
                          <a:cs typeface="Helvetica Neue"/>
                        </a:rPr>
                        <a:t>Insufficient practical time reported by 4/8</a:t>
                      </a:r>
                    </a:p>
                  </a:txBody>
                  <a:tcPr marL="91440" marR="91440" marT="45720" marB="45720">
                    <a:solidFill>
                      <a:srgbClr val="FFFFFF"/>
                    </a:solidFill>
                  </a:tcPr>
                </a:tc>
              </a:tr>
              <a:tr h="596265">
                <a:tc>
                  <a:txBody>
                    <a:bodyPr/>
                    <a:lstStyle/>
                    <a:p>
                      <a:r>
                        <a:rPr sz="1650" b="1">
                          <a:solidFill>
                            <a:srgbClr val="233746"/>
                          </a:solidFill>
                          <a:latin typeface="Helvetica Neue"/>
                          <a:ea typeface="Helvetica Neue"/>
                          <a:cs typeface="Helvetica Neue"/>
                        </a:rPr>
                        <a:t>Reported process</a:t>
                      </a:r>
                    </a:p>
                  </a:txBody>
                  <a:tcPr marL="91440" marR="91440" marT="45720" marB="45720">
                    <a:solidFill>
                      <a:srgbClr val="EDF3F4"/>
                    </a:solidFill>
                  </a:tcPr>
                </a:tc>
                <a:tc>
                  <a:txBody>
                    <a:bodyPr/>
                    <a:lstStyle/>
                    <a:p>
                      <a:r>
                        <a:rPr sz="1650" b="0">
                          <a:solidFill>
                            <a:srgbClr val="233746"/>
                          </a:solidFill>
                          <a:latin typeface="Helvetica Neue"/>
                          <a:ea typeface="Helvetica Neue"/>
                          <a:cs typeface="Helvetica Neue"/>
                        </a:rPr>
                        <a:t>Select courses, submit, check, email staff if unclear</a:t>
                      </a:r>
                    </a:p>
                  </a:txBody>
                  <a:tcPr marL="91440" marR="91440" marT="45720" marB="45720">
                    <a:solidFill>
                      <a:srgbClr val="EDF3F4"/>
                    </a:solidFill>
                  </a:tcPr>
                </a:tc>
                <a:tc>
                  <a:txBody>
                    <a:bodyPr/>
                    <a:lstStyle/>
                    <a:p>
                      <a:r>
                        <a:rPr sz="1650" b="0">
                          <a:solidFill>
                            <a:srgbClr val="233746"/>
                          </a:solidFill>
                          <a:latin typeface="Helvetica Neue"/>
                          <a:ea typeface="Helvetica Neue"/>
                          <a:cs typeface="Helvetica Neue"/>
                        </a:rPr>
                        <a:t>Request equipment/access, obtain approval, use lab</a:t>
                      </a:r>
                    </a:p>
                  </a:txBody>
                  <a:tcPr marL="91440" marR="91440" marT="45720" marB="45720">
                    <a:solidFill>
                      <a:srgbClr val="EDF3F4"/>
                    </a:solidFill>
                  </a:tcPr>
                </a:tc>
              </a:tr>
              <a:tr h="596265">
                <a:tc>
                  <a:txBody>
                    <a:bodyPr/>
                    <a:lstStyle/>
                    <a:p>
                      <a:r>
                        <a:rPr sz="1650" b="1">
                          <a:solidFill>
                            <a:srgbClr val="233746"/>
                          </a:solidFill>
                          <a:latin typeface="Helvetica Neue"/>
                          <a:ea typeface="Helvetica Neue"/>
                          <a:cs typeface="Helvetica Neue"/>
                        </a:rPr>
                        <a:t>Cause to test</a:t>
                      </a:r>
                    </a:p>
                  </a:txBody>
                  <a:tcPr marL="91440" marR="91440" marT="45720" marB="45720">
                    <a:solidFill>
                      <a:srgbClr val="FFFFFF"/>
                    </a:solidFill>
                  </a:tcPr>
                </a:tc>
                <a:tc>
                  <a:txBody>
                    <a:bodyPr/>
                    <a:lstStyle/>
                    <a:p>
                      <a:r>
                        <a:rPr sz="1650" b="0">
                          <a:solidFill>
                            <a:srgbClr val="233746"/>
                          </a:solidFill>
                          <a:latin typeface="Helvetica Neue"/>
                          <a:ea typeface="Helvetica Neue"/>
                          <a:cs typeface="Helvetica Neue"/>
                        </a:rPr>
                        <a:t>Unclear confirmation and slow exception handling</a:t>
                      </a:r>
                    </a:p>
                  </a:txBody>
                  <a:tcPr marL="91440" marR="91440" marT="45720" marB="45720">
                    <a:solidFill>
                      <a:srgbClr val="FFFFFF"/>
                    </a:solidFill>
                  </a:tcPr>
                </a:tc>
                <a:tc>
                  <a:txBody>
                    <a:bodyPr/>
                    <a:lstStyle/>
                    <a:p>
                      <a:r>
                        <a:rPr sz="1650" b="0">
                          <a:solidFill>
                            <a:srgbClr val="233746"/>
                          </a:solidFill>
                          <a:latin typeface="Helvetica Neue"/>
                          <a:ea typeface="Helvetica Neue"/>
                          <a:cs typeface="Helvetica Neue"/>
                        </a:rPr>
                        <a:t>Approval friction, session capacity or supervision gaps</a:t>
                      </a:r>
                    </a:p>
                  </a:txBody>
                  <a:tcPr marL="91440" marR="91440" marT="45720" marB="45720">
                    <a:solidFill>
                      <a:srgbClr val="FFFFFF"/>
                    </a:solidFill>
                  </a:tcPr>
                </a:tc>
              </a:tr>
              <a:tr h="596265">
                <a:tc>
                  <a:txBody>
                    <a:bodyPr/>
                    <a:lstStyle/>
                    <a:p>
                      <a:r>
                        <a:rPr sz="1650" b="1">
                          <a:solidFill>
                            <a:srgbClr val="233746"/>
                          </a:solidFill>
                          <a:latin typeface="Helvetica Neue"/>
                          <a:ea typeface="Helvetica Neue"/>
                          <a:cs typeface="Helvetica Neue"/>
                        </a:rPr>
                        <a:t>Capability gap to test</a:t>
                      </a:r>
                    </a:p>
                  </a:txBody>
                  <a:tcPr marL="91440" marR="91440" marT="45720" marB="45720">
                    <a:solidFill>
                      <a:srgbClr val="EDF3F4"/>
                    </a:solidFill>
                  </a:tcPr>
                </a:tc>
                <a:tc>
                  <a:txBody>
                    <a:bodyPr/>
                    <a:lstStyle/>
                    <a:p>
                      <a:r>
                        <a:rPr sz="1650" b="0">
                          <a:solidFill>
                            <a:srgbClr val="233746"/>
                          </a:solidFill>
                          <a:latin typeface="Helvetica Neue"/>
                          <a:ea typeface="Helvetica Neue"/>
                          <a:cs typeface="Helvetica Neue"/>
                        </a:rPr>
                        <a:t>Reliable status, clear rules and exception ownership</a:t>
                      </a:r>
                    </a:p>
                  </a:txBody>
                  <a:tcPr marL="91440" marR="91440" marT="45720" marB="45720">
                    <a:solidFill>
                      <a:srgbClr val="EDF3F4"/>
                    </a:solidFill>
                  </a:tcPr>
                </a:tc>
                <a:tc>
                  <a:txBody>
                    <a:bodyPr/>
                    <a:lstStyle/>
                    <a:p>
                      <a:r>
                        <a:rPr sz="1650" b="0">
                          <a:solidFill>
                            <a:srgbClr val="233746"/>
                          </a:solidFill>
                          <a:latin typeface="Helvetica Neue"/>
                          <a:ea typeface="Helvetica Neue"/>
                          <a:cs typeface="Helvetica Neue"/>
                        </a:rPr>
                        <a:t>Availability data, coverage and clear access rules</a:t>
                      </a:r>
                    </a:p>
                  </a:txBody>
                  <a:tcPr marL="91440" marR="91440" marT="45720" marB="45720">
                    <a:solidFill>
                      <a:srgbClr val="EDF3F4"/>
                    </a:solidFill>
                  </a:tcPr>
                </a:tc>
              </a:tr>
              <a:tr h="596265">
                <a:tc>
                  <a:txBody>
                    <a:bodyPr/>
                    <a:lstStyle/>
                    <a:p>
                      <a:r>
                        <a:rPr sz="1650" b="1">
                          <a:solidFill>
                            <a:srgbClr val="233746"/>
                          </a:solidFill>
                          <a:latin typeface="Helvetica Neue"/>
                          <a:ea typeface="Helvetica Neue"/>
                          <a:cs typeface="Helvetica Neue"/>
                        </a:rPr>
                        <a:t>Potential impact</a:t>
                      </a:r>
                    </a:p>
                  </a:txBody>
                  <a:tcPr marL="91440" marR="91440" marT="45720" marB="45720">
                    <a:solidFill>
                      <a:srgbClr val="FFFFFF"/>
                    </a:solidFill>
                  </a:tcPr>
                </a:tc>
                <a:tc>
                  <a:txBody>
                    <a:bodyPr/>
                    <a:lstStyle/>
                    <a:p>
                      <a:r>
                        <a:rPr sz="1650" b="0">
                          <a:solidFill>
                            <a:srgbClr val="233746"/>
                          </a:solidFill>
                          <a:latin typeface="Helvetica Neue"/>
                          <a:ea typeface="Helvetica Neue"/>
                          <a:cs typeface="Helvetica Neue"/>
                        </a:rPr>
                        <a:t>Repeated contact and registration rework</a:t>
                      </a:r>
                    </a:p>
                  </a:txBody>
                  <a:tcPr marL="91440" marR="91440" marT="45720" marB="45720">
                    <a:solidFill>
                      <a:srgbClr val="FFFFFF"/>
                    </a:solidFill>
                  </a:tcPr>
                </a:tc>
                <a:tc>
                  <a:txBody>
                    <a:bodyPr/>
                    <a:lstStyle/>
                    <a:p>
                      <a:r>
                        <a:rPr sz="1650" b="0">
                          <a:solidFill>
                            <a:srgbClr val="233746"/>
                          </a:solidFill>
                          <a:latin typeface="Helvetica Neue"/>
                          <a:ea typeface="Helvetica Neue"/>
                          <a:cs typeface="Helvetica Neue"/>
                        </a:rPr>
                        <a:t>Less practice or rushed sessions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9DF2C694-3EAC-4ABA-ACBD-AB700273D6E9}"/>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Reported processes are simplified reconstructions. Root causes and impact magnitude remain unverified.</a:t>
            </a:r>
          </a:p>
        </p:txBody>
      </p:sp>
    </p:spTree>
    <p:extLst>
      <p:ext uri="{BB962C8B-B14F-4D97-AF65-F5344CB8AC3E}">
        <p14:creationId xmlns:p14="http://schemas.microsoft.com/office/powerpoint/2010/main" val="1262208836"/>
      </p:ext>
    </p:extLst>
  </p:cSld>
</p:sld>
</file>

<file path=ppt/slides/slide5.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F8A4466-8032-456E-93AB-C4F229FE4571}"/>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02  DOMAIN IDENTIFICATION</a:t>
            </a:r>
          </a:p>
        </p:txBody>
      </p:sp>
      <p:sp>
        <p:nvSpPr>
          <p:cNvPr id="2" name="">
            <a:extLst xmlns:a="http://schemas.openxmlformats.org/drawingml/2006/main">
              <a:ext uri="{FF2B5EF4-FFF2-40B4-BE49-F238E27FC236}">
                <a16:creationId xmlns:a16="http://schemas.microsoft.com/office/drawing/2014/main" id="{EB539CEE-3681-4C65-AA83-86A3BDFDCAB5}"/>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Eight domains across BMS and CSE</a:t>
            </a:r>
          </a:p>
        </p:txBody>
      </p:sp>
      <p:sp>
        <p:nvSpPr>
          <p:cNvPr id="3" name="">
            <a:extLst xmlns:a="http://schemas.openxmlformats.org/drawingml/2006/main">
              <a:ext uri="{FF2B5EF4-FFF2-40B4-BE49-F238E27FC236}">
                <a16:creationId xmlns:a16="http://schemas.microsoft.com/office/drawing/2014/main" id="{0E981430-35BC-4D18-9D17-8106609FD376}"/>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The landscape comes first. Related journeys then form three candidates for assessment.</a:t>
            </a:r>
          </a:p>
        </p:txBody>
      </p:sp>
      <p:sp>
        <p:nvSpPr>
          <p:cNvPr id="4" name="">
            <a:extLst xmlns:a="http://schemas.openxmlformats.org/drawingml/2006/main">
              <a:ext uri="{FF2B5EF4-FFF2-40B4-BE49-F238E27FC236}">
                <a16:creationId xmlns:a16="http://schemas.microsoft.com/office/drawing/2014/main" id="{B822AAF0-6692-4C46-9E96-F31FEB393498}"/>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05</a:t>
            </a:r>
          </a:p>
        </p:txBody>
      </p:sp>
      <p:graphicFrame>
        <p:nvGraphicFramePr>
          <p:cNvPr id="11" name=""/>
          <p:cNvGraphicFramePr/>
          <p:nvPr/>
        </p:nvGraphicFramePr>
        <p:xfrm>
          <a:off xmlns:a="http://schemas.openxmlformats.org/drawingml/2006/main" x="533400" y="2428875"/>
          <a:ext xmlns:a="http://schemas.openxmlformats.org/drawingml/2006/main" cx="11125200" cy="3619500"/>
        </p:xfrm>
        <a:graphic xmlns:a="http://schemas.openxmlformats.org/drawingml/2006/main">
          <a:graphicData uri="http://schemas.openxmlformats.org/drawingml/2006/table">
            <a:tbl>
              <a:tblPr/>
              <a:tblGrid>
                <a:gridCol w="4000500"/>
                <a:gridCol w="4476750"/>
                <a:gridCol w="2647950"/>
              </a:tblGrid>
              <a:tr h="495300">
                <a:tc>
                  <a:txBody>
                    <a:bodyPr/>
                    <a:lstStyle/>
                    <a:p>
                      <a:r>
                        <a:rPr sz="1575" b="1">
                          <a:solidFill>
                            <a:srgbClr val="FFFFFF"/>
                          </a:solidFill>
                          <a:latin typeface="Helvetica Neue"/>
                          <a:ea typeface="Helvetica Neue"/>
                          <a:cs typeface="Helvetica Neue"/>
                        </a:rPr>
                        <a:t>Operational domain</a:t>
                      </a:r>
                    </a:p>
                  </a:txBody>
                  <a:tcPr marL="91440" marR="91440" marT="45720" marB="45720">
                    <a:solidFill>
                      <a:srgbClr val="183449"/>
                    </a:solidFill>
                  </a:tcPr>
                </a:tc>
                <a:tc>
                  <a:txBody>
                    <a:bodyPr/>
                    <a:lstStyle/>
                    <a:p>
                      <a:r>
                        <a:rPr sz="1575" b="1">
                          <a:solidFill>
                            <a:srgbClr val="FFFFFF"/>
                          </a:solidFill>
                          <a:latin typeface="Helvetica Neue"/>
                          <a:ea typeface="Helvetica Neue"/>
                          <a:cs typeface="Helvetica Neue"/>
                        </a:rPr>
                        <a:t>End outcome</a:t>
                      </a:r>
                    </a:p>
                  </a:txBody>
                  <a:tcPr marL="91440" marR="91440" marT="45720" marB="45720">
                    <a:solidFill>
                      <a:srgbClr val="183449"/>
                    </a:solidFill>
                  </a:tcPr>
                </a:tc>
                <a:tc>
                  <a:txBody>
                    <a:bodyPr/>
                    <a:lstStyle/>
                    <a:p>
                      <a:r>
                        <a:rPr sz="1575" b="1">
                          <a:solidFill>
                            <a:srgbClr val="FFFFFF"/>
                          </a:solidFill>
                          <a:latin typeface="Helvetica Neue"/>
                          <a:ea typeface="Helvetica Neue"/>
                          <a:cs typeface="Helvetica Neue"/>
                        </a:rPr>
                        <a:t>Evidence</a:t>
                      </a:r>
                    </a:p>
                  </a:txBody>
                  <a:tcPr marL="91440" marR="91440" marT="45720" marB="45720">
                    <a:solidFill>
                      <a:srgbClr val="183449"/>
                    </a:solidFill>
                  </a:tcPr>
                </a:tc>
              </a:tr>
              <a:tr h="390525">
                <a:tc>
                  <a:txBody>
                    <a:bodyPr/>
                    <a:lstStyle/>
                    <a:p>
                      <a:r>
                        <a:rPr sz="1575" b="1">
                          <a:solidFill>
                            <a:srgbClr val="233746"/>
                          </a:solidFill>
                          <a:latin typeface="Helvetica Neue"/>
                          <a:ea typeface="Helvetica Neue"/>
                          <a:cs typeface="Helvetica Neue"/>
                        </a:rPr>
                        <a:t>Course planning and registration</a:t>
                      </a:r>
                    </a:p>
                  </a:txBody>
                  <a:tcPr marL="91440" marR="91440" marT="45720" marB="45720">
                    <a:solidFill>
                      <a:srgbClr val="FFFFFF"/>
                    </a:solidFill>
                  </a:tcPr>
                </a:tc>
                <a:tc>
                  <a:txBody>
                    <a:bodyPr/>
                    <a:lstStyle/>
                    <a:p>
                      <a:r>
                        <a:rPr sz="1575" b="0">
                          <a:solidFill>
                            <a:srgbClr val="233746"/>
                          </a:solidFill>
                          <a:latin typeface="Helvetica Neue"/>
                          <a:ea typeface="Helvetica Neue"/>
                          <a:cs typeface="Helvetica Neue"/>
                        </a:rPr>
                        <a:t>Valid course selection confirmed</a:t>
                      </a:r>
                    </a:p>
                  </a:txBody>
                  <a:tcPr marL="91440" marR="91440" marT="45720" marB="45720">
                    <a:solidFill>
                      <a:srgbClr val="FFFFFF"/>
                    </a:solidFill>
                  </a:tcPr>
                </a:tc>
                <a:tc>
                  <a:txBody>
                    <a:bodyPr/>
                    <a:lstStyle/>
                    <a:p>
                      <a:r>
                        <a:rPr sz="1575" b="0">
                          <a:solidFill>
                            <a:srgbClr val="233746"/>
                          </a:solidFill>
                          <a:latin typeface="Helvetica Neue"/>
                          <a:ea typeface="Helvetica Neue"/>
                          <a:cs typeface="Helvetica Neue"/>
                        </a:rPr>
                        <a:t>CSE</a:t>
                      </a:r>
                    </a:p>
                  </a:txBody>
                  <a:tcPr marL="91440" marR="91440" marT="45720" marB="45720">
                    <a:solidFill>
                      <a:srgbClr val="FFFFFF"/>
                    </a:solidFill>
                  </a:tcPr>
                </a:tc>
              </a:tr>
              <a:tr h="390525">
                <a:tc>
                  <a:txBody>
                    <a:bodyPr/>
                    <a:lstStyle/>
                    <a:p>
                      <a:r>
                        <a:rPr sz="1575" b="1">
                          <a:solidFill>
                            <a:srgbClr val="233746"/>
                          </a:solidFill>
                          <a:latin typeface="Helvetica Neue"/>
                          <a:ea typeface="Helvetica Neue"/>
                          <a:cs typeface="Helvetica Neue"/>
                        </a:rPr>
                        <a:t>Academic advising</a:t>
                      </a:r>
                    </a:p>
                  </a:txBody>
                  <a:tcPr marL="91440" marR="91440" marT="45720" marB="45720">
                    <a:solidFill>
                      <a:srgbClr val="EDF3F4"/>
                    </a:solidFill>
                  </a:tcPr>
                </a:tc>
                <a:tc>
                  <a:txBody>
                    <a:bodyPr/>
                    <a:lstStyle/>
                    <a:p>
                      <a:r>
                        <a:rPr sz="1575" b="0">
                          <a:solidFill>
                            <a:srgbClr val="233746"/>
                          </a:solidFill>
                          <a:latin typeface="Helvetica Neue"/>
                          <a:ea typeface="Helvetica Neue"/>
                          <a:cs typeface="Helvetica Neue"/>
                        </a:rPr>
                        <a:t>Answer or referral completed</a:t>
                      </a:r>
                    </a:p>
                  </a:txBody>
                  <a:tcPr marL="91440" marR="91440" marT="45720" marB="45720">
                    <a:solidFill>
                      <a:srgbClr val="EDF3F4"/>
                    </a:solidFill>
                  </a:tcPr>
                </a:tc>
                <a:tc>
                  <a:txBody>
                    <a:bodyPr/>
                    <a:lstStyle/>
                    <a:p>
                      <a:r>
                        <a:rPr sz="1575" b="0">
                          <a:solidFill>
                            <a:srgbClr val="233746"/>
                          </a:solidFill>
                          <a:latin typeface="Helvetica Neue"/>
                          <a:ea typeface="Helvetica Neue"/>
                          <a:cs typeface="Helvetica Neue"/>
                        </a:rPr>
                        <a:t>Mainly CSE</a:t>
                      </a:r>
                    </a:p>
                  </a:txBody>
                  <a:tcPr marL="91440" marR="91440" marT="45720" marB="45720">
                    <a:solidFill>
                      <a:srgbClr val="EDF3F4"/>
                    </a:solidFill>
                  </a:tcPr>
                </a:tc>
              </a:tr>
              <a:tr h="390525">
                <a:tc>
                  <a:txBody>
                    <a:bodyPr/>
                    <a:lstStyle/>
                    <a:p>
                      <a:r>
                        <a:rPr sz="1575" b="1">
                          <a:solidFill>
                            <a:srgbClr val="233746"/>
                          </a:solidFill>
                          <a:latin typeface="Helvetica Neue"/>
                          <a:ea typeface="Helvetica Neue"/>
                          <a:cs typeface="Helvetica Neue"/>
                        </a:rPr>
                        <a:t>Thesis registration and supervision</a:t>
                      </a:r>
                    </a:p>
                  </a:txBody>
                  <a:tcPr marL="91440" marR="91440" marT="45720" marB="45720">
                    <a:solidFill>
                      <a:srgbClr val="FFFFFF"/>
                    </a:solidFill>
                  </a:tcPr>
                </a:tc>
                <a:tc>
                  <a:txBody>
                    <a:bodyPr/>
                    <a:lstStyle/>
                    <a:p>
                      <a:r>
                        <a:rPr sz="1575" b="0">
                          <a:solidFill>
                            <a:srgbClr val="233746"/>
                          </a:solidFill>
                          <a:latin typeface="Helvetica Neue"/>
                          <a:ea typeface="Helvetica Neue"/>
                          <a:cs typeface="Helvetica Neue"/>
                        </a:rPr>
                        <a:t>Agreed milestones completed</a:t>
                      </a:r>
                    </a:p>
                  </a:txBody>
                  <a:tcPr marL="91440" marR="91440" marT="45720" marB="45720">
                    <a:solidFill>
                      <a:srgbClr val="FFFFFF"/>
                    </a:solidFill>
                  </a:tcPr>
                </a:tc>
                <a:tc>
                  <a:txBody>
                    <a:bodyPr/>
                    <a:lstStyle/>
                    <a:p>
                      <a:r>
                        <a:rPr sz="1575" b="0">
                          <a:solidFill>
                            <a:srgbClr val="233746"/>
                          </a:solidFill>
                          <a:latin typeface="Helvetica Neue"/>
                          <a:ea typeface="Helvetica Neue"/>
                          <a:cs typeface="Helvetica Neue"/>
                        </a:rPr>
                        <a:t>CSE</a:t>
                      </a:r>
                    </a:p>
                  </a:txBody>
                  <a:tcPr marL="91440" marR="91440" marT="45720" marB="45720">
                    <a:solidFill>
                      <a:srgbClr val="FFFFFF"/>
                    </a:solidFill>
                  </a:tcPr>
                </a:tc>
              </a:tr>
              <a:tr h="390525">
                <a:tc>
                  <a:txBody>
                    <a:bodyPr/>
                    <a:lstStyle/>
                    <a:p>
                      <a:r>
                        <a:rPr sz="1575" b="1">
                          <a:solidFill>
                            <a:srgbClr val="233746"/>
                          </a:solidFill>
                          <a:latin typeface="Helvetica Neue"/>
                          <a:ea typeface="Helvetica Neue"/>
                          <a:cs typeface="Helvetica Neue"/>
                        </a:rPr>
                        <a:t>Graduation clearance</a:t>
                      </a:r>
                    </a:p>
                  </a:txBody>
                  <a:tcPr marL="91440" marR="91440" marT="45720" marB="45720">
                    <a:solidFill>
                      <a:srgbClr val="EDF3F4"/>
                    </a:solidFill>
                  </a:tcPr>
                </a:tc>
                <a:tc>
                  <a:txBody>
                    <a:bodyPr/>
                    <a:lstStyle/>
                    <a:p>
                      <a:r>
                        <a:rPr sz="1575" b="0">
                          <a:solidFill>
                            <a:srgbClr val="233746"/>
                          </a:solidFill>
                          <a:latin typeface="Helvetica Neue"/>
                          <a:ea typeface="Helvetica Neue"/>
                          <a:cs typeface="Helvetica Neue"/>
                        </a:rPr>
                        <a:t>Eligibility and exceptions resolved</a:t>
                      </a:r>
                    </a:p>
                  </a:txBody>
                  <a:tcPr marL="91440" marR="91440" marT="45720" marB="45720">
                    <a:solidFill>
                      <a:srgbClr val="EDF3F4"/>
                    </a:solidFill>
                  </a:tcPr>
                </a:tc>
                <a:tc>
                  <a:txBody>
                    <a:bodyPr/>
                    <a:lstStyle/>
                    <a:p>
                      <a:r>
                        <a:rPr sz="1575" b="0">
                          <a:solidFill>
                            <a:srgbClr val="233746"/>
                          </a:solidFill>
                          <a:latin typeface="Helvetica Neue"/>
                          <a:ea typeface="Helvetica Neue"/>
                          <a:cs typeface="Helvetica Neue"/>
                        </a:rPr>
                        <a:t>CSE</a:t>
                      </a:r>
                    </a:p>
                  </a:txBody>
                  <a:tcPr marL="91440" marR="91440" marT="45720" marB="45720">
                    <a:solidFill>
                      <a:srgbClr val="EDF3F4"/>
                    </a:solidFill>
                  </a:tcPr>
                </a:tc>
              </a:tr>
              <a:tr h="390525">
                <a:tc>
                  <a:txBody>
                    <a:bodyPr/>
                    <a:lstStyle/>
                    <a:p>
                      <a:r>
                        <a:rPr sz="1575" b="1">
                          <a:solidFill>
                            <a:srgbClr val="233746"/>
                          </a:solidFill>
                          <a:latin typeface="Helvetica Neue"/>
                          <a:ea typeface="Helvetica Neue"/>
                          <a:cs typeface="Helvetica Neue"/>
                        </a:rPr>
                        <a:t>Practical-resource access</a:t>
                      </a:r>
                    </a:p>
                  </a:txBody>
                  <a:tcPr marL="91440" marR="91440" marT="45720" marB="45720">
                    <a:solidFill>
                      <a:srgbClr val="FFFFFF"/>
                    </a:solidFill>
                  </a:tcPr>
                </a:tc>
                <a:tc>
                  <a:txBody>
                    <a:bodyPr/>
                    <a:lstStyle/>
                    <a:p>
                      <a:r>
                        <a:rPr sz="1575" b="0">
                          <a:solidFill>
                            <a:srgbClr val="233746"/>
                          </a:solidFill>
                          <a:latin typeface="Helvetica Neue"/>
                          <a:ea typeface="Helvetica Neue"/>
                          <a:cs typeface="Helvetica Neue"/>
                        </a:rPr>
                        <a:t>Practical session completed</a:t>
                      </a:r>
                    </a:p>
                  </a:txBody>
                  <a:tcPr marL="91440" marR="91440" marT="45720" marB="45720">
                    <a:solidFill>
                      <a:srgbClr val="FFFFFF"/>
                    </a:solidFill>
                  </a:tcPr>
                </a:tc>
                <a:tc>
                  <a:txBody>
                    <a:bodyPr/>
                    <a:lstStyle/>
                    <a:p>
                      <a:r>
                        <a:rPr sz="1575" b="0">
                          <a:solidFill>
                            <a:srgbClr val="233746"/>
                          </a:solidFill>
                          <a:latin typeface="Helvetica Neue"/>
                          <a:ea typeface="Helvetica Neue"/>
                          <a:cs typeface="Helvetica Neue"/>
                        </a:rPr>
                        <a:t>BMS + CSE</a:t>
                      </a:r>
                    </a:p>
                  </a:txBody>
                  <a:tcPr marL="91440" marR="91440" marT="45720" marB="45720">
                    <a:solidFill>
                      <a:srgbClr val="FFFFFF"/>
                    </a:solidFill>
                  </a:tcPr>
                </a:tc>
              </a:tr>
              <a:tr h="390525">
                <a:tc>
                  <a:txBody>
                    <a:bodyPr/>
                    <a:lstStyle/>
                    <a:p>
                      <a:r>
                        <a:rPr sz="1575" b="1">
                          <a:solidFill>
                            <a:srgbClr val="233746"/>
                          </a:solidFill>
                          <a:latin typeface="Helvetica Neue"/>
                          <a:ea typeface="Helvetica Neue"/>
                          <a:cs typeface="Helvetica Neue"/>
                        </a:rPr>
                        <a:t>Facility and equipment maintenance</a:t>
                      </a:r>
                    </a:p>
                  </a:txBody>
                  <a:tcPr marL="91440" marR="91440" marT="45720" marB="45720">
                    <a:solidFill>
                      <a:srgbClr val="EDF3F4"/>
                    </a:solidFill>
                  </a:tcPr>
                </a:tc>
                <a:tc>
                  <a:txBody>
                    <a:bodyPr/>
                    <a:lstStyle/>
                    <a:p>
                      <a:r>
                        <a:rPr sz="1575" b="0">
                          <a:solidFill>
                            <a:srgbClr val="233746"/>
                          </a:solidFill>
                          <a:latin typeface="Helvetica Neue"/>
                          <a:ea typeface="Helvetica Neue"/>
                          <a:cs typeface="Helvetica Neue"/>
                        </a:rPr>
                        <a:t>Fault resolved and availability verified</a:t>
                      </a:r>
                    </a:p>
                  </a:txBody>
                  <a:tcPr marL="91440" marR="91440" marT="45720" marB="45720">
                    <a:solidFill>
                      <a:srgbClr val="EDF3F4"/>
                    </a:solidFill>
                  </a:tcPr>
                </a:tc>
                <a:tc>
                  <a:txBody>
                    <a:bodyPr/>
                    <a:lstStyle/>
                    <a:p>
                      <a:r>
                        <a:rPr sz="1575" b="0">
                          <a:solidFill>
                            <a:srgbClr val="233746"/>
                          </a:solidFill>
                          <a:latin typeface="Helvetica Neue"/>
                          <a:ea typeface="Helvetica Neue"/>
                          <a:cs typeface="Helvetica Neue"/>
                        </a:rPr>
                        <a:t>BMS + CSE</a:t>
                      </a:r>
                    </a:p>
                  </a:txBody>
                  <a:tcPr marL="91440" marR="91440" marT="45720" marB="45720">
                    <a:solidFill>
                      <a:srgbClr val="EDF3F4"/>
                    </a:solidFill>
                  </a:tcPr>
                </a:tc>
              </a:tr>
              <a:tr h="390525">
                <a:tc>
                  <a:txBody>
                    <a:bodyPr/>
                    <a:lstStyle/>
                    <a:p>
                      <a:r>
                        <a:rPr sz="1575" b="1">
                          <a:solidFill>
                            <a:srgbClr val="233746"/>
                          </a:solidFill>
                          <a:latin typeface="Helvetica Neue"/>
                          <a:ea typeface="Helvetica Neue"/>
                          <a:cs typeface="Helvetica Neue"/>
                        </a:rPr>
                        <a:t>Learning support</a:t>
                      </a:r>
                    </a:p>
                  </a:txBody>
                  <a:tcPr marL="91440" marR="91440" marT="45720" marB="45720">
                    <a:solidFill>
                      <a:srgbClr val="FFFFFF"/>
                    </a:solidFill>
                  </a:tcPr>
                </a:tc>
                <a:tc>
                  <a:txBody>
                    <a:bodyPr/>
                    <a:lstStyle/>
                    <a:p>
                      <a:r>
                        <a:rPr sz="1575" b="0">
                          <a:solidFill>
                            <a:srgbClr val="233746"/>
                          </a:solidFill>
                          <a:latin typeface="Helvetica Neue"/>
                          <a:ea typeface="Helvetica Neue"/>
                          <a:cs typeface="Helvetica Neue"/>
                        </a:rPr>
                        <a:t>Learning difficulty addressed</a:t>
                      </a:r>
                    </a:p>
                  </a:txBody>
                  <a:tcPr marL="91440" marR="91440" marT="45720" marB="45720">
                    <a:solidFill>
                      <a:srgbClr val="FFFFFF"/>
                    </a:solidFill>
                  </a:tcPr>
                </a:tc>
                <a:tc>
                  <a:txBody>
                    <a:bodyPr/>
                    <a:lstStyle/>
                    <a:p>
                      <a:r>
                        <a:rPr sz="1575" b="0">
                          <a:solidFill>
                            <a:srgbClr val="233746"/>
                          </a:solidFill>
                          <a:latin typeface="Helvetica Neue"/>
                          <a:ea typeface="Helvetica Neue"/>
                          <a:cs typeface="Helvetica Neue"/>
                        </a:rPr>
                        <a:t>BMS + CSE</a:t>
                      </a:r>
                    </a:p>
                  </a:txBody>
                  <a:tcPr marL="91440" marR="91440" marT="45720" marB="45720">
                    <a:solidFill>
                      <a:srgbClr val="FFFFFF"/>
                    </a:solidFill>
                  </a:tcPr>
                </a:tc>
              </a:tr>
              <a:tr h="390525">
                <a:tc>
                  <a:txBody>
                    <a:bodyPr/>
                    <a:lstStyle/>
                    <a:p>
                      <a:r>
                        <a:rPr sz="1575" b="1">
                          <a:solidFill>
                            <a:srgbClr val="233746"/>
                          </a:solidFill>
                          <a:latin typeface="Helvetica Neue"/>
                          <a:ea typeface="Helvetica Neue"/>
                          <a:cs typeface="Helvetica Neue"/>
                        </a:rPr>
                        <a:t>Career and research opportunities</a:t>
                      </a:r>
                    </a:p>
                  </a:txBody>
                  <a:tcPr marL="91440" marR="91440" marT="45720" marB="45720">
                    <a:solidFill>
                      <a:srgbClr val="EDF3F4"/>
                    </a:solidFill>
                  </a:tcPr>
                </a:tc>
                <a:tc>
                  <a:txBody>
                    <a:bodyPr/>
                    <a:lstStyle/>
                    <a:p>
                      <a:r>
                        <a:rPr sz="1575" b="0">
                          <a:solidFill>
                            <a:srgbClr val="233746"/>
                          </a:solidFill>
                          <a:latin typeface="Helvetica Neue"/>
                          <a:ea typeface="Helvetica Neue"/>
                          <a:cs typeface="Helvetica Neue"/>
                        </a:rPr>
                        <a:t>Guidance or application completed</a:t>
                      </a:r>
                    </a:p>
                  </a:txBody>
                  <a:tcPr marL="91440" marR="91440" marT="45720" marB="45720">
                    <a:solidFill>
                      <a:srgbClr val="EDF3F4"/>
                    </a:solidFill>
                  </a:tcPr>
                </a:tc>
                <a:tc>
                  <a:txBody>
                    <a:bodyPr/>
                    <a:lstStyle/>
                    <a:p>
                      <a:r>
                        <a:rPr sz="1575" b="0">
                          <a:solidFill>
                            <a:srgbClr val="233746"/>
                          </a:solidFill>
                          <a:latin typeface="Helvetica Neue"/>
                          <a:ea typeface="Helvetica Neue"/>
                          <a:cs typeface="Helvetica Neue"/>
                        </a:rPr>
                        <a:t>Mainly CSE</a:t>
                      </a:r>
                    </a:p>
                  </a:txBody>
                  <a:tcPr marL="91440" marR="91440" marT="45720" marB="45720">
                    <a:solidFill>
                      <a:srgbClr val="EDF3F4"/>
                    </a:solidFill>
                  </a:tcPr>
                </a:tc>
              </a:tr>
            </a:tbl>
          </a:graphicData>
        </a:graphic>
      </p:graphicFrame>
      <p:sp>
        <p:nvSpPr>
          <p:cNvPr id="6" name="">
            <a:extLst xmlns:a="http://schemas.openxmlformats.org/drawingml/2006/main">
              <a:ext uri="{FF2B5EF4-FFF2-40B4-BE49-F238E27FC236}">
                <a16:creationId xmlns:a16="http://schemas.microsoft.com/office/drawing/2014/main" id="{C84F770F-F5EB-4B8B-9EEE-FA756F43B7C6}"/>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Source: Customer Experience module interviews, BMS survey and journey analyses.</a:t>
            </a:r>
          </a:p>
        </p:txBody>
      </p:sp>
    </p:spTree>
    <p:extLst>
      <p:ext uri="{BB962C8B-B14F-4D97-AF65-F5344CB8AC3E}">
        <p14:creationId xmlns:p14="http://schemas.microsoft.com/office/powerpoint/2010/main" val="369426269"/>
      </p:ext>
    </p:extLst>
  </p:cSld>
</p:sld>
</file>

<file path=ppt/slides/slide6.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CDFD134-EA7A-4EB5-B162-D9E9418E363C}"/>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02  DOMAIN IDENTIFICATION</a:t>
            </a:r>
          </a:p>
        </p:txBody>
      </p:sp>
      <p:sp>
        <p:nvSpPr>
          <p:cNvPr id="2" name="">
            <a:extLst xmlns:a="http://schemas.openxmlformats.org/drawingml/2006/main">
              <a:ext uri="{FF2B5EF4-FFF2-40B4-BE49-F238E27FC236}">
                <a16:creationId xmlns:a16="http://schemas.microsoft.com/office/drawing/2014/main" id="{40F843E7-2028-4CEE-B60F-E8612D2B1587}"/>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Three curated transformation domains</a:t>
            </a:r>
          </a:p>
        </p:txBody>
      </p:sp>
      <p:sp>
        <p:nvSpPr>
          <p:cNvPr id="3" name="">
            <a:extLst xmlns:a="http://schemas.openxmlformats.org/drawingml/2006/main">
              <a:ext uri="{FF2B5EF4-FFF2-40B4-BE49-F238E27FC236}">
                <a16:creationId xmlns:a16="http://schemas.microsoft.com/office/drawing/2014/main" id="{F5122C30-B415-440C-87D6-D208AAE25798}"/>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Selection reflects problem evidence, a clear outcome and connected activities across teams.</a:t>
            </a:r>
          </a:p>
        </p:txBody>
      </p:sp>
      <p:sp>
        <p:nvSpPr>
          <p:cNvPr id="4" name="">
            <a:extLst xmlns:a="http://schemas.openxmlformats.org/drawingml/2006/main">
              <a:ext uri="{FF2B5EF4-FFF2-40B4-BE49-F238E27FC236}">
                <a16:creationId xmlns:a16="http://schemas.microsoft.com/office/drawing/2014/main" id="{6AA88E68-3FEC-4899-90AE-E5097E48CE25}"/>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06</a:t>
            </a:r>
          </a:p>
        </p:txBody>
      </p:sp>
      <p:graphicFrame>
        <p:nvGraphicFramePr>
          <p:cNvPr id="11" name=""/>
          <p:cNvGraphicFramePr/>
          <p:nvPr/>
        </p:nvGraphicFramePr>
        <p:xfrm>
          <a:off xmlns:a="http://schemas.openxmlformats.org/drawingml/2006/main" x="533400" y="2428875"/>
          <a:ext xmlns:a="http://schemas.openxmlformats.org/drawingml/2006/main" cx="11125200" cy="3238500"/>
        </p:xfrm>
        <a:graphic xmlns:a="http://schemas.openxmlformats.org/drawingml/2006/main">
          <a:graphicData uri="http://schemas.openxmlformats.org/drawingml/2006/table">
            <a:tbl>
              <a:tblPr/>
              <a:tblGrid>
                <a:gridCol w="3667125"/>
                <a:gridCol w="3333750"/>
                <a:gridCol w="4124325"/>
              </a:tblGrid>
              <a:tr h="495300">
                <a:tc>
                  <a:txBody>
                    <a:bodyPr/>
                    <a:lstStyle/>
                    <a:p>
                      <a:r>
                        <a:rPr sz="1800" b="1">
                          <a:solidFill>
                            <a:srgbClr val="FFFFFF"/>
                          </a:solidFill>
                          <a:latin typeface="Helvetica Neue"/>
                          <a:ea typeface="Helvetica Neue"/>
                          <a:cs typeface="Helvetica Neue"/>
                        </a:rPr>
                        <a:t>Candidate</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Domains connected</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Reason for inclusion</a:t>
                      </a:r>
                    </a:p>
                  </a:txBody>
                  <a:tcPr marL="91440" marR="91440" marT="45720" marB="45720">
                    <a:solidFill>
                      <a:srgbClr val="183449"/>
                    </a:solidFill>
                  </a:tcPr>
                </a:tc>
              </a:tr>
              <a:tr h="914400">
                <a:tc>
                  <a:txBody>
                    <a:bodyPr/>
                    <a:lstStyle/>
                    <a:p>
                      <a:r>
                        <a:rPr sz="1800" b="1">
                          <a:solidFill>
                            <a:srgbClr val="233746"/>
                          </a:solidFill>
                          <a:latin typeface="Helvetica Neue"/>
                          <a:ea typeface="Helvetica Neue"/>
                          <a:cs typeface="Helvetica Neue"/>
                        </a:rPr>
                        <a:t>A  Student Support &amp; Academic Navigation</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Advising, guidance and referral</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Uneven access to guidance and repeated follow-up</a:t>
                      </a:r>
                    </a:p>
                  </a:txBody>
                  <a:tcPr marL="91440" marR="91440" marT="45720" marB="45720">
                    <a:solidFill>
                      <a:srgbClr val="FFFFFF"/>
                    </a:solidFill>
                  </a:tcPr>
                </a:tc>
              </a:tr>
              <a:tr h="914400">
                <a:tc>
                  <a:txBody>
                    <a:bodyPr/>
                    <a:lstStyle/>
                    <a:p>
                      <a:r>
                        <a:rPr sz="1800" b="1">
                          <a:solidFill>
                            <a:srgbClr val="233746"/>
                          </a:solidFill>
                          <a:latin typeface="Helvetica Neue"/>
                          <a:ea typeface="Helvetica Neue"/>
                          <a:cs typeface="Helvetica Neue"/>
                        </a:rPr>
                        <a:t>B  Practical Learning &amp; Resource Operations</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Resource access and maintenance coordination</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Lab-time concerns in BMS and computing constraints in CSE</a:t>
                      </a:r>
                    </a:p>
                  </a:txBody>
                  <a:tcPr marL="91440" marR="91440" marT="45720" marB="45720">
                    <a:solidFill>
                      <a:srgbClr val="EDF3F4"/>
                    </a:solidFill>
                  </a:tcPr>
                </a:tc>
              </a:tr>
              <a:tr h="914400">
                <a:tc>
                  <a:txBody>
                    <a:bodyPr/>
                    <a:lstStyle/>
                    <a:p>
                      <a:r>
                        <a:rPr sz="1800" b="1">
                          <a:solidFill>
                            <a:srgbClr val="233746"/>
                          </a:solidFill>
                          <a:latin typeface="Helvetica Neue"/>
                          <a:ea typeface="Helvetica Neue"/>
                          <a:cs typeface="Helvetica Neue"/>
                        </a:rPr>
                        <a:t>C  Academic Progression &amp; Milestone Management</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Course planning, thesis and graduation</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Friction at connected academic checkpoints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2C52840-8D1E-4F10-AFD6-9A43B34A21BE}"/>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BMS support needs need further definition. C has stronger direct evidence in CSE.</a:t>
            </a:r>
          </a:p>
        </p:txBody>
      </p:sp>
    </p:spTree>
    <p:extLst>
      <p:ext uri="{BB962C8B-B14F-4D97-AF65-F5344CB8AC3E}">
        <p14:creationId xmlns:p14="http://schemas.microsoft.com/office/powerpoint/2010/main" val="299692697"/>
      </p:ext>
    </p:extLst>
  </p:cSld>
</p:sld>
</file>

<file path=ppt/slides/slide7.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8034114-E9EB-4CAC-8068-E15A3E78F530}"/>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02  DOMAIN IDENTIFICATION</a:t>
            </a:r>
          </a:p>
        </p:txBody>
      </p:sp>
      <p:sp>
        <p:nvSpPr>
          <p:cNvPr id="2" name="">
            <a:extLst xmlns:a="http://schemas.openxmlformats.org/drawingml/2006/main">
              <a:ext uri="{FF2B5EF4-FFF2-40B4-BE49-F238E27FC236}">
                <a16:creationId xmlns:a16="http://schemas.microsoft.com/office/drawing/2014/main" id="{BA2A1BCC-D029-4824-B57C-3393BAEA7186}"/>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A. Student Support &amp; Academic Navigation</a:t>
            </a:r>
          </a:p>
        </p:txBody>
      </p:sp>
      <p:sp>
        <p:nvSpPr>
          <p:cNvPr id="3" name="">
            <a:extLst xmlns:a="http://schemas.openxmlformats.org/drawingml/2006/main">
              <a:ext uri="{FF2B5EF4-FFF2-40B4-BE49-F238E27FC236}">
                <a16:creationId xmlns:a16="http://schemas.microsoft.com/office/drawing/2014/main" id="{CAFB8253-DFF2-4508-AE44-94E4A7DBC972}"/>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A student question ends with an accurate answer or a completed referral.</a:t>
            </a:r>
          </a:p>
        </p:txBody>
      </p:sp>
      <p:sp>
        <p:nvSpPr>
          <p:cNvPr id="4" name="">
            <a:extLst xmlns:a="http://schemas.openxmlformats.org/drawingml/2006/main">
              <a:ext uri="{FF2B5EF4-FFF2-40B4-BE49-F238E27FC236}">
                <a16:creationId xmlns:a16="http://schemas.microsoft.com/office/drawing/2014/main" id="{A867542A-FBEC-43D5-8398-676B8D3B57EE}"/>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07</a:t>
            </a:r>
          </a:p>
        </p:txBody>
      </p:sp>
      <p:graphicFrame>
        <p:nvGraphicFramePr>
          <p:cNvPr id="11" name=""/>
          <p:cNvGraphicFramePr/>
          <p:nvPr/>
        </p:nvGraphicFramePr>
        <p:xfrm>
          <a:off xmlns:a="http://schemas.openxmlformats.org/drawingml/2006/main" x="533400" y="2428875"/>
          <a:ext xmlns:a="http://schemas.openxmlformats.org/drawingml/2006/main" cx="11125200" cy="3476625"/>
        </p:xfrm>
        <a:graphic xmlns:a="http://schemas.openxmlformats.org/drawingml/2006/main">
          <a:graphicData uri="http://schemas.openxmlformats.org/drawingml/2006/table">
            <a:tbl>
              <a:tblPr/>
              <a:tblGrid>
                <a:gridCol w="2381250"/>
                <a:gridCol w="8743950"/>
              </a:tblGrid>
              <a:tr h="495300">
                <a:tc>
                  <a:txBody>
                    <a:bodyPr/>
                    <a:lstStyle/>
                    <a:p>
                      <a:r>
                        <a:rPr sz="1725" b="1">
                          <a:solidFill>
                            <a:srgbClr val="FFFFFF"/>
                          </a:solidFill>
                          <a:latin typeface="Helvetica Neue"/>
                          <a:ea typeface="Helvetica Neue"/>
                          <a:cs typeface="Helvetica Neue"/>
                        </a:rPr>
                        <a:t>Boundary canvas</a:t>
                      </a:r>
                    </a:p>
                  </a:txBody>
                  <a:tcPr marL="91440" marR="91440" marT="45720" marB="45720">
                    <a:solidFill>
                      <a:srgbClr val="183449"/>
                    </a:solidFill>
                  </a:tcPr>
                </a:tc>
                <a:tc>
                  <a:txBody>
                    <a:bodyPr/>
                    <a:lstStyle/>
                    <a:p>
                      <a:r>
                        <a:rPr sz="1725" b="1">
                          <a:solidFill>
                            <a:srgbClr val="FFFFFF"/>
                          </a:solidFill>
                          <a:latin typeface="Helvetica Neue"/>
                          <a:ea typeface="Helvetica Neue"/>
                          <a:cs typeface="Helvetica Neue"/>
                        </a:rPr>
                        <a:t>Definition</a:t>
                      </a:r>
                    </a:p>
                  </a:txBody>
                  <a:tcPr marL="91440" marR="91440" marT="45720" marB="45720">
                    <a:solidFill>
                      <a:srgbClr val="183449"/>
                    </a:solidFill>
                  </a:tcPr>
                </a:tc>
              </a:tr>
              <a:tr h="596265">
                <a:tc>
                  <a:txBody>
                    <a:bodyPr/>
                    <a:lstStyle/>
                    <a:p>
                      <a:r>
                        <a:rPr sz="1725" b="1">
                          <a:solidFill>
                            <a:srgbClr val="233746"/>
                          </a:solidFill>
                          <a:latin typeface="Helvetica Neue"/>
                          <a:ea typeface="Helvetica Neue"/>
                          <a:cs typeface="Helvetica Neue"/>
                        </a:rPr>
                        <a:t>Beneficiary</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BMS and CSE students, advisors and support staff</a:t>
                      </a:r>
                    </a:p>
                  </a:txBody>
                  <a:tcPr marL="91440" marR="91440" marT="45720" marB="45720">
                    <a:solidFill>
                      <a:srgbClr val="FFFFFF"/>
                    </a:solidFill>
                  </a:tcPr>
                </a:tc>
              </a:tr>
              <a:tr h="596265">
                <a:tc>
                  <a:txBody>
                    <a:bodyPr/>
                    <a:lstStyle/>
                    <a:p>
                      <a:r>
                        <a:rPr sz="1725" b="1">
                          <a:solidFill>
                            <a:srgbClr val="233746"/>
                          </a:solidFill>
                          <a:latin typeface="Helvetica Neue"/>
                          <a:ea typeface="Helvetica Neue"/>
                          <a:cs typeface="Helvetica Neue"/>
                        </a:rPr>
                        <a:t>Start / end</a:t>
                      </a:r>
                    </a:p>
                  </a:txBody>
                  <a:tcPr marL="91440" marR="91440" marT="45720" marB="45720">
                    <a:solidFill>
                      <a:srgbClr val="EDF3F4"/>
                    </a:solidFill>
                  </a:tcPr>
                </a:tc>
                <a:tc>
                  <a:txBody>
                    <a:bodyPr/>
                    <a:lstStyle/>
                    <a:p>
                      <a:r>
                        <a:rPr sz="1725" b="0">
                          <a:solidFill>
                            <a:srgbClr val="233746"/>
                          </a:solidFill>
                          <a:latin typeface="Helvetica Neue"/>
                          <a:ea typeface="Helvetica Neue"/>
                          <a:cs typeface="Helvetica Neue"/>
                        </a:rPr>
                        <a:t>Question raised / answer or referral confirmed</a:t>
                      </a:r>
                    </a:p>
                  </a:txBody>
                  <a:tcPr marL="91440" marR="91440" marT="45720" marB="45720">
                    <a:solidFill>
                      <a:srgbClr val="EDF3F4"/>
                    </a:solidFill>
                  </a:tcPr>
                </a:tc>
              </a:tr>
              <a:tr h="596265">
                <a:tc>
                  <a:txBody>
                    <a:bodyPr/>
                    <a:lstStyle/>
                    <a:p>
                      <a:r>
                        <a:rPr sz="1725" b="1">
                          <a:solidFill>
                            <a:srgbClr val="233746"/>
                          </a:solidFill>
                          <a:latin typeface="Helvetica Neue"/>
                          <a:ea typeface="Helvetica Neue"/>
                          <a:cs typeface="Helvetica Neue"/>
                        </a:rPr>
                        <a:t>Core activities</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Find guidance, clarify the need, route, respond and follow up</a:t>
                      </a:r>
                    </a:p>
                  </a:txBody>
                  <a:tcPr marL="91440" marR="91440" marT="45720" marB="45720">
                    <a:solidFill>
                      <a:srgbClr val="FFFFFF"/>
                    </a:solidFill>
                  </a:tcPr>
                </a:tc>
              </a:tr>
              <a:tr h="596265">
                <a:tc>
                  <a:txBody>
                    <a:bodyPr/>
                    <a:lstStyle/>
                    <a:p>
                      <a:r>
                        <a:rPr sz="1725" b="1">
                          <a:solidFill>
                            <a:srgbClr val="233746"/>
                          </a:solidFill>
                          <a:latin typeface="Helvetica Neue"/>
                          <a:ea typeface="Helvetica Neue"/>
                          <a:cs typeface="Helvetica Neue"/>
                        </a:rPr>
                        <a:t>Exclusions</a:t>
                      </a:r>
                    </a:p>
                  </a:txBody>
                  <a:tcPr marL="91440" marR="91440" marT="45720" marB="45720">
                    <a:solidFill>
                      <a:srgbClr val="EDF3F4"/>
                    </a:solidFill>
                  </a:tcPr>
                </a:tc>
                <a:tc>
                  <a:txBody>
                    <a:bodyPr/>
                    <a:lstStyle/>
                    <a:p>
                      <a:r>
                        <a:rPr sz="1725" b="0">
                          <a:solidFill>
                            <a:srgbClr val="233746"/>
                          </a:solidFill>
                          <a:latin typeface="Helvetica Neue"/>
                          <a:ea typeface="Helvetica Neue"/>
                          <a:cs typeface="Helvetica Neue"/>
                        </a:rPr>
                        <a:t>Academic decisions, clinical counselling and formal eligibility checks</a:t>
                      </a:r>
                    </a:p>
                  </a:txBody>
                  <a:tcPr marL="91440" marR="91440" marT="45720" marB="45720">
                    <a:solidFill>
                      <a:srgbClr val="EDF3F4"/>
                    </a:solidFill>
                  </a:tcPr>
                </a:tc>
              </a:tr>
              <a:tr h="596265">
                <a:tc>
                  <a:txBody>
                    <a:bodyPr/>
                    <a:lstStyle/>
                    <a:p>
                      <a:r>
                        <a:rPr sz="1725" b="1">
                          <a:solidFill>
                            <a:srgbClr val="233746"/>
                          </a:solidFill>
                          <a:latin typeface="Helvetica Neue"/>
                          <a:ea typeface="Helvetica Neue"/>
                          <a:cs typeface="Helvetica Neue"/>
                        </a:rPr>
                        <a:t>Measures</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Resolution time, repeat contacts, unresolved cases and service use</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D80B636C-B8C9-447C-9AAE-D969ADF58B1C}"/>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Measures are proposed. No verified operational baseline is available.</a:t>
            </a:r>
          </a:p>
        </p:txBody>
      </p:sp>
    </p:spTree>
    <p:extLst>
      <p:ext uri="{BB962C8B-B14F-4D97-AF65-F5344CB8AC3E}">
        <p14:creationId xmlns:p14="http://schemas.microsoft.com/office/powerpoint/2010/main" val="1127732873"/>
      </p:ext>
    </p:extLst>
  </p:cSld>
</p:sld>
</file>

<file path=ppt/slides/slide8.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A59D970-3D2E-434E-B137-093897ED8F4E}"/>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02  DOMAIN IDENTIFICATION</a:t>
            </a:r>
          </a:p>
        </p:txBody>
      </p:sp>
      <p:sp>
        <p:nvSpPr>
          <p:cNvPr id="2" name="">
            <a:extLst xmlns:a="http://schemas.openxmlformats.org/drawingml/2006/main">
              <a:ext uri="{FF2B5EF4-FFF2-40B4-BE49-F238E27FC236}">
                <a16:creationId xmlns:a16="http://schemas.microsoft.com/office/drawing/2014/main" id="{D35F8A95-1DAE-4399-AF10-952BE39BD2C4}"/>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B. Practical Learning &amp; Resource Operations</a:t>
            </a:r>
          </a:p>
        </p:txBody>
      </p:sp>
      <p:sp>
        <p:nvSpPr>
          <p:cNvPr id="3" name="">
            <a:extLst xmlns:a="http://schemas.openxmlformats.org/drawingml/2006/main">
              <a:ext uri="{FF2B5EF4-FFF2-40B4-BE49-F238E27FC236}">
                <a16:creationId xmlns:a16="http://schemas.microsoft.com/office/drawing/2014/main" id="{0236E015-7F39-4047-8579-9AD1F8544E6D}"/>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A learning need ends with a completed session and usable resources.</a:t>
            </a:r>
          </a:p>
        </p:txBody>
      </p:sp>
      <p:sp>
        <p:nvSpPr>
          <p:cNvPr id="4" name="">
            <a:extLst xmlns:a="http://schemas.openxmlformats.org/drawingml/2006/main">
              <a:ext uri="{FF2B5EF4-FFF2-40B4-BE49-F238E27FC236}">
                <a16:creationId xmlns:a16="http://schemas.microsoft.com/office/drawing/2014/main" id="{C78E5A9F-4B27-43F8-90F5-BB662BB283AA}"/>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08</a:t>
            </a:r>
          </a:p>
        </p:txBody>
      </p:sp>
      <p:graphicFrame>
        <p:nvGraphicFramePr>
          <p:cNvPr id="11" name=""/>
          <p:cNvGraphicFramePr/>
          <p:nvPr/>
        </p:nvGraphicFramePr>
        <p:xfrm>
          <a:off xmlns:a="http://schemas.openxmlformats.org/drawingml/2006/main" x="533400" y="2428875"/>
          <a:ext xmlns:a="http://schemas.openxmlformats.org/drawingml/2006/main" cx="11125200" cy="3476625"/>
        </p:xfrm>
        <a:graphic xmlns:a="http://schemas.openxmlformats.org/drawingml/2006/main">
          <a:graphicData uri="http://schemas.openxmlformats.org/drawingml/2006/table">
            <a:tbl>
              <a:tblPr/>
              <a:tblGrid>
                <a:gridCol w="2381250"/>
                <a:gridCol w="8743950"/>
              </a:tblGrid>
              <a:tr h="495300">
                <a:tc>
                  <a:txBody>
                    <a:bodyPr/>
                    <a:lstStyle/>
                    <a:p>
                      <a:r>
                        <a:rPr sz="1725" b="1">
                          <a:solidFill>
                            <a:srgbClr val="FFFFFF"/>
                          </a:solidFill>
                          <a:latin typeface="Helvetica Neue"/>
                          <a:ea typeface="Helvetica Neue"/>
                          <a:cs typeface="Helvetica Neue"/>
                        </a:rPr>
                        <a:t>Boundary canvas</a:t>
                      </a:r>
                    </a:p>
                  </a:txBody>
                  <a:tcPr marL="91440" marR="91440" marT="45720" marB="45720">
                    <a:solidFill>
                      <a:srgbClr val="183449"/>
                    </a:solidFill>
                  </a:tcPr>
                </a:tc>
                <a:tc>
                  <a:txBody>
                    <a:bodyPr/>
                    <a:lstStyle/>
                    <a:p>
                      <a:r>
                        <a:rPr sz="1725" b="1">
                          <a:solidFill>
                            <a:srgbClr val="FFFFFF"/>
                          </a:solidFill>
                          <a:latin typeface="Helvetica Neue"/>
                          <a:ea typeface="Helvetica Neue"/>
                          <a:cs typeface="Helvetica Neue"/>
                        </a:rPr>
                        <a:t>Definition</a:t>
                      </a:r>
                    </a:p>
                  </a:txBody>
                  <a:tcPr marL="91440" marR="91440" marT="45720" marB="45720">
                    <a:solidFill>
                      <a:srgbClr val="183449"/>
                    </a:solidFill>
                  </a:tcPr>
                </a:tc>
              </a:tr>
              <a:tr h="596265">
                <a:tc>
                  <a:txBody>
                    <a:bodyPr/>
                    <a:lstStyle/>
                    <a:p>
                      <a:r>
                        <a:rPr sz="1725" b="1">
                          <a:solidFill>
                            <a:srgbClr val="233746"/>
                          </a:solidFill>
                          <a:latin typeface="Helvetica Neue"/>
                          <a:ea typeface="Helvetica Neue"/>
                          <a:cs typeface="Helvetica Neue"/>
                        </a:rPr>
                        <a:t>Beneficiary</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Students, lecturers and laboratory or technical staff</a:t>
                      </a:r>
                    </a:p>
                  </a:txBody>
                  <a:tcPr marL="91440" marR="91440" marT="45720" marB="45720">
                    <a:solidFill>
                      <a:srgbClr val="FFFFFF"/>
                    </a:solidFill>
                  </a:tcPr>
                </a:tc>
              </a:tr>
              <a:tr h="596265">
                <a:tc>
                  <a:txBody>
                    <a:bodyPr/>
                    <a:lstStyle/>
                    <a:p>
                      <a:r>
                        <a:rPr sz="1725" b="1">
                          <a:solidFill>
                            <a:srgbClr val="233746"/>
                          </a:solidFill>
                          <a:latin typeface="Helvetica Neue"/>
                          <a:ea typeface="Helvetica Neue"/>
                          <a:cs typeface="Helvetica Neue"/>
                        </a:rPr>
                        <a:t>Start / end</a:t>
                      </a:r>
                    </a:p>
                  </a:txBody>
                  <a:tcPr marL="91440" marR="91440" marT="45720" marB="45720">
                    <a:solidFill>
                      <a:srgbClr val="EDF3F4"/>
                    </a:solidFill>
                  </a:tcPr>
                </a:tc>
                <a:tc>
                  <a:txBody>
                    <a:bodyPr/>
                    <a:lstStyle/>
                    <a:p>
                      <a:r>
                        <a:rPr sz="1725" b="0">
                          <a:solidFill>
                            <a:srgbClr val="233746"/>
                          </a:solidFill>
                          <a:latin typeface="Helvetica Neue"/>
                          <a:ea typeface="Helvetica Neue"/>
                          <a:cs typeface="Helvetica Neue"/>
                        </a:rPr>
                        <a:t>Practical need identified / session completed and resources returned</a:t>
                      </a:r>
                    </a:p>
                  </a:txBody>
                  <a:tcPr marL="91440" marR="91440" marT="45720" marB="45720">
                    <a:solidFill>
                      <a:srgbClr val="EDF3F4"/>
                    </a:solidFill>
                  </a:tcPr>
                </a:tc>
              </a:tr>
              <a:tr h="596265">
                <a:tc>
                  <a:txBody>
                    <a:bodyPr/>
                    <a:lstStyle/>
                    <a:p>
                      <a:r>
                        <a:rPr sz="1725" b="1">
                          <a:solidFill>
                            <a:srgbClr val="233746"/>
                          </a:solidFill>
                          <a:latin typeface="Helvetica Neue"/>
                          <a:ea typeface="Helvetica Neue"/>
                          <a:cs typeface="Helvetica Neue"/>
                        </a:rPr>
                        <a:t>Core activities</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Plan demand, allocate resources, arrange supervision, coordinate maintenance</a:t>
                      </a:r>
                    </a:p>
                  </a:txBody>
                  <a:tcPr marL="91440" marR="91440" marT="45720" marB="45720">
                    <a:solidFill>
                      <a:srgbClr val="FFFFFF"/>
                    </a:solidFill>
                  </a:tcPr>
                </a:tc>
              </a:tr>
              <a:tr h="596265">
                <a:tc>
                  <a:txBody>
                    <a:bodyPr/>
                    <a:lstStyle/>
                    <a:p>
                      <a:r>
                        <a:rPr sz="1725" b="1">
                          <a:solidFill>
                            <a:srgbClr val="233746"/>
                          </a:solidFill>
                          <a:latin typeface="Helvetica Neue"/>
                          <a:ea typeface="Helvetica Neue"/>
                          <a:cs typeface="Helvetica Neue"/>
                        </a:rPr>
                        <a:t>Exclusions</a:t>
                      </a:r>
                    </a:p>
                  </a:txBody>
                  <a:tcPr marL="91440" marR="91440" marT="45720" marB="45720">
                    <a:solidFill>
                      <a:srgbClr val="EDF3F4"/>
                    </a:solidFill>
                  </a:tcPr>
                </a:tc>
                <a:tc>
                  <a:txBody>
                    <a:bodyPr/>
                    <a:lstStyle/>
                    <a:p>
                      <a:r>
                        <a:rPr sz="1725" b="0">
                          <a:solidFill>
                            <a:srgbClr val="233746"/>
                          </a:solidFill>
                          <a:latin typeface="Helvetica Neue"/>
                          <a:ea typeface="Helvetica Neue"/>
                          <a:cs typeface="Helvetica Neue"/>
                        </a:rPr>
                        <a:t>Curriculum redesign and approval of major capital upgrades</a:t>
                      </a:r>
                    </a:p>
                  </a:txBody>
                  <a:tcPr marL="91440" marR="91440" marT="45720" marB="45720">
                    <a:solidFill>
                      <a:srgbClr val="EDF3F4"/>
                    </a:solidFill>
                  </a:tcPr>
                </a:tc>
              </a:tr>
              <a:tr h="596265">
                <a:tc>
                  <a:txBody>
                    <a:bodyPr/>
                    <a:lstStyle/>
                    <a:p>
                      <a:r>
                        <a:rPr sz="1725" b="1">
                          <a:solidFill>
                            <a:srgbClr val="233746"/>
                          </a:solidFill>
                          <a:latin typeface="Helvetica Neue"/>
                          <a:ea typeface="Helvetica Neue"/>
                          <a:cs typeface="Helvetica Neue"/>
                        </a:rPr>
                        <a:t>Measures</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Fulfilled requests, practical hours, utilisation and equipment downtime</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49821235-340B-4A0F-8E00-CBE6A25A06C2}"/>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Measures are proposed. No verified operational baseline is available.</a:t>
            </a:r>
          </a:p>
        </p:txBody>
      </p:sp>
    </p:spTree>
    <p:extLst>
      <p:ext uri="{BB962C8B-B14F-4D97-AF65-F5344CB8AC3E}">
        <p14:creationId xmlns:p14="http://schemas.microsoft.com/office/powerpoint/2010/main" val="1977751117"/>
      </p:ext>
    </p:extLst>
  </p:cSld>
</p:sld>
</file>

<file path=ppt/slides/slide9.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9EB13B6-A5F7-4CCA-B64A-1BC9DA2B6162}"/>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02  DOMAIN IDENTIFICATION</a:t>
            </a:r>
          </a:p>
        </p:txBody>
      </p:sp>
      <p:sp>
        <p:nvSpPr>
          <p:cNvPr id="2" name="">
            <a:extLst xmlns:a="http://schemas.openxmlformats.org/drawingml/2006/main">
              <a:ext uri="{FF2B5EF4-FFF2-40B4-BE49-F238E27FC236}">
                <a16:creationId xmlns:a16="http://schemas.microsoft.com/office/drawing/2014/main" id="{C829A375-A4AE-4ED8-84F4-B1AFCC16826F}"/>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C. Academic Progression &amp; Milestones</a:t>
            </a:r>
          </a:p>
        </p:txBody>
      </p:sp>
      <p:sp>
        <p:nvSpPr>
          <p:cNvPr id="3" name="">
            <a:extLst xmlns:a="http://schemas.openxmlformats.org/drawingml/2006/main">
              <a:ext uri="{FF2B5EF4-FFF2-40B4-BE49-F238E27FC236}">
                <a16:creationId xmlns:a16="http://schemas.microsoft.com/office/drawing/2014/main" id="{25842754-43A5-456E-8E93-6E94A0427D89}"/>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An academic plan ends with verified completion of required milestones.</a:t>
            </a:r>
          </a:p>
        </p:txBody>
      </p:sp>
      <p:sp>
        <p:nvSpPr>
          <p:cNvPr id="4" name="">
            <a:extLst xmlns:a="http://schemas.openxmlformats.org/drawingml/2006/main">
              <a:ext uri="{FF2B5EF4-FFF2-40B4-BE49-F238E27FC236}">
                <a16:creationId xmlns:a16="http://schemas.microsoft.com/office/drawing/2014/main" id="{A039452A-36C5-4878-943C-BD11E9A5B892}"/>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09</a:t>
            </a:r>
          </a:p>
        </p:txBody>
      </p:sp>
      <p:graphicFrame>
        <p:nvGraphicFramePr>
          <p:cNvPr id="11" name=""/>
          <p:cNvGraphicFramePr/>
          <p:nvPr/>
        </p:nvGraphicFramePr>
        <p:xfrm>
          <a:off xmlns:a="http://schemas.openxmlformats.org/drawingml/2006/main" x="533400" y="2428875"/>
          <a:ext xmlns:a="http://schemas.openxmlformats.org/drawingml/2006/main" cx="11125200" cy="3476625"/>
        </p:xfrm>
        <a:graphic xmlns:a="http://schemas.openxmlformats.org/drawingml/2006/main">
          <a:graphicData uri="http://schemas.openxmlformats.org/drawingml/2006/table">
            <a:tbl>
              <a:tblPr/>
              <a:tblGrid>
                <a:gridCol w="2381250"/>
                <a:gridCol w="8743950"/>
              </a:tblGrid>
              <a:tr h="495300">
                <a:tc>
                  <a:txBody>
                    <a:bodyPr/>
                    <a:lstStyle/>
                    <a:p>
                      <a:r>
                        <a:rPr sz="1725" b="1">
                          <a:solidFill>
                            <a:srgbClr val="FFFFFF"/>
                          </a:solidFill>
                          <a:latin typeface="Helvetica Neue"/>
                          <a:ea typeface="Helvetica Neue"/>
                          <a:cs typeface="Helvetica Neue"/>
                        </a:rPr>
                        <a:t>Boundary canvas</a:t>
                      </a:r>
                    </a:p>
                  </a:txBody>
                  <a:tcPr marL="91440" marR="91440" marT="45720" marB="45720">
                    <a:solidFill>
                      <a:srgbClr val="183449"/>
                    </a:solidFill>
                  </a:tcPr>
                </a:tc>
                <a:tc>
                  <a:txBody>
                    <a:bodyPr/>
                    <a:lstStyle/>
                    <a:p>
                      <a:r>
                        <a:rPr sz="1725" b="1">
                          <a:solidFill>
                            <a:srgbClr val="FFFFFF"/>
                          </a:solidFill>
                          <a:latin typeface="Helvetica Neue"/>
                          <a:ea typeface="Helvetica Neue"/>
                          <a:cs typeface="Helvetica Neue"/>
                        </a:rPr>
                        <a:t>Definition</a:t>
                      </a:r>
                    </a:p>
                  </a:txBody>
                  <a:tcPr marL="91440" marR="91440" marT="45720" marB="45720">
                    <a:solidFill>
                      <a:srgbClr val="183449"/>
                    </a:solidFill>
                  </a:tcPr>
                </a:tc>
              </a:tr>
              <a:tr h="596265">
                <a:tc>
                  <a:txBody>
                    <a:bodyPr/>
                    <a:lstStyle/>
                    <a:p>
                      <a:r>
                        <a:rPr sz="1725" b="1">
                          <a:solidFill>
                            <a:srgbClr val="233746"/>
                          </a:solidFill>
                          <a:latin typeface="Helvetica Neue"/>
                          <a:ea typeface="Helvetica Neue"/>
                          <a:cs typeface="Helvetica Neue"/>
                        </a:rPr>
                        <a:t>Beneficiary</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Students, programme teams and academic administrators</a:t>
                      </a:r>
                    </a:p>
                  </a:txBody>
                  <a:tcPr marL="91440" marR="91440" marT="45720" marB="45720">
                    <a:solidFill>
                      <a:srgbClr val="FFFFFF"/>
                    </a:solidFill>
                  </a:tcPr>
                </a:tc>
              </a:tr>
              <a:tr h="596265">
                <a:tc>
                  <a:txBody>
                    <a:bodyPr/>
                    <a:lstStyle/>
                    <a:p>
                      <a:r>
                        <a:rPr sz="1725" b="1">
                          <a:solidFill>
                            <a:srgbClr val="233746"/>
                          </a:solidFill>
                          <a:latin typeface="Helvetica Neue"/>
                          <a:ea typeface="Helvetica Neue"/>
                          <a:cs typeface="Helvetica Neue"/>
                        </a:rPr>
                        <a:t>Start / end</a:t>
                      </a:r>
                    </a:p>
                  </a:txBody>
                  <a:tcPr marL="91440" marR="91440" marT="45720" marB="45720">
                    <a:solidFill>
                      <a:srgbClr val="EDF3F4"/>
                    </a:solidFill>
                  </a:tcPr>
                </a:tc>
                <a:tc>
                  <a:txBody>
                    <a:bodyPr/>
                    <a:lstStyle/>
                    <a:p>
                      <a:r>
                        <a:rPr sz="1725" b="0">
                          <a:solidFill>
                            <a:srgbClr val="233746"/>
                          </a:solidFill>
                          <a:latin typeface="Helvetica Neue"/>
                          <a:ea typeface="Helvetica Neue"/>
                          <a:cs typeface="Helvetica Neue"/>
                        </a:rPr>
                        <a:t>Plan established / course, thesis and graduation milestones verified</a:t>
                      </a:r>
                    </a:p>
                  </a:txBody>
                  <a:tcPr marL="91440" marR="91440" marT="45720" marB="45720">
                    <a:solidFill>
                      <a:srgbClr val="EDF3F4"/>
                    </a:solidFill>
                  </a:tcPr>
                </a:tc>
              </a:tr>
              <a:tr h="596265">
                <a:tc>
                  <a:txBody>
                    <a:bodyPr/>
                    <a:lstStyle/>
                    <a:p>
                      <a:r>
                        <a:rPr sz="1725" b="1">
                          <a:solidFill>
                            <a:srgbClr val="233746"/>
                          </a:solidFill>
                          <a:latin typeface="Helvetica Neue"/>
                          <a:ea typeface="Helvetica Neue"/>
                          <a:cs typeface="Helvetica Neue"/>
                        </a:rPr>
                        <a:t>Core activities</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Check cohort rules, track status, identify gaps and resolve exceptions</a:t>
                      </a:r>
                    </a:p>
                  </a:txBody>
                  <a:tcPr marL="91440" marR="91440" marT="45720" marB="45720">
                    <a:solidFill>
                      <a:srgbClr val="FFFFFF"/>
                    </a:solidFill>
                  </a:tcPr>
                </a:tc>
              </a:tr>
              <a:tr h="596265">
                <a:tc>
                  <a:txBody>
                    <a:bodyPr/>
                    <a:lstStyle/>
                    <a:p>
                      <a:r>
                        <a:rPr sz="1725" b="1">
                          <a:solidFill>
                            <a:srgbClr val="233746"/>
                          </a:solidFill>
                          <a:latin typeface="Helvetica Neue"/>
                          <a:ea typeface="Helvetica Neue"/>
                          <a:cs typeface="Helvetica Neue"/>
                        </a:rPr>
                        <a:t>Exclusions</a:t>
                      </a:r>
                    </a:p>
                  </a:txBody>
                  <a:tcPr marL="91440" marR="91440" marT="45720" marB="45720">
                    <a:solidFill>
                      <a:srgbClr val="EDF3F4"/>
                    </a:solidFill>
                  </a:tcPr>
                </a:tc>
                <a:tc>
                  <a:txBody>
                    <a:bodyPr/>
                    <a:lstStyle/>
                    <a:p>
                      <a:r>
                        <a:rPr sz="1725" b="0">
                          <a:solidFill>
                            <a:srgbClr val="233746"/>
                          </a:solidFill>
                          <a:latin typeface="Helvetica Neue"/>
                          <a:ea typeface="Helvetica Neue"/>
                          <a:cs typeface="Helvetica Neue"/>
                        </a:rPr>
                        <a:t>Teaching delivery, curriculum redesign and a full system replacement</a:t>
                      </a:r>
                    </a:p>
                  </a:txBody>
                  <a:tcPr marL="91440" marR="91440" marT="45720" marB="45720">
                    <a:solidFill>
                      <a:srgbClr val="EDF3F4"/>
                    </a:solidFill>
                  </a:tcPr>
                </a:tc>
              </a:tr>
              <a:tr h="596265">
                <a:tc>
                  <a:txBody>
                    <a:bodyPr/>
                    <a:lstStyle/>
                    <a:p>
                      <a:r>
                        <a:rPr sz="1725" b="1">
                          <a:solidFill>
                            <a:srgbClr val="233746"/>
                          </a:solidFill>
                          <a:latin typeface="Helvetica Neue"/>
                          <a:ea typeface="Helvetica Neue"/>
                          <a:cs typeface="Helvetica Neue"/>
                        </a:rPr>
                        <a:t>Measures</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Corrections, unresolved exceptions and on-time milestone completion</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BD2EACE3-6225-4A5A-824B-9485C3ED7BB3}"/>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Measures are proposed. No verified operational baseline is available.</a:t>
            </a:r>
          </a:p>
        </p:txBody>
      </p:sp>
    </p:spTree>
    <p:extLst>
      <p:ext uri="{BB962C8B-B14F-4D97-AF65-F5344CB8AC3E}">
        <p14:creationId xmlns:p14="http://schemas.microsoft.com/office/powerpoint/2010/main" val="1316959984"/>
      </p:ext>
    </p:extLst>
  </p:cSld>
</p:sld>
</file>

<file path=ppt/slides/slide10.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09E50D1-B5F7-4C96-B042-86643D9E8982}"/>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03  CAPABILITY ASSESSMENT</a:t>
            </a:r>
          </a:p>
        </p:txBody>
      </p:sp>
      <p:sp>
        <p:nvSpPr>
          <p:cNvPr id="2" name="">
            <a:extLst xmlns:a="http://schemas.openxmlformats.org/drawingml/2006/main">
              <a:ext uri="{FF2B5EF4-FFF2-40B4-BE49-F238E27FC236}">
                <a16:creationId xmlns:a16="http://schemas.microsoft.com/office/drawing/2014/main" id="{1B8B9C09-4843-4A4E-95AD-92151B0C9EFB}"/>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Ownership, talent and operating model</a:t>
            </a:r>
          </a:p>
        </p:txBody>
      </p:sp>
      <p:sp>
        <p:nvSpPr>
          <p:cNvPr id="3" name="">
            <a:extLst xmlns:a="http://schemas.openxmlformats.org/drawingml/2006/main">
              <a:ext uri="{FF2B5EF4-FFF2-40B4-BE49-F238E27FC236}">
                <a16:creationId xmlns:a16="http://schemas.microsoft.com/office/drawing/2014/main" id="{94507C30-2419-4E80-B328-D13076BC1395}"/>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Partial = some capability evidenced. Gap = reported shortfall. Unknown = insufficient evidence.</a:t>
            </a:r>
          </a:p>
        </p:txBody>
      </p:sp>
      <p:sp>
        <p:nvSpPr>
          <p:cNvPr id="4" name="">
            <a:extLst xmlns:a="http://schemas.openxmlformats.org/drawingml/2006/main">
              <a:ext uri="{FF2B5EF4-FFF2-40B4-BE49-F238E27FC236}">
                <a16:creationId xmlns:a16="http://schemas.microsoft.com/office/drawing/2014/main" id="{F84B6F9D-BDE9-4D49-B2C0-44021367984A}"/>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10</a:t>
            </a:r>
          </a:p>
        </p:txBody>
      </p:sp>
      <p:graphicFrame>
        <p:nvGraphicFramePr>
          <p:cNvPr id="11" name=""/>
          <p:cNvGraphicFramePr/>
          <p:nvPr/>
        </p:nvGraphicFramePr>
        <p:xfrm>
          <a:off xmlns:a="http://schemas.openxmlformats.org/drawingml/2006/main" x="533400" y="2428875"/>
          <a:ext xmlns:a="http://schemas.openxmlformats.org/drawingml/2006/main" cx="11125200" cy="3333750"/>
        </p:xfrm>
        <a:graphic xmlns:a="http://schemas.openxmlformats.org/drawingml/2006/main">
          <a:graphicData uri="http://schemas.openxmlformats.org/drawingml/2006/table">
            <a:tbl>
              <a:tblPr/>
              <a:tblGrid>
                <a:gridCol w="1952625"/>
                <a:gridCol w="3057525"/>
                <a:gridCol w="3057525"/>
                <a:gridCol w="3057525"/>
              </a:tblGrid>
              <a:tr h="495300">
                <a:tc>
                  <a:txBody>
                    <a:bodyPr/>
                    <a:lstStyle/>
                    <a:p>
                      <a:r>
                        <a:rPr sz="1800" b="1">
                          <a:solidFill>
                            <a:srgbClr val="FFFFFF"/>
                          </a:solidFill>
                          <a:latin typeface="Helvetica Neue"/>
                          <a:ea typeface="Helvetica Neue"/>
                          <a:cs typeface="Helvetica Neue"/>
                        </a:rPr>
                        <a:t>Capability</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A  Student support</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B  Practical learning</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C  Progression</a:t>
                      </a:r>
                    </a:p>
                  </a:txBody>
                  <a:tcPr marL="91440" marR="91440" marT="45720" marB="45720">
                    <a:solidFill>
                      <a:srgbClr val="183449"/>
                    </a:solidFill>
                  </a:tcPr>
                </a:tc>
              </a:tr>
              <a:tr h="946150">
                <a:tc>
                  <a:txBody>
                    <a:bodyPr/>
                    <a:lstStyle/>
                    <a:p>
                      <a:r>
                        <a:rPr sz="1800" b="1">
                          <a:solidFill>
                            <a:srgbClr val="233746"/>
                          </a:solidFill>
                          <a:latin typeface="Helvetica Neue"/>
                          <a:ea typeface="Helvetica Neue"/>
                          <a:cs typeface="Helvetica Neue"/>
                        </a:rPr>
                        <a:t>Roadmap</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Unknown</a:t>
                      </a:r>
                    </a:p>
                    <a:p>
                      <a:r>
                        <a:rPr sz="1800" b="0">
                          <a:solidFill>
                            <a:srgbClr val="233746"/>
                          </a:solidFill>
                          <a:latin typeface="Helvetica Neue"/>
                          <a:ea typeface="Helvetica Neue"/>
                          <a:cs typeface="Helvetica Neue"/>
                        </a:rPr>
                        <a:t>Shared owner and targets</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Unknown</a:t>
                      </a:r>
                    </a:p>
                    <a:p>
                      <a:r>
                        <a:rPr sz="1800" b="0">
                          <a:solidFill>
                            <a:srgbClr val="233746"/>
                          </a:solidFill>
                          <a:latin typeface="Helvetica Neue"/>
                          <a:ea typeface="Helvetica Neue"/>
                          <a:cs typeface="Helvetica Neue"/>
                        </a:rPr>
                        <a:t>Approved plan and funding</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Unknown</a:t>
                      </a:r>
                    </a:p>
                    <a:p>
                      <a:r>
                        <a:rPr sz="1800" b="0">
                          <a:solidFill>
                            <a:srgbClr val="233746"/>
                          </a:solidFill>
                          <a:latin typeface="Helvetica Neue"/>
                          <a:ea typeface="Helvetica Neue"/>
                          <a:cs typeface="Helvetica Neue"/>
                        </a:rPr>
                        <a:t>Cross-unit ownership</a:t>
                      </a:r>
                    </a:p>
                  </a:txBody>
                  <a:tcPr marL="91440" marR="91440" marT="45720" marB="45720">
                    <a:solidFill>
                      <a:srgbClr val="FFFFFF"/>
                    </a:solidFill>
                  </a:tcPr>
                </a:tc>
              </a:tr>
              <a:tr h="946150">
                <a:tc>
                  <a:txBody>
                    <a:bodyPr/>
                    <a:lstStyle/>
                    <a:p>
                      <a:r>
                        <a:rPr sz="1800" b="1">
                          <a:solidFill>
                            <a:srgbClr val="233746"/>
                          </a:solidFill>
                          <a:latin typeface="Helvetica Neue"/>
                          <a:ea typeface="Helvetica Neue"/>
                          <a:cs typeface="Helvetica Neue"/>
                        </a:rPr>
                        <a:t>Talent</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Partial</a:t>
                      </a:r>
                    </a:p>
                    <a:p>
                      <a:r>
                        <a:rPr sz="1800" b="0">
                          <a:solidFill>
                            <a:srgbClr val="233746"/>
                          </a:solidFill>
                          <a:latin typeface="Helvetica Neue"/>
                          <a:ea typeface="Helvetica Neue"/>
                          <a:cs typeface="Helvetica Neue"/>
                        </a:rPr>
                        <a:t>Expertise exists; capacity varies</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Partial</a:t>
                      </a:r>
                    </a:p>
                    <a:p>
                      <a:r>
                        <a:rPr sz="1800" b="0">
                          <a:solidFill>
                            <a:srgbClr val="233746"/>
                          </a:solidFill>
                          <a:latin typeface="Helvetica Neue"/>
                          <a:ea typeface="Helvetica Neue"/>
                          <a:cs typeface="Helvetica Neue"/>
                        </a:rPr>
                        <a:t>Expertise exists; coverage unclear</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Partial</a:t>
                      </a:r>
                    </a:p>
                    <a:p>
                      <a:r>
                        <a:rPr sz="1800" b="0">
                          <a:solidFill>
                            <a:srgbClr val="233746"/>
                          </a:solidFill>
                          <a:latin typeface="Helvetica Neue"/>
                          <a:ea typeface="Helvetica Neue"/>
                          <a:cs typeface="Helvetica Neue"/>
                        </a:rPr>
                        <a:t>Roles exist; delivery time unclear</a:t>
                      </a:r>
                    </a:p>
                  </a:txBody>
                  <a:tcPr marL="91440" marR="91440" marT="45720" marB="45720">
                    <a:solidFill>
                      <a:srgbClr val="EDF3F4"/>
                    </a:solidFill>
                  </a:tcPr>
                </a:tc>
              </a:tr>
              <a:tr h="946150">
                <a:tc>
                  <a:txBody>
                    <a:bodyPr/>
                    <a:lstStyle/>
                    <a:p>
                      <a:r>
                        <a:rPr sz="1800" b="1">
                          <a:solidFill>
                            <a:srgbClr val="233746"/>
                          </a:solidFill>
                          <a:latin typeface="Helvetica Neue"/>
                          <a:ea typeface="Helvetica Neue"/>
                          <a:cs typeface="Helvetica Neue"/>
                        </a:rPr>
                        <a:t>Operating model</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Gap</a:t>
                      </a:r>
                    </a:p>
                    <a:p>
                      <a:r>
                        <a:rPr sz="1800" b="0">
                          <a:solidFill>
                            <a:srgbClr val="233746"/>
                          </a:solidFill>
                          <a:latin typeface="Helvetica Neue"/>
                          <a:ea typeface="Helvetica Neue"/>
                          <a:cs typeface="Helvetica Neue"/>
                        </a:rPr>
                        <a:t>Guidance and routing vary</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Gap</a:t>
                      </a:r>
                    </a:p>
                    <a:p>
                      <a:r>
                        <a:rPr sz="1800" b="0">
                          <a:solidFill>
                            <a:srgbClr val="233746"/>
                          </a:solidFill>
                          <a:latin typeface="Helvetica Neue"/>
                          <a:ea typeface="Helvetica Neue"/>
                          <a:cs typeface="Helvetica Neue"/>
                        </a:rPr>
                        <a:t>Access and guidance friction</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Gap</a:t>
                      </a:r>
                    </a:p>
                    <a:p>
                      <a:r>
                        <a:rPr sz="1800" b="0">
                          <a:solidFill>
                            <a:srgbClr val="233746"/>
                          </a:solidFill>
                          <a:latin typeface="Helvetica Neue"/>
                          <a:ea typeface="Helvetica Neue"/>
                          <a:cs typeface="Helvetica Neue"/>
                        </a:rPr>
                        <a:t>Manual checks and follow-up</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DA111908-83D2-4AA9-B811-23DE20273691}"/>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Source: Customer Experience module interviews and reports. Ratings are judgments, not measured maturity scores.</a:t>
            </a:r>
          </a:p>
        </p:txBody>
      </p:sp>
    </p:spTree>
    <p:extLst>
      <p:ext uri="{BB962C8B-B14F-4D97-AF65-F5344CB8AC3E}">
        <p14:creationId xmlns:p14="http://schemas.microsoft.com/office/powerpoint/2010/main" val="274675031"/>
      </p:ext>
    </p:extLst>
  </p:cSld>
</p:sld>
</file>

<file path=ppt/slides/slide11.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95B9669-A20F-4D96-B523-335DE47513B1}"/>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03  CAPABILITY ASSESSMENT</a:t>
            </a:r>
          </a:p>
        </p:txBody>
      </p:sp>
      <p:sp>
        <p:nvSpPr>
          <p:cNvPr id="2" name="">
            <a:extLst xmlns:a="http://schemas.openxmlformats.org/drawingml/2006/main">
              <a:ext uri="{FF2B5EF4-FFF2-40B4-BE49-F238E27FC236}">
                <a16:creationId xmlns:a16="http://schemas.microsoft.com/office/drawing/2014/main" id="{19410C7C-CE1A-431C-8633-3D4D66AE27F4}"/>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Technology, data and adoption</a:t>
            </a:r>
          </a:p>
        </p:txBody>
      </p:sp>
      <p:sp>
        <p:nvSpPr>
          <p:cNvPr id="3" name="">
            <a:extLst xmlns:a="http://schemas.openxmlformats.org/drawingml/2006/main">
              <a:ext uri="{FF2B5EF4-FFF2-40B4-BE49-F238E27FC236}">
                <a16:creationId xmlns:a16="http://schemas.microsoft.com/office/drawing/2014/main" id="{F7965A32-5DE6-44C2-824D-49233570DBB1}"/>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Existing tools provide a foundation. Readiness depends on reliable processes and records.</a:t>
            </a:r>
          </a:p>
        </p:txBody>
      </p:sp>
      <p:sp>
        <p:nvSpPr>
          <p:cNvPr id="4" name="">
            <a:extLst xmlns:a="http://schemas.openxmlformats.org/drawingml/2006/main">
              <a:ext uri="{FF2B5EF4-FFF2-40B4-BE49-F238E27FC236}">
                <a16:creationId xmlns:a16="http://schemas.microsoft.com/office/drawing/2014/main" id="{7EA52064-C5EF-4ACD-BE40-2FDBC5CD6BC1}"/>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11</a:t>
            </a:r>
          </a:p>
        </p:txBody>
      </p:sp>
      <p:graphicFrame>
        <p:nvGraphicFramePr>
          <p:cNvPr id="11" name=""/>
          <p:cNvGraphicFramePr/>
          <p:nvPr/>
        </p:nvGraphicFramePr>
        <p:xfrm>
          <a:off xmlns:a="http://schemas.openxmlformats.org/drawingml/2006/main" x="533400" y="2428875"/>
          <a:ext xmlns:a="http://schemas.openxmlformats.org/drawingml/2006/main" cx="11125200" cy="3333750"/>
        </p:xfrm>
        <a:graphic xmlns:a="http://schemas.openxmlformats.org/drawingml/2006/main">
          <a:graphicData uri="http://schemas.openxmlformats.org/drawingml/2006/table">
            <a:tbl>
              <a:tblPr/>
              <a:tblGrid>
                <a:gridCol w="1952625"/>
                <a:gridCol w="3057525"/>
                <a:gridCol w="3057525"/>
                <a:gridCol w="3057525"/>
              </a:tblGrid>
              <a:tr h="495300">
                <a:tc>
                  <a:txBody>
                    <a:bodyPr/>
                    <a:lstStyle/>
                    <a:p>
                      <a:r>
                        <a:rPr sz="1800" b="1">
                          <a:solidFill>
                            <a:srgbClr val="FFFFFF"/>
                          </a:solidFill>
                          <a:latin typeface="Helvetica Neue"/>
                          <a:ea typeface="Helvetica Neue"/>
                          <a:cs typeface="Helvetica Neue"/>
                        </a:rPr>
                        <a:t>Capability</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A  Student support</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B  Practical learning</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C  Progression</a:t>
                      </a:r>
                    </a:p>
                  </a:txBody>
                  <a:tcPr marL="91440" marR="91440" marT="45720" marB="45720">
                    <a:solidFill>
                      <a:srgbClr val="183449"/>
                    </a:solidFill>
                  </a:tcPr>
                </a:tc>
              </a:tr>
              <a:tr h="946150">
                <a:tc>
                  <a:txBody>
                    <a:bodyPr/>
                    <a:lstStyle/>
                    <a:p>
                      <a:r>
                        <a:rPr sz="1800" b="1">
                          <a:solidFill>
                            <a:srgbClr val="233746"/>
                          </a:solidFill>
                          <a:latin typeface="Helvetica Neue"/>
                          <a:ea typeface="Helvetica Neue"/>
                          <a:cs typeface="Helvetica Neue"/>
                        </a:rPr>
                        <a:t>Technology</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Partial</a:t>
                      </a:r>
                    </a:p>
                    <a:p>
                      <a:r>
                        <a:rPr sz="1800" b="0">
                          <a:solidFill>
                            <a:srgbClr val="233746"/>
                          </a:solidFill>
                          <a:latin typeface="Helvetica Neue"/>
                          <a:ea typeface="Helvetica Neue"/>
                          <a:cs typeface="Helvetica Neue"/>
                        </a:rPr>
                        <a:t>Channels exist; tracking unclear</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Unknown</a:t>
                      </a:r>
                    </a:p>
                    <a:p>
                      <a:r>
                        <a:rPr sz="1800" b="0">
                          <a:solidFill>
                            <a:srgbClr val="233746"/>
                          </a:solidFill>
                          <a:latin typeface="Helvetica Neue"/>
                          <a:ea typeface="Helvetica Neue"/>
                          <a:cs typeface="Helvetica Neue"/>
                        </a:rPr>
                        <a:t>Booking and inventory tools</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Partial</a:t>
                      </a:r>
                    </a:p>
                    <a:p>
                      <a:r>
                        <a:rPr sz="1800" b="0">
                          <a:solidFill>
                            <a:srgbClr val="233746"/>
                          </a:solidFill>
                          <a:latin typeface="Helvetica Neue"/>
                          <a:ea typeface="Helvetica Neue"/>
                          <a:cs typeface="Helvetica Neue"/>
                        </a:rPr>
                        <a:t>Portal exists; issues reported</a:t>
                      </a:r>
                    </a:p>
                  </a:txBody>
                  <a:tcPr marL="91440" marR="91440" marT="45720" marB="45720">
                    <a:solidFill>
                      <a:srgbClr val="FFFFFF"/>
                    </a:solidFill>
                  </a:tcPr>
                </a:tc>
              </a:tr>
              <a:tr h="946150">
                <a:tc>
                  <a:txBody>
                    <a:bodyPr/>
                    <a:lstStyle/>
                    <a:p>
                      <a:r>
                        <a:rPr sz="1800" b="1">
                          <a:solidFill>
                            <a:srgbClr val="233746"/>
                          </a:solidFill>
                          <a:latin typeface="Helvetica Neue"/>
                          <a:ea typeface="Helvetica Neue"/>
                          <a:cs typeface="Helvetica Neue"/>
                        </a:rPr>
                        <a:t>Data</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Gap</a:t>
                      </a:r>
                    </a:p>
                    <a:p>
                      <a:r>
                        <a:rPr sz="1800" b="0">
                          <a:solidFill>
                            <a:srgbClr val="233746"/>
                          </a:solidFill>
                          <a:latin typeface="Helvetica Neue"/>
                          <a:ea typeface="Helvetica Neue"/>
                          <a:cs typeface="Helvetica Neue"/>
                        </a:rPr>
                        <a:t>Guidance is dispersed</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Unknown</a:t>
                      </a:r>
                    </a:p>
                    <a:p>
                      <a:r>
                        <a:rPr sz="1800" b="0">
                          <a:solidFill>
                            <a:srgbClr val="233746"/>
                          </a:solidFill>
                          <a:latin typeface="Helvetica Neue"/>
                          <a:ea typeface="Helvetica Neue"/>
                          <a:cs typeface="Helvetica Neue"/>
                        </a:rPr>
                        <a:t>Capacity and usage records</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Partial</a:t>
                      </a:r>
                    </a:p>
                    <a:p>
                      <a:r>
                        <a:rPr sz="1800" b="0">
                          <a:solidFill>
                            <a:srgbClr val="233746"/>
                          </a:solidFill>
                          <a:latin typeface="Helvetica Neue"/>
                          <a:ea typeface="Helvetica Neue"/>
                          <a:cs typeface="Helvetica Neue"/>
                        </a:rPr>
                        <a:t>Records exist; quality unclear</a:t>
                      </a:r>
                    </a:p>
                  </a:txBody>
                  <a:tcPr marL="91440" marR="91440" marT="45720" marB="45720">
                    <a:solidFill>
                      <a:srgbClr val="EDF3F4"/>
                    </a:solidFill>
                  </a:tcPr>
                </a:tc>
              </a:tr>
              <a:tr h="946150">
                <a:tc>
                  <a:txBody>
                    <a:bodyPr/>
                    <a:lstStyle/>
                    <a:p>
                      <a:r>
                        <a:rPr sz="1800" b="1">
                          <a:solidFill>
                            <a:srgbClr val="233746"/>
                          </a:solidFill>
                          <a:latin typeface="Helvetica Neue"/>
                          <a:ea typeface="Helvetica Neue"/>
                          <a:cs typeface="Helvetica Neue"/>
                        </a:rPr>
                        <a:t>Adoption</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Partial</a:t>
                      </a:r>
                    </a:p>
                    <a:p>
                      <a:r>
                        <a:rPr sz="1800" b="0">
                          <a:solidFill>
                            <a:srgbClr val="233746"/>
                          </a:solidFill>
                          <a:latin typeface="Helvetica Neue"/>
                          <a:ea typeface="Helvetica Neue"/>
                          <a:cs typeface="Helvetica Neue"/>
                        </a:rPr>
                        <a:t>Use of support varies</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Unknown</a:t>
                      </a:r>
                    </a:p>
                    <a:p>
                      <a:r>
                        <a:rPr sz="1800" b="0">
                          <a:solidFill>
                            <a:srgbClr val="233746"/>
                          </a:solidFill>
                          <a:latin typeface="Helvetica Neue"/>
                          <a:ea typeface="Helvetica Neue"/>
                          <a:cs typeface="Helvetica Neue"/>
                        </a:rPr>
                        <a:t>Shared workflow use</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Partial</a:t>
                      </a:r>
                    </a:p>
                    <a:p>
                      <a:r>
                        <a:rPr sz="1800" b="0">
                          <a:solidFill>
                            <a:srgbClr val="233746"/>
                          </a:solidFill>
                          <a:latin typeface="Helvetica Neue"/>
                          <a:ea typeface="Helvetica Neue"/>
                          <a:cs typeface="Helvetica Neue"/>
                        </a:rPr>
                        <a:t>Systems and workarounds coexist</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9E884F41-0CAB-45C9-8AE0-B491ECDBF213}"/>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Unknown does not mean absent. Validate permissions, staffing and data before committing to delivery.</a:t>
            </a:r>
          </a:p>
        </p:txBody>
      </p:sp>
    </p:spTree>
    <p:extLst>
      <p:ext uri="{BB962C8B-B14F-4D97-AF65-F5344CB8AC3E}">
        <p14:creationId xmlns:p14="http://schemas.microsoft.com/office/powerpoint/2010/main" val="844907480"/>
      </p:ext>
    </p:extLst>
  </p:cSld>
</p:sld>
</file>

<file path=ppt/slides/slide12.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1375C07-B0DA-4E8F-8003-56EA36A30D89}"/>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04  DOMAIN PRIORITISATION</a:t>
            </a:r>
          </a:p>
        </p:txBody>
      </p:sp>
      <p:sp>
        <p:nvSpPr>
          <p:cNvPr id="2" name="">
            <a:extLst xmlns:a="http://schemas.openxmlformats.org/drawingml/2006/main">
              <a:ext uri="{FF2B5EF4-FFF2-40B4-BE49-F238E27FC236}">
                <a16:creationId xmlns:a16="http://schemas.microsoft.com/office/drawing/2014/main" id="{860886B2-B3B4-4CDD-BF98-14F7CB06ACAF}"/>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Value and feasibility favour a support pilot</a:t>
            </a:r>
          </a:p>
        </p:txBody>
      </p:sp>
      <p:sp>
        <p:nvSpPr>
          <p:cNvPr id="3" name="">
            <a:extLst xmlns:a="http://schemas.openxmlformats.org/drawingml/2006/main">
              <a:ext uri="{FF2B5EF4-FFF2-40B4-BE49-F238E27FC236}">
                <a16:creationId xmlns:a16="http://schemas.microsoft.com/office/drawing/2014/main" id="{5E948F3C-1833-4254-86F0-CC6C5ECCFCBB}"/>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Provisional positions for bounded entry projects within each transformation domain.</a:t>
            </a:r>
          </a:p>
        </p:txBody>
      </p:sp>
      <p:sp>
        <p:nvSpPr>
          <p:cNvPr id="4" name="">
            <a:extLst xmlns:a="http://schemas.openxmlformats.org/drawingml/2006/main">
              <a:ext uri="{FF2B5EF4-FFF2-40B4-BE49-F238E27FC236}">
                <a16:creationId xmlns:a16="http://schemas.microsoft.com/office/drawing/2014/main" id="{0D2CA064-E627-449D-9822-0E2404DD54EF}"/>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12</a:t>
            </a:r>
          </a:p>
        </p:txBody>
      </p:sp>
      <p:graphicFrame>
        <p:nvGraphicFramePr>
          <p:cNvPr id="17" name="Chart"/>
          <p:cNvGraphicFramePr/>
          <p:nvPr/>
        </p:nvGraphicFramePr>
        <p:xfrm>
          <a:off xmlns:a="http://schemas.openxmlformats.org/drawingml/2006/main" x="619125" y="2476500"/>
          <a:ext xmlns:a="http://schemas.openxmlformats.org/drawingml/2006/main" cx="6334125" cy="3286125"/>
        </p:xfrm>
        <a:graphic xmlns:a="http://schemas.openxmlformats.org/drawingml/2006/main">
          <a:graphicData uri="http://schemas.openxmlformats.org/drawingml/2006/chart">
            <c:chart xmlns:r="http://schemas.openxmlformats.org/officeDocument/2006/relationships" xmlns:c="http://schemas.openxmlformats.org/drawingml/2006/chart" r:id="R3f5a9a74bc024f5c"/>
          </a:graphicData>
        </a:graphic>
      </p:graphicFrame>
      <p:sp>
        <p:nvSpPr>
          <p:cNvPr id="6" name="">
            <a:extLst xmlns:a="http://schemas.openxmlformats.org/drawingml/2006/main">
              <a:ext uri="{FF2B5EF4-FFF2-40B4-BE49-F238E27FC236}">
                <a16:creationId xmlns:a16="http://schemas.microsoft.com/office/drawing/2014/main" id="{F7906027-07C2-4EF4-B448-9D1FB9D4F416}"/>
              </a:ext>
            </a:extLst>
          </p:cNvPr>
          <p:cNvSpPr>
            <a:spLocks xmlns:a="http://schemas.openxmlformats.org/drawingml/2006/main" noGrp="1"/>
          </p:cNvSpPr>
          <p:nvPr/>
        </p:nvSpPr>
        <p:spPr>
          <a:xfrm xmlns:a="http://schemas.openxmlformats.org/drawingml/2006/main">
            <a:off x="7524750" y="2514600"/>
            <a:ext cx="400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878A"/>
                </a:solidFill>
                <a:latin typeface="Helvetica Neue"/>
                <a:ea typeface="Helvetica Neue"/>
                <a:cs typeface="Helvetica Neue"/>
              </a:defRPr>
            </a:pPr>
            <a:r>
              <a:rPr sz="2175" b="1">
                <a:solidFill>
                  <a:srgbClr val="16878A"/>
                </a:solidFill>
                <a:latin typeface="Helvetica Neue"/>
                <a:ea typeface="Helvetica Neue"/>
                <a:cs typeface="Helvetica Neue"/>
              </a:rPr>
              <a:t>A  Student support</a:t>
            </a:r>
          </a:p>
        </p:txBody>
      </p:sp>
      <p:sp>
        <p:nvSpPr>
          <p:cNvPr id="7" name="">
            <a:extLst xmlns:a="http://schemas.openxmlformats.org/drawingml/2006/main">
              <a:ext uri="{FF2B5EF4-FFF2-40B4-BE49-F238E27FC236}">
                <a16:creationId xmlns:a16="http://schemas.microsoft.com/office/drawing/2014/main" id="{B7BACEBC-60AD-4297-BCED-4D0BDF330BBF}"/>
              </a:ext>
            </a:extLst>
          </p:cNvPr>
          <p:cNvSpPr>
            <a:spLocks xmlns:a="http://schemas.openxmlformats.org/drawingml/2006/main" noGrp="1"/>
          </p:cNvSpPr>
          <p:nvPr/>
        </p:nvSpPr>
        <p:spPr>
          <a:xfrm xmlns:a="http://schemas.openxmlformats.org/drawingml/2006/main">
            <a:off x="7524750" y="2990850"/>
            <a:ext cx="4000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33746"/>
                </a:solidFill>
                <a:latin typeface="Helvetica Neue"/>
                <a:ea typeface="Helvetica Neue"/>
                <a:cs typeface="Helvetica Neue"/>
              </a:defRPr>
            </a:pPr>
            <a:r>
              <a:rPr sz="1875" b="0">
                <a:solidFill>
                  <a:srgbClr val="233746"/>
                </a:solidFill>
                <a:latin typeface="Helvetica Neue"/>
                <a:ea typeface="Helvetica Neue"/>
                <a:cs typeface="Helvetica Neue"/>
              </a:rPr>
              <a:t>Bounded information and routing pilot; limited initial integration.</a:t>
            </a:r>
          </a:p>
        </p:txBody>
      </p:sp>
      <p:sp>
        <p:nvSpPr>
          <p:cNvPr id="8" name="">
            <a:extLst xmlns:a="http://schemas.openxmlformats.org/drawingml/2006/main">
              <a:ext uri="{FF2B5EF4-FFF2-40B4-BE49-F238E27FC236}">
                <a16:creationId xmlns:a16="http://schemas.microsoft.com/office/drawing/2014/main" id="{5751A068-DC31-46FD-B9F4-CE582D66C174}"/>
              </a:ext>
            </a:extLst>
          </p:cNvPr>
          <p:cNvSpPr>
            <a:spLocks xmlns:a="http://schemas.openxmlformats.org/drawingml/2006/main" noGrp="1"/>
          </p:cNvSpPr>
          <p:nvPr/>
        </p:nvSpPr>
        <p:spPr>
          <a:xfrm xmlns:a="http://schemas.openxmlformats.org/drawingml/2006/main">
            <a:off x="7524750" y="3933825"/>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AF6C1F"/>
                </a:solidFill>
                <a:latin typeface="Helvetica Neue"/>
                <a:ea typeface="Helvetica Neue"/>
                <a:cs typeface="Helvetica Neue"/>
              </a:defRPr>
            </a:pPr>
            <a:r>
              <a:rPr sz="2025" b="1">
                <a:solidFill>
                  <a:srgbClr val="AF6C1F"/>
                </a:solidFill>
                <a:latin typeface="Helvetica Neue"/>
                <a:ea typeface="Helvetica Neue"/>
                <a:cs typeface="Helvetica Neue"/>
              </a:rPr>
              <a:t>B  Practical learning</a:t>
            </a:r>
          </a:p>
        </p:txBody>
      </p:sp>
      <p:sp>
        <p:nvSpPr>
          <p:cNvPr id="9" name="">
            <a:extLst xmlns:a="http://schemas.openxmlformats.org/drawingml/2006/main">
              <a:ext uri="{FF2B5EF4-FFF2-40B4-BE49-F238E27FC236}">
                <a16:creationId xmlns:a16="http://schemas.microsoft.com/office/drawing/2014/main" id="{41EEC6C3-B681-4531-BC62-4F2F1F5CAF2A}"/>
              </a:ext>
            </a:extLst>
          </p:cNvPr>
          <p:cNvSpPr>
            <a:spLocks xmlns:a="http://schemas.openxmlformats.org/drawingml/2006/main" noGrp="1"/>
          </p:cNvSpPr>
          <p:nvPr/>
        </p:nvSpPr>
        <p:spPr>
          <a:xfrm xmlns:a="http://schemas.openxmlformats.org/drawingml/2006/main">
            <a:off x="7524750" y="4381500"/>
            <a:ext cx="400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33746"/>
                </a:solidFill>
                <a:latin typeface="Helvetica Neue"/>
                <a:ea typeface="Helvetica Neue"/>
                <a:cs typeface="Helvetica Neue"/>
              </a:defRPr>
            </a:pPr>
            <a:r>
              <a:rPr sz="1800" b="0">
                <a:solidFill>
                  <a:srgbClr val="233746"/>
                </a:solidFill>
                <a:latin typeface="Helvetica Neue"/>
                <a:ea typeface="Helvetica Neue"/>
                <a:cs typeface="Helvetica Neue"/>
              </a:rPr>
              <a:t>Equipment and supervision constrain delivery.</a:t>
            </a:r>
          </a:p>
        </p:txBody>
      </p:sp>
      <p:sp>
        <p:nvSpPr>
          <p:cNvPr id="10" name="">
            <a:extLst xmlns:a="http://schemas.openxmlformats.org/drawingml/2006/main">
              <a:ext uri="{FF2B5EF4-FFF2-40B4-BE49-F238E27FC236}">
                <a16:creationId xmlns:a16="http://schemas.microsoft.com/office/drawing/2014/main" id="{13B2195B-3529-447E-AC88-A3E4DBBA2783}"/>
              </a:ext>
            </a:extLst>
          </p:cNvPr>
          <p:cNvSpPr>
            <a:spLocks xmlns:a="http://schemas.openxmlformats.org/drawingml/2006/main" noGrp="1"/>
          </p:cNvSpPr>
          <p:nvPr/>
        </p:nvSpPr>
        <p:spPr>
          <a:xfrm xmlns:a="http://schemas.openxmlformats.org/drawingml/2006/main">
            <a:off x="7524750" y="5153025"/>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449"/>
                </a:solidFill>
                <a:latin typeface="Helvetica Neue"/>
                <a:ea typeface="Helvetica Neue"/>
                <a:cs typeface="Helvetica Neue"/>
              </a:defRPr>
            </a:pPr>
            <a:r>
              <a:rPr sz="2025" b="1">
                <a:solidFill>
                  <a:srgbClr val="183449"/>
                </a:solidFill>
                <a:latin typeface="Helvetica Neue"/>
                <a:ea typeface="Helvetica Neue"/>
                <a:cs typeface="Helvetica Neue"/>
              </a:rPr>
              <a:t>C  Progression</a:t>
            </a:r>
          </a:p>
        </p:txBody>
      </p:sp>
      <p:sp>
        <p:nvSpPr>
          <p:cNvPr id="11" name="">
            <a:extLst xmlns:a="http://schemas.openxmlformats.org/drawingml/2006/main">
              <a:ext uri="{FF2B5EF4-FFF2-40B4-BE49-F238E27FC236}">
                <a16:creationId xmlns:a16="http://schemas.microsoft.com/office/drawing/2014/main" id="{59A6B572-9908-4DB0-AE3F-68BAB5A76F7D}"/>
              </a:ext>
            </a:extLst>
          </p:cNvPr>
          <p:cNvSpPr>
            <a:spLocks xmlns:a="http://schemas.openxmlformats.org/drawingml/2006/main" noGrp="1"/>
          </p:cNvSpPr>
          <p:nvPr/>
        </p:nvSpPr>
        <p:spPr>
          <a:xfrm xmlns:a="http://schemas.openxmlformats.org/drawingml/2006/main">
            <a:off x="7524750" y="5581650"/>
            <a:ext cx="4000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33746"/>
                </a:solidFill>
                <a:latin typeface="Helvetica Neue"/>
                <a:ea typeface="Helvetica Neue"/>
                <a:cs typeface="Helvetica Neue"/>
              </a:defRPr>
            </a:pPr>
            <a:r>
              <a:rPr sz="1725" b="0">
                <a:solidFill>
                  <a:srgbClr val="233746"/>
                </a:solidFill>
                <a:latin typeface="Helvetica Neue"/>
                <a:ea typeface="Helvetica Neue"/>
                <a:cs typeface="Helvetica Neue"/>
              </a:rPr>
              <a:t>Wider value, more data dependencies.</a:t>
            </a:r>
          </a:p>
        </p:txBody>
      </p:sp>
      <p:sp>
        <p:nvSpPr>
          <p:cNvPr id="12" name="">
            <a:extLst xmlns:a="http://schemas.openxmlformats.org/drawingml/2006/main">
              <a:ext uri="{FF2B5EF4-FFF2-40B4-BE49-F238E27FC236}">
                <a16:creationId xmlns:a16="http://schemas.microsoft.com/office/drawing/2014/main" id="{B15B8032-A94C-4157-8E26-C59A3143C195}"/>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Analyst judgments on a 1–5 scale. A depends on approved content, a process owner and staff capacity.</a:t>
            </a:r>
          </a:p>
        </p:txBody>
      </p:sp>
    </p:spTree>
    <p:extLst>
      <p:ext uri="{BB962C8B-B14F-4D97-AF65-F5344CB8AC3E}">
        <p14:creationId xmlns:p14="http://schemas.microsoft.com/office/powerpoint/2010/main" val="978716720"/>
      </p:ext>
    </p:extLst>
  </p:cSld>
</p:sld>
</file>

<file path=ppt/slides/slide13.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ADBDC3B-BC9B-4CBE-926C-7873F46B070E}"/>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04  DOMAIN PRIORITISATION</a:t>
            </a:r>
          </a:p>
        </p:txBody>
      </p:sp>
      <p:sp>
        <p:nvSpPr>
          <p:cNvPr id="2" name="">
            <a:extLst xmlns:a="http://schemas.openxmlformats.org/drawingml/2006/main">
              <a:ext uri="{FF2B5EF4-FFF2-40B4-BE49-F238E27FC236}">
                <a16:creationId xmlns:a16="http://schemas.microsoft.com/office/drawing/2014/main" id="{1E823FA7-2E55-4EE5-AF96-C4EF3C2FB64A}"/>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The ranking is conditional on feasibility</a:t>
            </a:r>
          </a:p>
        </p:txBody>
      </p:sp>
      <p:sp>
        <p:nvSpPr>
          <p:cNvPr id="3" name="">
            <a:extLst xmlns:a="http://schemas.openxmlformats.org/drawingml/2006/main">
              <a:ext uri="{FF2B5EF4-FFF2-40B4-BE49-F238E27FC236}">
                <a16:creationId xmlns:a16="http://schemas.microsoft.com/office/drawing/2014/main" id="{CD9A4051-FC55-4E8E-9FD7-19250D886D8F}"/>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Course weights: value 30%, feasibility 25%, strategic relevance 20%, urgency 15%, learning 10%.</a:t>
            </a:r>
          </a:p>
        </p:txBody>
      </p:sp>
      <p:sp>
        <p:nvSpPr>
          <p:cNvPr id="4" name="">
            <a:extLst xmlns:a="http://schemas.openxmlformats.org/drawingml/2006/main">
              <a:ext uri="{FF2B5EF4-FFF2-40B4-BE49-F238E27FC236}">
                <a16:creationId xmlns:a16="http://schemas.microsoft.com/office/drawing/2014/main" id="{41DBC55F-156B-4D77-864A-C6F5A92912C9}"/>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13</a:t>
            </a:r>
          </a:p>
        </p:txBody>
      </p:sp>
      <p:graphicFrame>
        <p:nvGraphicFramePr>
          <p:cNvPr id="13" name=""/>
          <p:cNvGraphicFramePr/>
          <p:nvPr/>
        </p:nvGraphicFramePr>
        <p:xfrm>
          <a:off xmlns:a="http://schemas.openxmlformats.org/drawingml/2006/main" x="533400" y="2428875"/>
          <a:ext xmlns:a="http://schemas.openxmlformats.org/drawingml/2006/main" cx="11125200" cy="2286000"/>
        </p:xfrm>
        <a:graphic xmlns:a="http://schemas.openxmlformats.org/drawingml/2006/main">
          <a:graphicData uri="http://schemas.openxmlformats.org/drawingml/2006/table">
            <a:tbl>
              <a:tblPr/>
              <a:tblGrid>
                <a:gridCol w="3124200"/>
                <a:gridCol w="1143000"/>
                <a:gridCol w="1143000"/>
                <a:gridCol w="1428750"/>
                <a:gridCol w="1428750"/>
                <a:gridCol w="1428750"/>
                <a:gridCol w="1428750"/>
              </a:tblGrid>
              <a:tr h="495300">
                <a:tc>
                  <a:txBody>
                    <a:bodyPr/>
                    <a:lstStyle/>
                    <a:p>
                      <a:r>
                        <a:rPr sz="1800" b="1">
                          <a:solidFill>
                            <a:srgbClr val="FFFFFF"/>
                          </a:solidFill>
                          <a:latin typeface="Helvetica Neue"/>
                          <a:ea typeface="Helvetica Neue"/>
                          <a:cs typeface="Helvetica Neue"/>
                        </a:rPr>
                        <a:t>Candidate</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Value</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Feas.</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Strategy</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Urgency</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Learning</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Total</a:t>
                      </a:r>
                    </a:p>
                  </a:txBody>
                  <a:tcPr marL="91440" marR="91440" marT="45720" marB="45720">
                    <a:solidFill>
                      <a:srgbClr val="183449"/>
                    </a:solidFill>
                  </a:tcPr>
                </a:tc>
              </a:tr>
              <a:tr h="596900">
                <a:tc>
                  <a:txBody>
                    <a:bodyPr/>
                    <a:lstStyle/>
                    <a:p>
                      <a:r>
                        <a:rPr sz="1800" b="1">
                          <a:solidFill>
                            <a:srgbClr val="233746"/>
                          </a:solidFill>
                          <a:latin typeface="Helvetica Neue"/>
                          <a:ea typeface="Helvetica Neue"/>
                          <a:cs typeface="Helvetica Neue"/>
                        </a:rPr>
                        <a:t>A  Support</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4</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4</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4</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4</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5</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4.10</a:t>
                      </a:r>
                    </a:p>
                  </a:txBody>
                  <a:tcPr marL="91440" marR="91440" marT="45720" marB="45720">
                    <a:solidFill>
                      <a:srgbClr val="FFFFFF"/>
                    </a:solidFill>
                  </a:tcPr>
                </a:tc>
              </a:tr>
              <a:tr h="596900">
                <a:tc>
                  <a:txBody>
                    <a:bodyPr/>
                    <a:lstStyle/>
                    <a:p>
                      <a:r>
                        <a:rPr sz="1800" b="1">
                          <a:solidFill>
                            <a:srgbClr val="233746"/>
                          </a:solidFill>
                          <a:latin typeface="Helvetica Neue"/>
                          <a:ea typeface="Helvetica Neue"/>
                          <a:cs typeface="Helvetica Neue"/>
                        </a:rPr>
                        <a:t>B  Practical</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4</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2</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4</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4</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4</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3.50</a:t>
                      </a:r>
                    </a:p>
                  </a:txBody>
                  <a:tcPr marL="91440" marR="91440" marT="45720" marB="45720">
                    <a:solidFill>
                      <a:srgbClr val="EDF3F4"/>
                    </a:solidFill>
                  </a:tcPr>
                </a:tc>
              </a:tr>
              <a:tr h="596900">
                <a:tc>
                  <a:txBody>
                    <a:bodyPr/>
                    <a:lstStyle/>
                    <a:p>
                      <a:r>
                        <a:rPr sz="1800" b="1">
                          <a:solidFill>
                            <a:srgbClr val="233746"/>
                          </a:solidFill>
                          <a:latin typeface="Helvetica Neue"/>
                          <a:ea typeface="Helvetica Neue"/>
                          <a:cs typeface="Helvetica Neue"/>
                        </a:rPr>
                        <a:t>C  Progression</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5</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2</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4</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4</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4</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3.80</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65C9A58-0D98-4619-9119-DF15C5A83D60}"/>
              </a:ext>
            </a:extLst>
          </p:cNvPr>
          <p:cNvSpPr>
            <a:spLocks xmlns:a="http://schemas.openxmlformats.org/drawingml/2006/main" noGrp="1"/>
          </p:cNvSpPr>
          <p:nvPr/>
        </p:nvSpPr>
        <p:spPr>
          <a:xfrm xmlns:a="http://schemas.openxmlformats.org/drawingml/2006/main">
            <a:off x="533400" y="49815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449"/>
                </a:solidFill>
                <a:latin typeface="Helvetica Neue"/>
                <a:ea typeface="Helvetica Neue"/>
                <a:cs typeface="Helvetica Neue"/>
              </a:defRPr>
            </a:pPr>
            <a:r>
              <a:rPr sz="2175" b="1">
                <a:solidFill>
                  <a:srgbClr val="183449"/>
                </a:solidFill>
                <a:latin typeface="Helvetica Neue"/>
                <a:ea typeface="Helvetica Neue"/>
                <a:cs typeface="Helvetica Neue"/>
              </a:rPr>
              <a:t>Strongest alternative: Academic Progression</a:t>
            </a:r>
          </a:p>
        </p:txBody>
      </p:sp>
      <p:sp>
        <p:nvSpPr>
          <p:cNvPr id="7" name="">
            <a:extLst xmlns:a="http://schemas.openxmlformats.org/drawingml/2006/main">
              <a:ext uri="{FF2B5EF4-FFF2-40B4-BE49-F238E27FC236}">
                <a16:creationId xmlns:a16="http://schemas.microsoft.com/office/drawing/2014/main" id="{DABD3524-B821-442D-A283-4FDC6015B3BB}"/>
              </a:ext>
            </a:extLst>
          </p:cNvPr>
          <p:cNvSpPr>
            <a:spLocks xmlns:a="http://schemas.openxmlformats.org/drawingml/2006/main" noGrp="1"/>
          </p:cNvSpPr>
          <p:nvPr/>
        </p:nvSpPr>
        <p:spPr>
          <a:xfrm xmlns:a="http://schemas.openxmlformats.org/drawingml/2006/main">
            <a:off x="533400" y="545782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33746"/>
                </a:solidFill>
                <a:latin typeface="Helvetica Neue"/>
                <a:ea typeface="Helvetica Neue"/>
                <a:cs typeface="Helvetica Neue"/>
              </a:defRPr>
            </a:pPr>
            <a:r>
              <a:rPr sz="1800" b="0">
                <a:solidFill>
                  <a:srgbClr val="233746"/>
                </a:solidFill>
                <a:latin typeface="Helvetica Neue"/>
                <a:ea typeface="Helvetica Neue"/>
                <a:cs typeface="Helvetica Neue"/>
              </a:rPr>
              <a:t>Broader milestone value, but greater record and approval dependencies.</a:t>
            </a:r>
          </a:p>
          <a:p xmlns:a="http://schemas.openxmlformats.org/drawingml/2006/main">
            <a:pPr>
              <a:defRPr sz="1800" b="0">
                <a:solidFill>
                  <a:srgbClr val="233746"/>
                </a:solidFill>
                <a:latin typeface="Helvetica Neue"/>
                <a:ea typeface="Helvetica Neue"/>
                <a:cs typeface="Helvetica Neue"/>
              </a:defRPr>
            </a:pPr>
            <a:r>
              <a:rPr sz="1800" b="0">
                <a:solidFill>
                  <a:srgbClr val="233746"/>
                </a:solidFill>
                <a:latin typeface="Helvetica Neue"/>
                <a:ea typeface="Helvetica Neue"/>
                <a:cs typeface="Helvetica Neue"/>
              </a:rPr>
              <a:t>If support feasibility falls from 4 to 2, its score falls to 3.60 and progression leads.</a:t>
            </a:r>
          </a:p>
        </p:txBody>
      </p:sp>
      <p:sp>
        <p:nvSpPr>
          <p:cNvPr id="8" name="">
            <a:extLst xmlns:a="http://schemas.openxmlformats.org/drawingml/2006/main">
              <a:ext uri="{FF2B5EF4-FFF2-40B4-BE49-F238E27FC236}">
                <a16:creationId xmlns:a16="http://schemas.microsoft.com/office/drawing/2014/main" id="{8162B777-BFA3-4BEA-992F-CEB084D8F08B}"/>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Illustrative scores. Strategic relevance and urgency are held equal pending leadership and deadline evidence.</a:t>
            </a:r>
          </a:p>
        </p:txBody>
      </p:sp>
    </p:spTree>
    <p:extLst>
      <p:ext uri="{BB962C8B-B14F-4D97-AF65-F5344CB8AC3E}">
        <p14:creationId xmlns:p14="http://schemas.microsoft.com/office/powerpoint/2010/main" val="1788065476"/>
      </p:ext>
    </p:extLst>
  </p:cSld>
</p:sld>
</file>

<file path=ppt/slides/slide14.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49F14CA-CBBC-47A1-AA37-B12D9081A8FE}"/>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05  RECOMMENDATION</a:t>
            </a:r>
          </a:p>
        </p:txBody>
      </p:sp>
      <p:sp>
        <p:nvSpPr>
          <p:cNvPr id="2" name="">
            <a:extLst xmlns:a="http://schemas.openxmlformats.org/drawingml/2006/main">
              <a:ext uri="{FF2B5EF4-FFF2-40B4-BE49-F238E27FC236}">
                <a16:creationId xmlns:a16="http://schemas.microsoft.com/office/drawing/2014/main" id="{465FCE16-F214-4412-8A7D-5067CDDDB396}"/>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AI Student Support Hub</a:t>
            </a:r>
          </a:p>
        </p:txBody>
      </p:sp>
      <p:sp>
        <p:nvSpPr>
          <p:cNvPr id="3" name="">
            <a:extLst xmlns:a="http://schemas.openxmlformats.org/drawingml/2006/main">
              <a:ext uri="{FF2B5EF4-FFF2-40B4-BE49-F238E27FC236}">
                <a16:creationId xmlns:a16="http://schemas.microsoft.com/office/drawing/2014/main" id="{4BE78A29-39F0-4E56-97CE-C415621C5DBF}"/>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Recommended domain: Student Support &amp; Academic Navigation.</a:t>
            </a:r>
          </a:p>
        </p:txBody>
      </p:sp>
      <p:sp>
        <p:nvSpPr>
          <p:cNvPr id="4" name="">
            <a:extLst xmlns:a="http://schemas.openxmlformats.org/drawingml/2006/main">
              <a:ext uri="{FF2B5EF4-FFF2-40B4-BE49-F238E27FC236}">
                <a16:creationId xmlns:a16="http://schemas.microsoft.com/office/drawing/2014/main" id="{483D6DDA-F5E5-46F3-B831-68C2B286EAB8}"/>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D8CA70D6-56F0-4F71-9D34-ED56F35CF17D}"/>
              </a:ext>
            </a:extLst>
          </p:cNvPr>
          <p:cNvSpPr>
            <a:spLocks xmlns:a="http://schemas.openxmlformats.org/drawingml/2006/main" noGrp="1"/>
          </p:cNvSpPr>
          <p:nvPr/>
        </p:nvSpPr>
        <p:spPr>
          <a:xfrm xmlns:a="http://schemas.openxmlformats.org/drawingml/2006/main">
            <a:off x="533400" y="261937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6878A"/>
                </a:solidFill>
                <a:latin typeface="Helvetica Neue"/>
                <a:ea typeface="Helvetica Neue"/>
                <a:cs typeface="Helvetica Neue"/>
              </a:defRPr>
            </a:pPr>
            <a:r>
              <a:rPr sz="2325" b="1">
                <a:solidFill>
                  <a:srgbClr val="16878A"/>
                </a:solidFill>
                <a:latin typeface="Helvetica Neue"/>
                <a:ea typeface="Helvetica Neue"/>
                <a:cs typeface="Helvetica Neue"/>
              </a:rPr>
              <a:t>First pilot</a:t>
            </a:r>
          </a:p>
        </p:txBody>
      </p:sp>
      <p:sp>
        <p:nvSpPr>
          <p:cNvPr id="6" name="">
            <a:extLst xmlns:a="http://schemas.openxmlformats.org/drawingml/2006/main">
              <a:ext uri="{FF2B5EF4-FFF2-40B4-BE49-F238E27FC236}">
                <a16:creationId xmlns:a16="http://schemas.microsoft.com/office/drawing/2014/main" id="{61504E9C-63E0-4DF6-B56D-8531CA0C4B9C}"/>
              </a:ext>
            </a:extLst>
          </p:cNvPr>
          <p:cNvSpPr>
            <a:spLocks xmlns:a="http://schemas.openxmlformats.org/drawingml/2006/main" noGrp="1"/>
          </p:cNvSpPr>
          <p:nvPr/>
        </p:nvSpPr>
        <p:spPr>
          <a:xfrm xmlns:a="http://schemas.openxmlformats.org/drawingml/2006/main">
            <a:off x="533400" y="3209925"/>
            <a:ext cx="51435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3746"/>
                </a:solidFill>
                <a:latin typeface="Helvetica Neue"/>
                <a:ea typeface="Helvetica Neue"/>
                <a:cs typeface="Helvetica Neue"/>
              </a:defRPr>
            </a:pPr>
            <a:r>
              <a:rPr sz="2175" b="0">
                <a:solidFill>
                  <a:srgbClr val="233746"/>
                </a:solidFill>
                <a:latin typeface="Helvetica Neue"/>
                <a:ea typeface="Helvetica Neue"/>
                <a:cs typeface="Helvetica Neue"/>
              </a:rPr>
              <a:t>One CSE cohort</a:t>
            </a:r>
          </a:p>
          <a:p xmlns:a="http://schemas.openxmlformats.org/drawingml/2006/main">
            <a:pPr>
              <a:defRPr sz="2175" b="0">
                <a:solidFill>
                  <a:srgbClr val="233746"/>
                </a:solidFill>
                <a:latin typeface="Helvetica Neue"/>
                <a:ea typeface="Helvetica Neue"/>
                <a:cs typeface="Helvetica Neue"/>
              </a:defRPr>
            </a:pPr>
            <a:r>
              <a:rPr sz="2175" b="0">
                <a:solidFill>
                  <a:srgbClr val="233746"/>
                </a:solidFill>
                <a:latin typeface="Helvetica Neue"/>
                <a:ea typeface="Helvetica Neue"/>
                <a:cs typeface="Helvetica Neue"/>
              </a:rPr>
              <a:t>Course-registration guidance and enquiries</a:t>
            </a:r>
          </a:p>
          <a:p xmlns:a="http://schemas.openxmlformats.org/drawingml/2006/main">
            <a:r>
              <a:t/>
            </a:r>
          </a:p>
          <a:p xmlns:a="http://schemas.openxmlformats.org/drawingml/2006/main">
            <a:pPr>
              <a:defRPr sz="2175" b="0">
                <a:solidFill>
                  <a:srgbClr val="233746"/>
                </a:solidFill>
                <a:latin typeface="Helvetica Neue"/>
                <a:ea typeface="Helvetica Neue"/>
                <a:cs typeface="Helvetica Neue"/>
              </a:defRPr>
            </a:pPr>
            <a:r>
              <a:rPr sz="2175" b="0">
                <a:solidFill>
                  <a:srgbClr val="233746"/>
                </a:solidFill>
                <a:latin typeface="Helvetica Neue"/>
                <a:ea typeface="Helvetica Neue"/>
                <a:cs typeface="Helvetica Neue"/>
              </a:rPr>
              <a:t>Approved answers with sources</a:t>
            </a:r>
          </a:p>
          <a:p xmlns:a="http://schemas.openxmlformats.org/drawingml/2006/main">
            <a:pPr>
              <a:defRPr sz="2175" b="0">
                <a:solidFill>
                  <a:srgbClr val="233746"/>
                </a:solidFill>
                <a:latin typeface="Helvetica Neue"/>
                <a:ea typeface="Helvetica Neue"/>
                <a:cs typeface="Helvetica Neue"/>
              </a:defRPr>
            </a:pPr>
            <a:r>
              <a:rPr sz="2175" b="0">
                <a:solidFill>
                  <a:srgbClr val="233746"/>
                </a:solidFill>
                <a:latin typeface="Helvetica Neue"/>
                <a:ea typeface="Helvetica Neue"/>
                <a:cs typeface="Helvetica Neue"/>
              </a:rPr>
              <a:t>Clear next steps and checklists</a:t>
            </a:r>
          </a:p>
          <a:p xmlns:a="http://schemas.openxmlformats.org/drawingml/2006/main">
            <a:pPr>
              <a:defRPr sz="2175" b="0">
                <a:solidFill>
                  <a:srgbClr val="233746"/>
                </a:solidFill>
                <a:latin typeface="Helvetica Neue"/>
                <a:ea typeface="Helvetica Neue"/>
                <a:cs typeface="Helvetica Neue"/>
              </a:defRPr>
            </a:pPr>
            <a:r>
              <a:rPr sz="2175" b="0">
                <a:solidFill>
                  <a:srgbClr val="233746"/>
                </a:solidFill>
                <a:latin typeface="Helvetica Neue"/>
                <a:ea typeface="Helvetica Neue"/>
                <a:cs typeface="Helvetica Neue"/>
              </a:rPr>
              <a:t>Staff handoff for unresolved cases</a:t>
            </a:r>
          </a:p>
        </p:txBody>
      </p:sp>
      <p:sp>
        <p:nvSpPr>
          <p:cNvPr id="7" name="">
            <a:extLst xmlns:a="http://schemas.openxmlformats.org/drawingml/2006/main">
              <a:ext uri="{FF2B5EF4-FFF2-40B4-BE49-F238E27FC236}">
                <a16:creationId xmlns:a16="http://schemas.microsoft.com/office/drawing/2014/main" id="{9E4BC959-0A59-4409-AB32-6E66EF72EDB0}"/>
              </a:ext>
            </a:extLst>
          </p:cNvPr>
          <p:cNvSpPr>
            <a:spLocks xmlns:a="http://schemas.openxmlformats.org/drawingml/2006/main" noGrp="1"/>
          </p:cNvSpPr>
          <p:nvPr/>
        </p:nvSpPr>
        <p:spPr>
          <a:xfrm xmlns:a="http://schemas.openxmlformats.org/drawingml/2006/main">
            <a:off x="6477000" y="261937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6878A"/>
                </a:solidFill>
                <a:latin typeface="Helvetica Neue"/>
                <a:ea typeface="Helvetica Neue"/>
                <a:cs typeface="Helvetica Neue"/>
              </a:defRPr>
            </a:pPr>
            <a:r>
              <a:rPr sz="2325" b="1">
                <a:solidFill>
                  <a:srgbClr val="16878A"/>
                </a:solidFill>
                <a:latin typeface="Helvetica Neue"/>
                <a:ea typeface="Helvetica Neue"/>
                <a:cs typeface="Helvetica Neue"/>
              </a:rPr>
              <a:t>What changes in the service</a:t>
            </a:r>
          </a:p>
        </p:txBody>
      </p:sp>
      <p:sp>
        <p:nvSpPr>
          <p:cNvPr id="8" name="">
            <a:extLst xmlns:a="http://schemas.openxmlformats.org/drawingml/2006/main">
              <a:ext uri="{FF2B5EF4-FFF2-40B4-BE49-F238E27FC236}">
                <a16:creationId xmlns:a16="http://schemas.microsoft.com/office/drawing/2014/main" id="{77131331-7D89-4127-B4D6-602691701E7D}"/>
              </a:ext>
            </a:extLst>
          </p:cNvPr>
          <p:cNvSpPr>
            <a:spLocks xmlns:a="http://schemas.openxmlformats.org/drawingml/2006/main" noGrp="1"/>
          </p:cNvSpPr>
          <p:nvPr/>
        </p:nvSpPr>
        <p:spPr>
          <a:xfrm xmlns:a="http://schemas.openxmlformats.org/drawingml/2006/main">
            <a:off x="6477000" y="3209925"/>
            <a:ext cx="509587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33746"/>
                </a:solidFill>
                <a:latin typeface="Helvetica Neue"/>
                <a:ea typeface="Helvetica Neue"/>
                <a:cs typeface="Helvetica Neue"/>
              </a:defRPr>
            </a:pPr>
            <a:r>
              <a:rPr sz="2100" b="0">
                <a:solidFill>
                  <a:srgbClr val="233746"/>
                </a:solidFill>
                <a:latin typeface="Helvetica Neue"/>
                <a:ea typeface="Helvetica Neue"/>
                <a:cs typeface="Helvetica Neue"/>
              </a:rPr>
              <a:t>Named owners maintain guidance.</a:t>
            </a:r>
          </a:p>
          <a:p xmlns:a="http://schemas.openxmlformats.org/drawingml/2006/main">
            <a:pPr>
              <a:defRPr sz="2100" b="0">
                <a:solidFill>
                  <a:srgbClr val="233746"/>
                </a:solidFill>
                <a:latin typeface="Helvetica Neue"/>
                <a:ea typeface="Helvetica Neue"/>
                <a:cs typeface="Helvetica Neue"/>
              </a:defRPr>
            </a:pPr>
            <a:r>
              <a:rPr sz="2100" b="0">
                <a:solidFill>
                  <a:srgbClr val="233746"/>
                </a:solidFill>
                <a:latin typeface="Helvetica Neue"/>
                <a:ea typeface="Helvetica Neue"/>
                <a:cs typeface="Helvetica Neue"/>
              </a:rPr>
              <a:t>Requests enter a shared queue.</a:t>
            </a:r>
          </a:p>
          <a:p xmlns:a="http://schemas.openxmlformats.org/drawingml/2006/main">
            <a:pPr>
              <a:defRPr sz="2100" b="0">
                <a:solidFill>
                  <a:srgbClr val="233746"/>
                </a:solidFill>
                <a:latin typeface="Helvetica Neue"/>
                <a:ea typeface="Helvetica Neue"/>
                <a:cs typeface="Helvetica Neue"/>
              </a:defRPr>
            </a:pPr>
            <a:r>
              <a:rPr sz="2100" b="0">
                <a:solidFill>
                  <a:srgbClr val="233746"/>
                </a:solidFill>
                <a:latin typeface="Helvetica Neue"/>
                <a:ea typeface="Helvetica Neue"/>
                <a:cs typeface="Helvetica Neue"/>
              </a:rPr>
              <a:t>Staff accept and resolve assigned cases.</a:t>
            </a:r>
          </a:p>
          <a:p xmlns:a="http://schemas.openxmlformats.org/drawingml/2006/main">
            <a:pPr>
              <a:defRPr sz="2100" b="0">
                <a:solidFill>
                  <a:srgbClr val="233746"/>
                </a:solidFill>
                <a:latin typeface="Helvetica Neue"/>
                <a:ea typeface="Helvetica Neue"/>
                <a:cs typeface="Helvetica Neue"/>
              </a:defRPr>
            </a:pPr>
            <a:r>
              <a:rPr sz="2100" b="0">
                <a:solidFill>
                  <a:srgbClr val="233746"/>
                </a:solidFill>
                <a:latin typeface="Helvetica Neue"/>
                <a:ea typeface="Helvetica Neue"/>
                <a:cs typeface="Helvetica Neue"/>
              </a:rPr>
              <a:t>Students can see the next step.</a:t>
            </a:r>
          </a:p>
          <a:p xmlns:a="http://schemas.openxmlformats.org/drawingml/2006/main">
            <a:pPr>
              <a:defRPr sz="2100" b="0">
                <a:solidFill>
                  <a:srgbClr val="233746"/>
                </a:solidFill>
                <a:latin typeface="Helvetica Neue"/>
                <a:ea typeface="Helvetica Neue"/>
                <a:cs typeface="Helvetica Neue"/>
              </a:defRPr>
            </a:pPr>
            <a:r>
              <a:rPr sz="2100" b="0">
                <a:solidFill>
                  <a:srgbClr val="233746"/>
                </a:solidFill>
                <a:latin typeface="Helvetica Neue"/>
                <a:ea typeface="Helvetica Neue"/>
                <a:cs typeface="Helvetica Neue"/>
              </a:rPr>
              <a:t>The team measures resolution quality.</a:t>
            </a:r>
          </a:p>
        </p:txBody>
      </p:sp>
      <p:sp>
        <p:nvSpPr>
          <p:cNvPr id="9" name="">
            <a:extLst xmlns:a="http://schemas.openxmlformats.org/drawingml/2006/main">
              <a:ext uri="{FF2B5EF4-FFF2-40B4-BE49-F238E27FC236}">
                <a16:creationId xmlns:a16="http://schemas.microsoft.com/office/drawing/2014/main" id="{1FCB7088-4A35-4986-AD19-EF953640B71C}"/>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Proposed pilot. AI assists navigation; authorised staff retain academic decision-making authority.</a:t>
            </a:r>
          </a:p>
        </p:txBody>
      </p:sp>
    </p:spTree>
    <p:extLst>
      <p:ext uri="{BB962C8B-B14F-4D97-AF65-F5344CB8AC3E}">
        <p14:creationId xmlns:p14="http://schemas.microsoft.com/office/powerpoint/2010/main" val="246257084"/>
      </p:ext>
    </p:extLst>
  </p:cSld>
</p:sld>
</file>

<file path=ppt/slides/slide15.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DA6A29B-63A7-4C5F-AB1A-4A792537A304}"/>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05  RECOMMENDATION</a:t>
            </a:r>
          </a:p>
        </p:txBody>
      </p:sp>
      <p:sp>
        <p:nvSpPr>
          <p:cNvPr id="2" name="">
            <a:extLst xmlns:a="http://schemas.openxmlformats.org/drawingml/2006/main">
              <a:ext uri="{FF2B5EF4-FFF2-40B4-BE49-F238E27FC236}">
                <a16:creationId xmlns:a16="http://schemas.microsoft.com/office/drawing/2014/main" id="{EBD20659-F343-4815-BCEF-FC45C361E4F1}"/>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A complete service, beyond a chatbot</a:t>
            </a:r>
          </a:p>
        </p:txBody>
      </p:sp>
      <p:sp>
        <p:nvSpPr>
          <p:cNvPr id="3" name="">
            <a:extLst xmlns:a="http://schemas.openxmlformats.org/drawingml/2006/main">
              <a:ext uri="{FF2B5EF4-FFF2-40B4-BE49-F238E27FC236}">
                <a16:creationId xmlns:a16="http://schemas.microsoft.com/office/drawing/2014/main" id="{F59C6D23-83E9-4246-AE91-E68EE633C184}"/>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AI handles supported questions. Staff take ownership when a case needs judgment.</a:t>
            </a:r>
          </a:p>
        </p:txBody>
      </p:sp>
      <p:sp>
        <p:nvSpPr>
          <p:cNvPr id="4" name="">
            <a:extLst xmlns:a="http://schemas.openxmlformats.org/drawingml/2006/main">
              <a:ext uri="{FF2B5EF4-FFF2-40B4-BE49-F238E27FC236}">
                <a16:creationId xmlns:a16="http://schemas.microsoft.com/office/drawing/2014/main" id="{CD1B1697-D5B5-44B8-A3FB-88C9ACA7B926}"/>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15</a:t>
            </a:r>
          </a:p>
        </p:txBody>
      </p:sp>
      <p:graphicFrame>
        <p:nvGraphicFramePr>
          <p:cNvPr id="11" name=""/>
          <p:cNvGraphicFramePr/>
          <p:nvPr/>
        </p:nvGraphicFramePr>
        <p:xfrm>
          <a:off xmlns:a="http://schemas.openxmlformats.org/drawingml/2006/main" x="533400" y="2428875"/>
          <a:ext xmlns:a="http://schemas.openxmlformats.org/drawingml/2006/main" cx="11125200" cy="3238500"/>
        </p:xfrm>
        <a:graphic xmlns:a="http://schemas.openxmlformats.org/drawingml/2006/main">
          <a:graphicData uri="http://schemas.openxmlformats.org/drawingml/2006/table">
            <a:tbl>
              <a:tblPr/>
              <a:tblGrid>
                <a:gridCol w="1619250"/>
                <a:gridCol w="4619625"/>
                <a:gridCol w="4886325"/>
              </a:tblGrid>
              <a:tr h="495300">
                <a:tc>
                  <a:txBody>
                    <a:bodyPr/>
                    <a:lstStyle/>
                    <a:p>
                      <a:r>
                        <a:rPr sz="1800" b="1">
                          <a:solidFill>
                            <a:srgbClr val="FFFFFF"/>
                          </a:solidFill>
                          <a:latin typeface="Helvetica Neue"/>
                          <a:ea typeface="Helvetica Neue"/>
                          <a:cs typeface="Helvetica Neue"/>
                        </a:rPr>
                        <a:t>Step</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Student experience</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Operational requirement</a:t>
                      </a:r>
                    </a:p>
                  </a:txBody>
                  <a:tcPr marL="91440" marR="91440" marT="45720" marB="45720">
                    <a:solidFill>
                      <a:srgbClr val="183449"/>
                    </a:solidFill>
                  </a:tcPr>
                </a:tc>
              </a:tr>
              <a:tr h="685800">
                <a:tc>
                  <a:txBody>
                    <a:bodyPr/>
                    <a:lstStyle/>
                    <a:p>
                      <a:r>
                        <a:rPr sz="1800" b="1">
                          <a:solidFill>
                            <a:srgbClr val="233746"/>
                          </a:solidFill>
                          <a:latin typeface="Helvetica Neue"/>
                          <a:ea typeface="Helvetica Neue"/>
                          <a:cs typeface="Helvetica Neue"/>
                        </a:rPr>
                        <a:t>1  Ask</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Select programme/cohort and describe the need</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Maintain approved, dated guidance</a:t>
                      </a:r>
                    </a:p>
                  </a:txBody>
                  <a:tcPr marL="91440" marR="91440" marT="45720" marB="45720">
                    <a:solidFill>
                      <a:srgbClr val="FFFFFF"/>
                    </a:solidFill>
                  </a:tcPr>
                </a:tc>
              </a:tr>
              <a:tr h="685800">
                <a:tc>
                  <a:txBody>
                    <a:bodyPr/>
                    <a:lstStyle/>
                    <a:p>
                      <a:r>
                        <a:rPr sz="1800" b="1">
                          <a:solidFill>
                            <a:srgbClr val="233746"/>
                          </a:solidFill>
                          <a:latin typeface="Helvetica Neue"/>
                          <a:ea typeface="Helvetica Neue"/>
                          <a:cs typeface="Helvetica Neue"/>
                        </a:rPr>
                        <a:t>2  Answer</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Receive a sourced answer and clear next steps</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Check retrieval and answer quality</a:t>
                      </a:r>
                    </a:p>
                  </a:txBody>
                  <a:tcPr marL="91440" marR="91440" marT="45720" marB="45720">
                    <a:solidFill>
                      <a:srgbClr val="EDF3F4"/>
                    </a:solidFill>
                  </a:tcPr>
                </a:tc>
              </a:tr>
              <a:tr h="685800">
                <a:tc>
                  <a:txBody>
                    <a:bodyPr/>
                    <a:lstStyle/>
                    <a:p>
                      <a:r>
                        <a:rPr sz="1800" b="1">
                          <a:solidFill>
                            <a:srgbClr val="233746"/>
                          </a:solidFill>
                          <a:latin typeface="Helvetica Neue"/>
                          <a:ea typeface="Helvetica Neue"/>
                          <a:cs typeface="Helvetica Neue"/>
                        </a:rPr>
                        <a:t>3  Escalate</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Unresolved question becomes a tracked case</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Assign an owner and response expectation</a:t>
                      </a:r>
                    </a:p>
                  </a:txBody>
                  <a:tcPr marL="91440" marR="91440" marT="45720" marB="45720">
                    <a:solidFill>
                      <a:srgbClr val="FFFFFF"/>
                    </a:solidFill>
                  </a:tcPr>
                </a:tc>
              </a:tr>
              <a:tr h="685800">
                <a:tc>
                  <a:txBody>
                    <a:bodyPr/>
                    <a:lstStyle/>
                    <a:p>
                      <a:r>
                        <a:rPr sz="1800" b="1">
                          <a:solidFill>
                            <a:srgbClr val="233746"/>
                          </a:solidFill>
                          <a:latin typeface="Helvetica Neue"/>
                          <a:ea typeface="Helvetica Neue"/>
                          <a:cs typeface="Helvetica Neue"/>
                        </a:rPr>
                        <a:t>4  Resolve</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Staff respond and student confirms resolution</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Record outcome and update guidance</a:t>
                      </a:r>
                    </a:p>
                  </a:txBody>
                  <a:tcPr marL="91440" marR="91440" marT="45720" marB="45720">
                    <a:solidFill>
                      <a:srgbClr val="EDF3F4"/>
                    </a:solidFill>
                  </a:tcPr>
                </a:tc>
              </a:tr>
            </a:tbl>
          </a:graphicData>
        </a:graphic>
      </p:graphicFrame>
      <p:sp>
        <p:nvSpPr>
          <p:cNvPr id="6" name="">
            <a:extLst xmlns:a="http://schemas.openxmlformats.org/drawingml/2006/main">
              <a:ext uri="{FF2B5EF4-FFF2-40B4-BE49-F238E27FC236}">
                <a16:creationId xmlns:a16="http://schemas.microsoft.com/office/drawing/2014/main" id="{C14677B3-D9EE-4AE5-BD0C-C8B8A30DBB44}"/>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If guidance is missing or conflicting, the hub should say so and route the question to staff.</a:t>
            </a:r>
          </a:p>
        </p:txBody>
      </p:sp>
    </p:spTree>
    <p:extLst>
      <p:ext uri="{BB962C8B-B14F-4D97-AF65-F5344CB8AC3E}">
        <p14:creationId xmlns:p14="http://schemas.microsoft.com/office/powerpoint/2010/main" val="783147156"/>
      </p:ext>
    </p:extLst>
  </p:cSld>
</p:sld>
</file>

<file path=ppt/slides/slide16.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AD087EE-2B88-4F8E-9777-A8D5AE21CD3B}"/>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05  RECOMMENDATION</a:t>
            </a:r>
          </a:p>
        </p:txBody>
      </p:sp>
      <p:sp>
        <p:nvSpPr>
          <p:cNvPr id="2" name="">
            <a:extLst xmlns:a="http://schemas.openxmlformats.org/drawingml/2006/main">
              <a:ext uri="{FF2B5EF4-FFF2-40B4-BE49-F238E27FC236}">
                <a16:creationId xmlns:a16="http://schemas.microsoft.com/office/drawing/2014/main" id="{DB332306-818B-45CA-8A91-AFF8AF37E86F}"/>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Pilot conditions and success measures</a:t>
            </a:r>
          </a:p>
        </p:txBody>
      </p:sp>
      <p:sp>
        <p:nvSpPr>
          <p:cNvPr id="3" name="">
            <a:extLst xmlns:a="http://schemas.openxmlformats.org/drawingml/2006/main">
              <a:ext uri="{FF2B5EF4-FFF2-40B4-BE49-F238E27FC236}">
                <a16:creationId xmlns:a16="http://schemas.microsoft.com/office/drawing/2014/main" id="{81474192-877D-4DDD-9BC9-366E2D043319}"/>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Baseline first. Agree improvement targets before student rollout.</a:t>
            </a:r>
          </a:p>
        </p:txBody>
      </p:sp>
      <p:sp>
        <p:nvSpPr>
          <p:cNvPr id="4" name="">
            <a:extLst xmlns:a="http://schemas.openxmlformats.org/drawingml/2006/main">
              <a:ext uri="{FF2B5EF4-FFF2-40B4-BE49-F238E27FC236}">
                <a16:creationId xmlns:a16="http://schemas.microsoft.com/office/drawing/2014/main" id="{00BBE0F0-53B5-480D-BE9B-C63863928CB2}"/>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16</a:t>
            </a:r>
          </a:p>
        </p:txBody>
      </p:sp>
      <p:graphicFrame>
        <p:nvGraphicFramePr>
          <p:cNvPr id="11" name=""/>
          <p:cNvGraphicFramePr/>
          <p:nvPr/>
        </p:nvGraphicFramePr>
        <p:xfrm>
          <a:off xmlns:a="http://schemas.openxmlformats.org/drawingml/2006/main" x="533400" y="2428875"/>
          <a:ext xmlns:a="http://schemas.openxmlformats.org/drawingml/2006/main" cx="11125200" cy="3476625"/>
        </p:xfrm>
        <a:graphic xmlns:a="http://schemas.openxmlformats.org/drawingml/2006/main">
          <a:graphicData uri="http://schemas.openxmlformats.org/drawingml/2006/table">
            <a:tbl>
              <a:tblPr/>
              <a:tblGrid>
                <a:gridCol w="5334000"/>
                <a:gridCol w="5791200"/>
              </a:tblGrid>
              <a:tr h="495300">
                <a:tc>
                  <a:txBody>
                    <a:bodyPr/>
                    <a:lstStyle/>
                    <a:p>
                      <a:r>
                        <a:rPr sz="1800" b="1">
                          <a:solidFill>
                            <a:srgbClr val="FFFFFF"/>
                          </a:solidFill>
                          <a:latin typeface="Helvetica Neue"/>
                          <a:ea typeface="Helvetica Neue"/>
                          <a:cs typeface="Helvetica Neue"/>
                        </a:rPr>
                        <a:t>Before launch</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Measure during the pilot</a:t>
                      </a:r>
                    </a:p>
                  </a:txBody>
                  <a:tcPr marL="91440" marR="91440" marT="45720" marB="45720">
                    <a:solidFill>
                      <a:srgbClr val="183449"/>
                    </a:solidFill>
                  </a:tcPr>
                </a:tc>
              </a:tr>
              <a:tr h="596265">
                <a:tc>
                  <a:txBody>
                    <a:bodyPr/>
                    <a:lstStyle/>
                    <a:p>
                      <a:r>
                        <a:rPr sz="1800" b="1">
                          <a:solidFill>
                            <a:srgbClr val="233746"/>
                          </a:solidFill>
                          <a:latin typeface="Helvetica Neue"/>
                          <a:ea typeface="Helvetica Neue"/>
                          <a:cs typeface="Helvetica Neue"/>
                        </a:rPr>
                        <a:t>Named content owner and case-handling staff</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Staff handling minutes per resolved enquiry</a:t>
                      </a:r>
                    </a:p>
                  </a:txBody>
                  <a:tcPr marL="91440" marR="91440" marT="45720" marB="45720">
                    <a:solidFill>
                      <a:srgbClr val="FFFFFF"/>
                    </a:solidFill>
                  </a:tcPr>
                </a:tc>
              </a:tr>
              <a:tr h="596265">
                <a:tc>
                  <a:txBody>
                    <a:bodyPr/>
                    <a:lstStyle/>
                    <a:p>
                      <a:r>
                        <a:rPr sz="1800" b="1">
                          <a:solidFill>
                            <a:srgbClr val="233746"/>
                          </a:solidFill>
                          <a:latin typeface="Helvetica Neue"/>
                          <a:ea typeface="Helvetica Neue"/>
                          <a:cs typeface="Helvetica Neue"/>
                        </a:rPr>
                        <a:t>Approved guidance and a tested answer set</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Accuracy and source relevance on reviewed answers</a:t>
                      </a:r>
                    </a:p>
                  </a:txBody>
                  <a:tcPr marL="91440" marR="91440" marT="45720" marB="45720">
                    <a:solidFill>
                      <a:srgbClr val="EDF3F4"/>
                    </a:solidFill>
                  </a:tcPr>
                </a:tc>
              </a:tr>
              <a:tr h="596265">
                <a:tc>
                  <a:txBody>
                    <a:bodyPr/>
                    <a:lstStyle/>
                    <a:p>
                      <a:r>
                        <a:rPr sz="1800" b="1">
                          <a:solidFill>
                            <a:srgbClr val="233746"/>
                          </a:solidFill>
                          <a:latin typeface="Helvetica Neue"/>
                          <a:ea typeface="Helvetica Neue"/>
                          <a:cs typeface="Helvetica Neue"/>
                        </a:rPr>
                        <a:t>Working handoff and escalation route</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Resolution time and unresolved-case rate</a:t>
                      </a:r>
                    </a:p>
                  </a:txBody>
                  <a:tcPr marL="91440" marR="91440" marT="45720" marB="45720">
                    <a:solidFill>
                      <a:srgbClr val="FFFFFF"/>
                    </a:solidFill>
                  </a:tcPr>
                </a:tc>
              </a:tr>
              <a:tr h="596265">
                <a:tc>
                  <a:txBody>
                    <a:bodyPr/>
                    <a:lstStyle/>
                    <a:p>
                      <a:r>
                        <a:rPr sz="1800" b="1">
                          <a:solidFill>
                            <a:srgbClr val="233746"/>
                          </a:solidFill>
                          <a:latin typeface="Helvetica Neue"/>
                          <a:ea typeface="Helvetica Neue"/>
                          <a:cs typeface="Helvetica Neue"/>
                        </a:rPr>
                        <a:t>Baseline from comparable enquiries</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Repeat contacts and student effort</a:t>
                      </a:r>
                    </a:p>
                  </a:txBody>
                  <a:tcPr marL="91440" marR="91440" marT="45720" marB="45720">
                    <a:solidFill>
                      <a:srgbClr val="EDF3F4"/>
                    </a:solidFill>
                  </a:tcPr>
                </a:tc>
              </a:tr>
              <a:tr h="596265">
                <a:tc>
                  <a:txBody>
                    <a:bodyPr/>
                    <a:lstStyle/>
                    <a:p>
                      <a:r>
                        <a:rPr sz="1800" b="1">
                          <a:solidFill>
                            <a:srgbClr val="233746"/>
                          </a:solidFill>
                          <a:latin typeface="Helvetica Neue"/>
                          <a:ea typeface="Helvetica Neue"/>
                          <a:cs typeface="Helvetica Neue"/>
                        </a:rPr>
                        <a:t>Approved access and data-handling rules</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Access exceptions and inappropriate disclosures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1859016D-8309-4A27-9359-2209508BEB34}"/>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Proceed only if staff can maintain content and accept escalations. Correctness comes before response speed.</a:t>
            </a:r>
          </a:p>
        </p:txBody>
      </p:sp>
    </p:spTree>
    <p:extLst>
      <p:ext uri="{BB962C8B-B14F-4D97-AF65-F5344CB8AC3E}">
        <p14:creationId xmlns:p14="http://schemas.microsoft.com/office/powerpoint/2010/main" val="373537291"/>
      </p:ext>
    </p:extLst>
  </p:cSld>
</p:sld>
</file>

<file path=ppt/slides/slide17.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32C6053-7F72-43B5-8363-1223A6DCC84C}"/>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05  RECOMMENDATION</a:t>
            </a:r>
          </a:p>
        </p:txBody>
      </p:sp>
      <p:sp>
        <p:nvSpPr>
          <p:cNvPr id="2" name="">
            <a:extLst xmlns:a="http://schemas.openxmlformats.org/drawingml/2006/main">
              <a:ext uri="{FF2B5EF4-FFF2-40B4-BE49-F238E27FC236}">
                <a16:creationId xmlns:a16="http://schemas.microsoft.com/office/drawing/2014/main" id="{C42611EB-79B0-44EB-9775-5D5808F4DF03}"/>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A focused pilot with a broader domain vision</a:t>
            </a:r>
          </a:p>
        </p:txBody>
      </p:sp>
      <p:sp>
        <p:nvSpPr>
          <p:cNvPr id="3" name="">
            <a:extLst xmlns:a="http://schemas.openxmlformats.org/drawingml/2006/main">
              <a:ext uri="{FF2B5EF4-FFF2-40B4-BE49-F238E27FC236}">
                <a16:creationId xmlns:a16="http://schemas.microsoft.com/office/drawing/2014/main" id="{DE9116C6-28E9-438A-895C-BB7790A66506}"/>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Start with reliable support. Expand only when evidence justifies the next capability.</a:t>
            </a:r>
          </a:p>
        </p:txBody>
      </p:sp>
      <p:sp>
        <p:nvSpPr>
          <p:cNvPr id="4" name="">
            <a:extLst xmlns:a="http://schemas.openxmlformats.org/drawingml/2006/main">
              <a:ext uri="{FF2B5EF4-FFF2-40B4-BE49-F238E27FC236}">
                <a16:creationId xmlns:a16="http://schemas.microsoft.com/office/drawing/2014/main" id="{8B48BD8A-8AFC-46FB-BFA4-CB3332505B47}"/>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17</a:t>
            </a:r>
          </a:p>
        </p:txBody>
      </p:sp>
      <p:graphicFrame>
        <p:nvGraphicFramePr>
          <p:cNvPr id="12" name=""/>
          <p:cNvGraphicFramePr/>
          <p:nvPr/>
        </p:nvGraphicFramePr>
        <p:xfrm>
          <a:off xmlns:a="http://schemas.openxmlformats.org/drawingml/2006/main" x="533400" y="2428875"/>
          <a:ext xmlns:a="http://schemas.openxmlformats.org/drawingml/2006/main" cx="11125200" cy="2857500"/>
        </p:xfrm>
        <a:graphic xmlns:a="http://schemas.openxmlformats.org/drawingml/2006/main">
          <a:graphicData uri="http://schemas.openxmlformats.org/drawingml/2006/table">
            <a:tbl>
              <a:tblPr/>
              <a:tblGrid>
                <a:gridCol w="1619250"/>
                <a:gridCol w="5095875"/>
                <a:gridCol w="4410075"/>
              </a:tblGrid>
              <a:tr h="495300">
                <a:tc>
                  <a:txBody>
                    <a:bodyPr/>
                    <a:lstStyle/>
                    <a:p>
                      <a:r>
                        <a:rPr sz="1800" b="1">
                          <a:solidFill>
                            <a:srgbClr val="FFFFFF"/>
                          </a:solidFill>
                          <a:latin typeface="Helvetica Neue"/>
                          <a:ea typeface="Helvetica Neue"/>
                          <a:cs typeface="Helvetica Neue"/>
                        </a:rPr>
                        <a:t>Stage</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Capability</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Expansion condition</a:t>
                      </a:r>
                    </a:p>
                  </a:txBody>
                  <a:tcPr marL="91440" marR="91440" marT="45720" marB="45720">
                    <a:solidFill>
                      <a:srgbClr val="183449"/>
                    </a:solidFill>
                  </a:tcPr>
                </a:tc>
              </a:tr>
              <a:tr h="787400">
                <a:tc>
                  <a:txBody>
                    <a:bodyPr/>
                    <a:lstStyle/>
                    <a:p>
                      <a:r>
                        <a:rPr sz="1800" b="1">
                          <a:solidFill>
                            <a:srgbClr val="233746"/>
                          </a:solidFill>
                          <a:latin typeface="Helvetica Neue"/>
                          <a:ea typeface="Helvetica Neue"/>
                          <a:cs typeface="Helvetica Neue"/>
                        </a:rPr>
                        <a:t>1  Reliable guidance</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Sourced answers for one defined CSE process</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Correct answers and maintainable content</a:t>
                      </a:r>
                    </a:p>
                  </a:txBody>
                  <a:tcPr marL="91440" marR="91440" marT="45720" marB="45720">
                    <a:solidFill>
                      <a:srgbClr val="FFFFFF"/>
                    </a:solidFill>
                  </a:tcPr>
                </a:tc>
              </a:tr>
              <a:tr h="787400">
                <a:tc>
                  <a:txBody>
                    <a:bodyPr/>
                    <a:lstStyle/>
                    <a:p>
                      <a:r>
                        <a:rPr sz="1800" b="1">
                          <a:solidFill>
                            <a:srgbClr val="233746"/>
                          </a:solidFill>
                          <a:latin typeface="Helvetica Neue"/>
                          <a:ea typeface="Helvetica Neue"/>
                          <a:cs typeface="Helvetica Neue"/>
                        </a:rPr>
                        <a:t>2  Guided resolution</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Checklists, staff routing and case status</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Fewer repeat contacts without extra staff burden</a:t>
                      </a:r>
                    </a:p>
                  </a:txBody>
                  <a:tcPr marL="91440" marR="91440" marT="45720" marB="45720">
                    <a:solidFill>
                      <a:srgbClr val="EDF3F4"/>
                    </a:solidFill>
                  </a:tcPr>
                </a:tc>
              </a:tr>
              <a:tr h="787400">
                <a:tc>
                  <a:txBody>
                    <a:bodyPr/>
                    <a:lstStyle/>
                    <a:p>
                      <a:r>
                        <a:rPr sz="1800" b="1">
                          <a:solidFill>
                            <a:srgbClr val="233746"/>
                          </a:solidFill>
                          <a:latin typeface="Helvetica Neue"/>
                          <a:ea typeface="Helvetica Neue"/>
                          <a:cs typeface="Helvetica Neue"/>
                        </a:rPr>
                        <a:t>3  Wider support</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Validated BMS workflows and milestone reminders</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Reliable data, permissions and demonstrated demand</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E305CDB4-61F1-4F11-B2E0-7EB0251CDA3F}"/>
              </a:ext>
            </a:extLst>
          </p:cNvPr>
          <p:cNvSpPr>
            <a:spLocks xmlns:a="http://schemas.openxmlformats.org/drawingml/2006/main" noGrp="1"/>
          </p:cNvSpPr>
          <p:nvPr/>
        </p:nvSpPr>
        <p:spPr>
          <a:xfrm xmlns:a="http://schemas.openxmlformats.org/drawingml/2006/main">
            <a:off x="533400" y="5619750"/>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878A"/>
                </a:solidFill>
                <a:latin typeface="Helvetica Neue"/>
                <a:ea typeface="Helvetica Neue"/>
                <a:cs typeface="Helvetica Neue"/>
              </a:defRPr>
            </a:pPr>
            <a:r>
              <a:rPr sz="2175" b="1">
                <a:solidFill>
                  <a:srgbClr val="16878A"/>
                </a:solidFill>
                <a:latin typeface="Helvetica Neue"/>
                <a:ea typeface="Helvetica Neue"/>
                <a:cs typeface="Helvetica Neue"/>
              </a:rPr>
              <a:t>Decision proposed: validate ownership and run a bounded support pilot.</a:t>
            </a:r>
          </a:p>
        </p:txBody>
      </p:sp>
      <p:sp>
        <p:nvSpPr>
          <p:cNvPr id="7" name="">
            <a:extLst xmlns:a="http://schemas.openxmlformats.org/drawingml/2006/main">
              <a:ext uri="{FF2B5EF4-FFF2-40B4-BE49-F238E27FC236}">
                <a16:creationId xmlns:a16="http://schemas.microsoft.com/office/drawing/2014/main" id="{0D85C9C2-430A-46D2-B26B-9E6C6960818F}"/>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Customer Experience research identifies the needs. Pilot evidence must determine whether to expand.</a:t>
            </a:r>
          </a:p>
        </p:txBody>
      </p:sp>
    </p:spTree>
    <p:extLst>
      <p:ext uri="{BB962C8B-B14F-4D97-AF65-F5344CB8AC3E}">
        <p14:creationId xmlns:p14="http://schemas.microsoft.com/office/powerpoint/2010/main" val="11605007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2026-09-23T06:57:51.8340000Z</dcterms:created>
  <dcterms:modified xsi:type="dcterms:W3CDTF">2026-09-23T06:57:51.8340000Z</dcterms:modified>
</coreProperties>
</file>