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3b8671aaaf43ec" /><Relationship Type="http://schemas.openxmlformats.org/officeDocument/2006/relationships/extended-properties" Target="/docProps/app.xml" Id="R12e51e89d6e448e0" /><Relationship Type="http://schemas.openxmlformats.org/officeDocument/2006/relationships/officeDocument" Target="/ppt/presentation.xml" Id="R5ff64001788a45ea" /></Relationships>
</file>

<file path=ppt/presentation.xml><?xml version="1.0" encoding="utf-8"?>
<p:presentation xmlns:p="http://schemas.openxmlformats.org/presentationml/2006/main">
  <p:sldMasterIdLst>
    <p:sldMasterId xmlns:r="http://schemas.openxmlformats.org/officeDocument/2006/relationships" id="2147483648" r:id="R298d28dc03fd45b2"/>
  </p:sldMasterIdLst>
  <p:notesMasterIdLst>
    <p:notesMasterId xmlns:r="http://schemas.openxmlformats.org/officeDocument/2006/relationships" r:id="R5aa1e37882d94889"/>
  </p:notesMasterIdLst>
  <p:sldIdLst>
    <p:sldId xmlns:r="http://schemas.openxmlformats.org/officeDocument/2006/relationships" id="256" r:id="R9bf8a2e525ef474d"/>
    <p:sldId xmlns:r="http://schemas.openxmlformats.org/officeDocument/2006/relationships" id="257" r:id="Redc0026b8b034d3f"/>
    <p:sldId xmlns:r="http://schemas.openxmlformats.org/officeDocument/2006/relationships" id="258" r:id="R98dd3514731e46ce"/>
    <p:sldId xmlns:r="http://schemas.openxmlformats.org/officeDocument/2006/relationships" id="259" r:id="R82fb35a130974c7e"/>
    <p:sldId xmlns:r="http://schemas.openxmlformats.org/officeDocument/2006/relationships" id="260" r:id="R1e7054bd4f9b402a"/>
    <p:sldId xmlns:r="http://schemas.openxmlformats.org/officeDocument/2006/relationships" id="261" r:id="R215c0d7493594bd3"/>
    <p:sldId xmlns:r="http://schemas.openxmlformats.org/officeDocument/2006/relationships" id="262" r:id="R2cb56091279546d6"/>
    <p:sldId xmlns:r="http://schemas.openxmlformats.org/officeDocument/2006/relationships" id="263" r:id="R4b186c22865142c8"/>
    <p:sldId xmlns:r="http://schemas.openxmlformats.org/officeDocument/2006/relationships" id="264" r:id="R106e7b3048214157"/>
    <p:sldId xmlns:r="http://schemas.openxmlformats.org/officeDocument/2006/relationships" id="265" r:id="Rff19726db0c045d1"/>
    <p:sldId xmlns:r="http://schemas.openxmlformats.org/officeDocument/2006/relationships" id="266" r:id="Rfb461a56c808426a"/>
    <p:sldId xmlns:r="http://schemas.openxmlformats.org/officeDocument/2006/relationships" id="267" r:id="R3d13deba8d7b4b7d"/>
    <p:sldId xmlns:r="http://schemas.openxmlformats.org/officeDocument/2006/relationships" id="268" r:id="Ref8a652e83d54150"/>
    <p:sldId xmlns:r="http://schemas.openxmlformats.org/officeDocument/2006/relationships" id="269" r:id="Rcd2dc82e4d074150"/>
    <p:sldId xmlns:r="http://schemas.openxmlformats.org/officeDocument/2006/relationships" id="270" r:id="R569f6bb0e32a4389"/>
    <p:sldId xmlns:r="http://schemas.openxmlformats.org/officeDocument/2006/relationships" id="271" r:id="R82e91650abe949c3"/>
    <p:sldId xmlns:r="http://schemas.openxmlformats.org/officeDocument/2006/relationships" id="272" r:id="Rdaf059ea1c024309"/>
    <p:sldId xmlns:r="http://schemas.openxmlformats.org/officeDocument/2006/relationships" id="273" r:id="Rc8552731209e4921"/>
    <p:sldId xmlns:r="http://schemas.openxmlformats.org/officeDocument/2006/relationships" id="274" r:id="R80fa69baf23e41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d265b46535446d" /><Relationship Type="http://schemas.openxmlformats.org/officeDocument/2006/relationships/slideMaster" Target="/ppt/slideMasters/slideMaster1.xml" Id="R298d28dc03fd45b2" /><Relationship Type="http://schemas.openxmlformats.org/officeDocument/2006/relationships/notesMaster" Target="/ppt/notesMasters/notesMaster1.xml" Id="R5aa1e37882d94889" /><Relationship Type="http://schemas.openxmlformats.org/officeDocument/2006/relationships/presProps" Target="/ppt/presProps.xml" Id="Rde7d7fcfb4b94295" /><Relationship Type="http://schemas.openxmlformats.org/officeDocument/2006/relationships/tableStyles" Target="/ppt/tableStyles.xml" Id="R0dba345514aa43cb" /><Relationship Type="http://schemas.openxmlformats.org/officeDocument/2006/relationships/slide" Target="/ppt/slides/slide1.xml" Id="R9bf8a2e525ef474d" /><Relationship Type="http://schemas.openxmlformats.org/officeDocument/2006/relationships/slide" Target="/ppt/slides/slide2.xml" Id="Redc0026b8b034d3f" /><Relationship Type="http://schemas.openxmlformats.org/officeDocument/2006/relationships/slide" Target="/ppt/slides/slide3.xml" Id="R98dd3514731e46ce" /><Relationship Type="http://schemas.openxmlformats.org/officeDocument/2006/relationships/slide" Target="/ppt/slides/slide4.xml" Id="R82fb35a130974c7e" /><Relationship Type="http://schemas.openxmlformats.org/officeDocument/2006/relationships/slide" Target="/ppt/slides/slide5.xml" Id="R1e7054bd4f9b402a" /><Relationship Type="http://schemas.openxmlformats.org/officeDocument/2006/relationships/slide" Target="/ppt/slides/slide6.xml" Id="R215c0d7493594bd3" /><Relationship Type="http://schemas.openxmlformats.org/officeDocument/2006/relationships/slide" Target="/ppt/slides/slide7.xml" Id="R2cb56091279546d6" /><Relationship Type="http://schemas.openxmlformats.org/officeDocument/2006/relationships/slide" Target="/ppt/slides/slide8.xml" Id="R4b186c22865142c8" /><Relationship Type="http://schemas.openxmlformats.org/officeDocument/2006/relationships/slide" Target="/ppt/slides/slide9.xml" Id="R106e7b3048214157" /><Relationship Type="http://schemas.openxmlformats.org/officeDocument/2006/relationships/slide" Target="/ppt/slides/slide10.xml" Id="Rff19726db0c045d1" /><Relationship Type="http://schemas.openxmlformats.org/officeDocument/2006/relationships/slide" Target="/ppt/slides/slide11.xml" Id="Rfb461a56c808426a" /><Relationship Type="http://schemas.openxmlformats.org/officeDocument/2006/relationships/slide" Target="/ppt/slides/slide12.xml" Id="R3d13deba8d7b4b7d" /><Relationship Type="http://schemas.openxmlformats.org/officeDocument/2006/relationships/slide" Target="/ppt/slides/slide13.xml" Id="Ref8a652e83d54150" /><Relationship Type="http://schemas.openxmlformats.org/officeDocument/2006/relationships/slide" Target="/ppt/slides/slide14.xml" Id="Rcd2dc82e4d074150" /><Relationship Type="http://schemas.openxmlformats.org/officeDocument/2006/relationships/slide" Target="/ppt/slides/slide15.xml" Id="R569f6bb0e32a4389" /><Relationship Type="http://schemas.openxmlformats.org/officeDocument/2006/relationships/slide" Target="/ppt/slides/slide16.xml" Id="R82e91650abe949c3" /><Relationship Type="http://schemas.openxmlformats.org/officeDocument/2006/relationships/slide" Target="/ppt/slides/slide17.xml" Id="Rdaf059ea1c024309" /><Relationship Type="http://schemas.openxmlformats.org/officeDocument/2006/relationships/slide" Target="/ppt/slides/slide18.xml" Id="Rc8552731209e4921" /><Relationship Type="http://schemas.openxmlformats.org/officeDocument/2006/relationships/slide" Target="/ppt/slides/slide19.xml" Id="R80fa69baf23e41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dcfa6306b040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d50053b18c4a0a" /><Relationship Type="http://schemas.openxmlformats.org/officeDocument/2006/relationships/notesMaster" Target="/ppt/notesMasters/notesMaster1.xml" Id="Rbfb72becd74640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372aefa1dc43a9" /><Relationship Type="http://schemas.openxmlformats.org/officeDocument/2006/relationships/notesMaster" Target="/ppt/notesMasters/notesMaster1.xml" Id="Rd92cddaf1e0741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d7aa208fc14deb" /><Relationship Type="http://schemas.openxmlformats.org/officeDocument/2006/relationships/notesMaster" Target="/ppt/notesMasters/notesMaster1.xml" Id="R7709e725eb3245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d4143252424729" /><Relationship Type="http://schemas.openxmlformats.org/officeDocument/2006/relationships/notesMaster" Target="/ppt/notesMasters/notesMaster1.xml" Id="R14258e28520b4c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44db857adb4e15" /><Relationship Type="http://schemas.openxmlformats.org/officeDocument/2006/relationships/notesMaster" Target="/ppt/notesMasters/notesMaster1.xml" Id="Rb1a50f4968ef41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c3d6d808604a4e" /><Relationship Type="http://schemas.openxmlformats.org/officeDocument/2006/relationships/notesMaster" Target="/ppt/notesMasters/notesMaster1.xml" Id="R4c5fd278ffdf49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8f5822c92c41ac" /><Relationship Type="http://schemas.openxmlformats.org/officeDocument/2006/relationships/notesMaster" Target="/ppt/notesMasters/notesMaster1.xml" Id="R779c1170b43e41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9c12d577824ba1" /><Relationship Type="http://schemas.openxmlformats.org/officeDocument/2006/relationships/notesMaster" Target="/ppt/notesMasters/notesMaster1.xml" Id="R04a334f224fb49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862a887bc9487b" /><Relationship Type="http://schemas.openxmlformats.org/officeDocument/2006/relationships/notesMaster" Target="/ppt/notesMasters/notesMaster1.xml" Id="Ra9f15706ef8e4e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a8fc49fcbc4e6c" /><Relationship Type="http://schemas.openxmlformats.org/officeDocument/2006/relationships/notesMaster" Target="/ppt/notesMasters/notesMaster1.xml" Id="Rd3674d43e50849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9972a197d74d3a" /><Relationship Type="http://schemas.openxmlformats.org/officeDocument/2006/relationships/notesMaster" Target="/ppt/notesMasters/notesMaster1.xml" Id="R76f3eef78fd74a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d5b9abbde94761" /><Relationship Type="http://schemas.openxmlformats.org/officeDocument/2006/relationships/notesMaster" Target="/ppt/notesMasters/notesMaster1.xml" Id="Rc95ce616a6b54d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6bfdf701924ca0" /><Relationship Type="http://schemas.openxmlformats.org/officeDocument/2006/relationships/notesMaster" Target="/ppt/notesMasters/notesMaster1.xml" Id="R2067739dff8247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1c81bf77814a0e" /><Relationship Type="http://schemas.openxmlformats.org/officeDocument/2006/relationships/notesMaster" Target="/ppt/notesMasters/notesMaster1.xml" Id="R30c07f70ff0e42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b3b864fbdc4fd2" /><Relationship Type="http://schemas.openxmlformats.org/officeDocument/2006/relationships/notesMaster" Target="/ppt/notesMasters/notesMaster1.xml" Id="R10e8c8a1285c42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3c73b744b24434" /><Relationship Type="http://schemas.openxmlformats.org/officeDocument/2006/relationships/notesMaster" Target="/ppt/notesMasters/notesMaster1.xml" Id="Re5bdc091bb8545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86c707bb704877" /><Relationship Type="http://schemas.openxmlformats.org/officeDocument/2006/relationships/notesMaster" Target="/ppt/notesMasters/notesMaster1.xml" Id="R0481c0d415014e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25fab466fb47d8" /><Relationship Type="http://schemas.openxmlformats.org/officeDocument/2006/relationships/notesMaster" Target="/ppt/notesMasters/notesMaster1.xml" Id="R11099e9732c94f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23bc85ad44408b" /><Relationship Type="http://schemas.openxmlformats.org/officeDocument/2006/relationships/notesMaster" Target="/ppt/notesMasters/notesMaster1.xml" Id="R5d83483ee08b4f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Full sample reported by the team is CSE 15 students + 5 faculty; material reviewed covers 10 students/alumni and 1 faculty member. The two series are overlapping coverage, not additive samples. BMS survey contains 8 responses; aggregate charts reviewed. No cross-department prevalence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Huy Hoàng Q2/Q3 recalls 4–5 LMS login attempts and 4–5 day response. Đạt describes missing a graduation notice, faculty intervention and weekly supervision. These are two respondent accounts. Do not interpret one as a frequency out of all CSE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report Figures 2–3, visually checked. Heat 7/8=87.5%; workload6/8=75%; rushing5/8=62.5%; insufficient practice4/8=50%; terminology2/8=25%. Different questions, no combined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Figure1 rating counts [0,1,3,2,2] for ratings1–5. Sum8. Mean29/8=3.625, shown3.63. Four of eight rate4 or5. Source narrative approximately2/5 is incorrect. No causal connection is claimed between satisfaction score and heat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Figure5 stress counts for1–10:[1,0,1,0,1,0,3,2,0,0]. Five respondents rate7/8. Fig4 hands-on preference8/8; Fig6 family tuition pressure7/8; Fig7 zero select advisor contact as coping, not proof service unavailable. No diagnosis or fixed learning style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CSE student interviews, Huy Hoàng; BMS Customer Experience module BMS report §§3.1.1–3.1.2 and 3.3. BMS borrowing and afternoon technical guidance are report-level qualitative findings, not a supplied transcript. No financial, retention or productivity effect is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The operational domains derive from the module research. Coverage is uneven. Grouping does not establish equal evidence across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Analytical grouping, not a value ranking. Support resolves information needs and routes requests. Progression owns formal milestone checks and exceptions. Practical operations coordinates access and maintenance. Avoid counting the same benefit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student interviews document mixed access and responsiveness. BMS module report describes fragmented feedback; BMS enquiry volume is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survey Figure 3: 4/8 insufficient practice time. Figure 2: 7/8 heat-related effects. CSE interviews describe computing constraints. Scheduling does not fix physical scarcity.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interview evidence spans registration, thesis and graduation. BMS applicability needs validation. These are linked administrative milestones, not an automated degree-awarding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Analyst ratings relative to the three broader domains. The BMS report describes roles but not staffing coverage; CSE shows academic expertise. No approved implementation owner or budget has been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student interviews and BMS module report §§2.4–2.5 and 5.3. Proposed lab systems are not current capability. Data ownership, permissions and system integrations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Customer Experience module research informs the directional judgments. Value 1=limited potential, 5=strong outcome potential. Feasibility 1=major unresolved dependencies, 5=few. A=(4,4), B=(2,4), C=(2,5). Plot coordinates are judgments, not measurements. A drops to feasibility 2 if no content owner or staff capacity is secured.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Illustrative scores, not empirical findings. Value ratings reflect breadth and seriousness of possible outcomes; they do not quantify benefits. Strategic relevance and urgency are both 4 for all candidates because no comparative leadership preference or deadline evidence is available. Learning is 5 for support due to potentially reusable knowledge ownership and routing, 4 otherwise. A=4*.30+4*.25+4*.20+4*.15+5*.10=4.10. B=4*.30+2*.25+4*.20+4*.15+4*.10=3.50. C=5*.30+2*.25+4*.20+4*.15+4*.10=3.80. If A feasibility is 2 instead of 4, A=3.60 and C becomes first at 3.80.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service, not a deployed product. Research supports fragmented guidance and uneven responsiveness. AI answers should retrieve from approved institutional content with cohort context and sources. Requests need staff ownership. Reminder functionality is conditional on validated deadlines; no automatic eligibility decisions or new integrations are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Illustrative proposed interaction based on CSE registration uncertainty. Not a real product screenshot, tested workflow or quotation from a specific student. No invented VNUK procedure or deadline is supplied. Without live portal integration, the AI cannot confirm registration and must explicitly say so. Student consent/access rules govern collection of case details. Staff verify authoritative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pilot evaluation, not existing results or guaranteed savings. Compare comparable registration periods or comparable enquiry types. Assess all sampled answers against staff-approved references. Track harmful/wrong cohort answers and staff handling time. No numeric improvement targets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sequencing for future roadmap discussion, not approved dates or funding. Stage 1 uses approved guidance; Stage 2 tests structured case resolution; Stage 3 requires verified personal records, access controls and evidence of service benefit. No automated eligibility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933c9d855c48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615c9c9adc459a" /><Relationship Type="http://schemas.openxmlformats.org/officeDocument/2006/relationships/slideLayout" Target="/ppt/slideLayouts/slideLayout1.xml" Id="R81cedd1a8bb94f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cedd1a8bb94f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3a2b9f4ebe44e1" /><Relationship Type="http://schemas.openxmlformats.org/officeDocument/2006/relationships/chart" Target="/ppt/slides/charts/chart1.xml" Id="R72fb647313ed43d2" /><Relationship Type="http://schemas.openxmlformats.org/officeDocument/2006/relationships/notesSlide" Target="/ppt/notesSlides/notesSlide1.xml" Id="R0234df6bcd9e46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bf6de402674d8d" /><Relationship Type="http://schemas.openxmlformats.org/officeDocument/2006/relationships/notesSlide" Target="/ppt/notesSlides/notesSlide2.xml" Id="R13b66df870e446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b427a2a95d441c" /><Relationship Type="http://schemas.openxmlformats.org/officeDocument/2006/relationships/chart" Target="/ppt/slides/charts/chart2.xml" Id="R7c3729268d8d4c25" /><Relationship Type="http://schemas.openxmlformats.org/officeDocument/2006/relationships/notesSlide" Target="/ppt/notesSlides/notesSlide3.xml" Id="Ree942d3a30fe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e93ab67843435a" /><Relationship Type="http://schemas.openxmlformats.org/officeDocument/2006/relationships/chart" Target="/ppt/slides/charts/chart3.xml" Id="R13890ec0495d46cc" /><Relationship Type="http://schemas.openxmlformats.org/officeDocument/2006/relationships/notesSlide" Target="/ppt/notesSlides/notesSlide4.xml" Id="R22c3e1698b594d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d65c5c243941fe" /><Relationship Type="http://schemas.openxmlformats.org/officeDocument/2006/relationships/chart" Target="/ppt/slides/charts/chart4.xml" Id="Rdb430a7c928141aa" /><Relationship Type="http://schemas.openxmlformats.org/officeDocument/2006/relationships/notesSlide" Target="/ppt/notesSlides/notesSlide5.xml" Id="R7c72e09b0da74c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cb30b9577b4ca1" /><Relationship Type="http://schemas.openxmlformats.org/officeDocument/2006/relationships/notesSlide" Target="/ppt/notesSlides/notesSlide6.xml" Id="R2c35b657af1540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c92526b84e45a8" /><Relationship Type="http://schemas.openxmlformats.org/officeDocument/2006/relationships/notesSlide" Target="/ppt/notesSlides/notesSlide7.xml" Id="R595ce73eee674d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a1bed19db94455" /><Relationship Type="http://schemas.openxmlformats.org/officeDocument/2006/relationships/notesSlide" Target="/ppt/notesSlides/notesSlide8.xml" Id="R585a7d37a4ad4d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6d57ed86b9486c" /><Relationship Type="http://schemas.openxmlformats.org/officeDocument/2006/relationships/notesSlide" Target="/ppt/notesSlides/notesSlide9.xml" Id="R5dae6d22c02048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4e1e702da64e9d" /><Relationship Type="http://schemas.openxmlformats.org/officeDocument/2006/relationships/notesSlide" Target="/ppt/notesSlides/notesSlide10.xml" Id="R217ea5909b7940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55996a90f042b3" /><Relationship Type="http://schemas.openxmlformats.org/officeDocument/2006/relationships/notesSlide" Target="/ppt/notesSlides/notesSlide11.xml" Id="R4072617e5d784f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61ce809ea645c7" /><Relationship Type="http://schemas.openxmlformats.org/officeDocument/2006/relationships/notesSlide" Target="/ppt/notesSlides/notesSlide12.xml" Id="R2f1f25a9201943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4cc9edbfec4757" /><Relationship Type="http://schemas.openxmlformats.org/officeDocument/2006/relationships/notesSlide" Target="/ppt/notesSlides/notesSlide13.xml" Id="R624e8101726240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54c1dc648847f3" /><Relationship Type="http://schemas.openxmlformats.org/officeDocument/2006/relationships/chart" Target="/ppt/slides/charts/chart5.xml" Id="R0ec91f9f37794e08" /><Relationship Type="http://schemas.openxmlformats.org/officeDocument/2006/relationships/notesSlide" Target="/ppt/notesSlides/notesSlide14.xml" Id="R1a9fb35352dc48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ba107be0f524c50" /><Relationship Type="http://schemas.openxmlformats.org/officeDocument/2006/relationships/notesSlide" Target="/ppt/notesSlides/notesSlide15.xml" Id="R19956af345ca43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742849cdb574729" /><Relationship Type="http://schemas.openxmlformats.org/officeDocument/2006/relationships/notesSlide" Target="/ppt/notesSlides/notesSlide16.xml" Id="R3664cd6fb7a440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665fb5273dc4427" /><Relationship Type="http://schemas.openxmlformats.org/officeDocument/2006/relationships/notesSlide" Target="/ppt/notesSlides/notesSlide17.xml" Id="R19ddb3ce75b54f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66475a027340d6" /><Relationship Type="http://schemas.openxmlformats.org/officeDocument/2006/relationships/notesSlide" Target="/ppt/notesSlides/notesSlide18.xml" Id="R33f1965684b14c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f06e8f22354403e" /><Relationship Type="http://schemas.openxmlformats.org/officeDocument/2006/relationships/notesSlide" Target="/ppt/notesSlides/notesSlide19.xml" Id="Re12046439d2448c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Reported full study</c:v>
          </c:tx>
          <c:spPr>
            <a:solidFill xmlns:a="http://schemas.openxmlformats.org/drawingml/2006/main">
              <a:srgbClr val="183449"/>
            </a:solidFill>
          </c:spPr>
          <c:cat>
            <c:strRef>
              <c:f>'Chart Data'!$A$2:$A$3</c:f>
              <c:strCache>
                <c:ptCount val="2"/>
                <c:pt idx="0">
                  <c:v>Students / alumni</c:v>
                </c:pt>
                <c:pt idx="1">
                  <c:v>Faculty</c:v>
                </c:pt>
              </c:strCache>
            </c:strRef>
          </c:cat>
          <c:val>
            <c:numRef>
              <c:f>'Chart Data'!$B$2:$B$3</c:f>
              <c:numCache>
                <c:formatCode>0</c:formatCode>
                <c:ptCount val="2"/>
                <c:pt idx="0">
                  <c:v>15</c:v>
                </c:pt>
                <c:pt idx="1">
                  <c:v>5</c:v>
                </c:pt>
              </c:numCache>
            </c:numRef>
          </c:val>
        </c:ser>
        <c:ser>
          <c:idx val="1"/>
          <c:order val="1"/>
          <c:tx>
            <c:v>Material reviewed</c:v>
          </c:tx>
          <c:spPr>
            <a:solidFill xmlns:a="http://schemas.openxmlformats.org/drawingml/2006/main">
              <a:srgbClr val="16878A"/>
            </a:solidFill>
          </c:spPr>
          <c:cat>
            <c:strRef>
              <c:f>'Chart Data'!$C$2:$C$3</c:f>
              <c:strCache>
                <c:ptCount val="2"/>
                <c:pt idx="0">
                  <c:v>Students / alumni</c:v>
                </c:pt>
                <c:pt idx="1">
                  <c:v>Faculty</c:v>
                </c:pt>
              </c:strCache>
            </c:strRef>
          </c:cat>
          <c:val>
            <c:numRef>
              <c:f>'Chart Data'!$D$2:$D$3</c:f>
              <c:numCache>
                <c:formatCode>0</c:formatCode>
                <c:ptCount val="2"/>
                <c:pt idx="0">
                  <c:v>10</c:v>
                </c:pt>
                <c:pt idx="1">
                  <c:v>1</c:v>
                </c:pt>
              </c:numCache>
            </c:numRef>
          </c:val>
        </c:ser>
        <c:dLbls>
          <c:txPr>
            <a:bodyPr xmlns:a="http://schemas.openxmlformats.org/drawingml/2006/main" anchorCtr="1"/>
            <a:lstStyle xmlns:a="http://schemas.openxmlformats.org/drawingml/2006/main"/>
            <a:p xmlns:a="http://schemas.openxmlformats.org/drawingml/2006/main">
              <a:pPr>
                <a:defRPr sz="202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Selected (out of 8)</c:v>
          </c:tx>
          <c:spPr>
            <a:solidFill xmlns:a="http://schemas.openxmlformats.org/drawingml/2006/main">
              <a:srgbClr val="16878A"/>
            </a:solidFill>
          </c:spPr>
          <c:cat>
            <c:strRef>
              <c:f>'Chart Data'!$A$2:$A$6</c:f>
              <c:strCache>
                <c:ptCount val="5"/>
                <c:pt idx="0">
                  <c:v>Specialist English terminology</c:v>
                </c:pt>
                <c:pt idx="1">
                  <c:v>Insufficient practical time</c:v>
                </c:pt>
                <c:pt idx="2">
                  <c:v>Rushing to leave the hot lab</c:v>
                </c:pt>
                <c:pt idx="3">
                  <c:v>Heavy academic workload</c:v>
                </c:pt>
                <c:pt idx="4">
                  <c:v>Heat-related fatigue / productivity</c:v>
                </c:pt>
              </c:strCache>
            </c:strRef>
          </c:cat>
          <c:val>
            <c:numRef>
              <c:f>'Chart Data'!$B$2:$B$6</c:f>
              <c:numCache>
                <c:formatCode>General</c:formatCode>
                <c:ptCount val="5"/>
                <c:pt idx="0">
                  <c:v>2</c:v>
                </c:pt>
                <c:pt idx="1">
                  <c:v>4</c:v>
                </c:pt>
                <c:pt idx="2">
                  <c:v>5</c:v>
                </c:pt>
                <c:pt idx="3">
                  <c:v>6</c:v>
                </c:pt>
                <c:pt idx="4">
                  <c:v>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Respondents</c:v>
          </c:tx>
          <c:spPr>
            <a:solidFill xmlns:a="http://schemas.openxmlformats.org/drawingml/2006/main">
              <a:srgbClr val="16878A"/>
            </a:solidFill>
          </c:spPr>
          <c:cat>
            <c:numRef>
              <c:f>'Chart Data'!$A$2:$A$6</c:f>
              <c:numCache>
                <c:formatCode>General</c:formatCode>
                <c:ptCount val="5"/>
                <c:pt idx="0">
                  <c:v>1</c:v>
                </c:pt>
                <c:pt idx="1">
                  <c:v>2</c:v>
                </c:pt>
                <c:pt idx="2">
                  <c:v>3</c:v>
                </c:pt>
                <c:pt idx="3">
                  <c:v>4</c:v>
                </c:pt>
                <c:pt idx="4">
                  <c:v>5</c:v>
                </c:pt>
              </c:numCache>
            </c:numRef>
          </c:cat>
          <c:val>
            <c:numRef>
              <c:f>'Chart Data'!$B$2:$B$6</c:f>
              <c:numCache>
                <c:formatCode>0</c:formatCode>
                <c:ptCount val="5"/>
                <c:pt idx="0">
                  <c:v>0</c:v>
                </c:pt>
                <c:pt idx="1">
                  <c:v>1</c:v>
                </c:pt>
                <c:pt idx="2">
                  <c:v>3</c:v>
                </c:pt>
                <c:pt idx="3">
                  <c:v>2</c:v>
                </c:pt>
                <c:pt idx="4">
                  <c:v>2</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Satisfaction rating (1–5)</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4"/>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Respondents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majorUnit val="1"/>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Respondents</c:v>
          </c:tx>
          <c:spPr>
            <a:solidFill xmlns:a="http://schemas.openxmlformats.org/drawingml/2006/main">
              <a:srgbClr val="16878A"/>
            </a:solidFill>
          </c:spP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1</c:v>
                </c:pt>
                <c:pt idx="1">
                  <c:v>0</c:v>
                </c:pt>
                <c:pt idx="2">
                  <c:v>1</c:v>
                </c:pt>
                <c:pt idx="3">
                  <c:v>0</c:v>
                </c:pt>
                <c:pt idx="4">
                  <c:v>1</c:v>
                </c:pt>
                <c:pt idx="5">
                  <c:v>0</c:v>
                </c:pt>
                <c:pt idx="6">
                  <c:v>3</c:v>
                </c:pt>
                <c:pt idx="7">
                  <c:v>2</c:v>
                </c:pt>
                <c:pt idx="8">
                  <c:v>0</c:v>
                </c:pt>
                <c:pt idx="9">
                  <c:v>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Self-reported stress (1–10)</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4"/>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Respondents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majorUnit val="1"/>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A  Student support</c:v>
          </c:tx>
          <c:spPr>
            <a:solidFill xmlns:a="http://schemas.openxmlformats.org/drawingml/2006/main">
              <a:srgbClr val="16878A"/>
            </a:solidFill>
          </c:spPr>
          <c:marker>
            <c:symbol val="circle"/>
            <c:size val="15"/>
          </c:marker>
          <c:xVal>
            <c:numRef>
              <c:f>'Chart Data'!$A$2:$A$2</c:f>
              <c:numCache>
                <c:formatCode>General</c:formatCode>
                <c:ptCount val="1"/>
                <c:pt idx="0">
                  <c:v>4</c:v>
                </c:pt>
              </c:numCache>
            </c:numRef>
          </c:xVal>
          <c:yVal>
            <c:numRef>
              <c:f>'Chart Data'!$B$2:$B$2</c:f>
              <c:numCache>
                <c:formatCode>General</c:formatCode>
                <c:ptCount val="1"/>
                <c:pt idx="0">
                  <c:v>4</c:v>
                </c:pt>
              </c:numCache>
            </c:numRef>
          </c:yVal>
        </c:ser>
        <c:ser>
          <c:idx val="1"/>
          <c:order val="1"/>
          <c:tx>
            <c:v>B  Practical learning</c:v>
          </c:tx>
          <c:spPr>
            <a:solidFill xmlns:a="http://schemas.openxmlformats.org/drawingml/2006/main">
              <a:srgbClr val="D98D35"/>
            </a:solidFill>
          </c:spPr>
          <c:marker>
            <c:symbol val="square"/>
            <c:size val="15"/>
          </c:marker>
          <c:xVal>
            <c:numRef>
              <c:f>'Chart Data'!$C$2:$C$2</c:f>
              <c:numCache>
                <c:formatCode>General</c:formatCode>
                <c:ptCount val="1"/>
                <c:pt idx="0">
                  <c:v>2</c:v>
                </c:pt>
              </c:numCache>
            </c:numRef>
          </c:xVal>
          <c:yVal>
            <c:numRef>
              <c:f>'Chart Data'!$D$2:$D$2</c:f>
              <c:numCache>
                <c:formatCode>General</c:formatCode>
                <c:ptCount val="1"/>
                <c:pt idx="0">
                  <c:v>4</c:v>
                </c:pt>
              </c:numCache>
            </c:numRef>
          </c:yVal>
        </c:ser>
        <c:ser>
          <c:idx val="2"/>
          <c:order val="2"/>
          <c:tx>
            <c:v>C  Progression</c:v>
          </c:tx>
          <c:spPr>
            <a:solidFill xmlns:a="http://schemas.openxmlformats.org/drawingml/2006/main">
              <a:srgbClr val="183449"/>
            </a:solidFill>
          </c:spPr>
          <c:marker>
            <c:symbol val="diamond"/>
            <c:size val="15"/>
          </c:marker>
          <c:xVal>
            <c:numRef>
              <c:f>'Chart Data'!$E$2:$E$2</c:f>
              <c:numCache>
                <c:formatCode>General</c:formatCode>
                <c:ptCount val="1"/>
                <c:pt idx="0">
                  <c:v>2</c:v>
                </c:pt>
              </c:numCache>
            </c:numRef>
          </c:xVal>
          <c:yVal>
            <c:numRef>
              <c:f>'Chart Data'!$F$2:$F$2</c:f>
              <c:numCache>
                <c:formatCode>General</c:formatCode>
                <c:ptCount val="1"/>
                <c:pt idx="0">
                  <c:v>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1"/>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Value potential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1"/>
      </c:valAx>
      <c:valAx>
        <c:axId val="48650112"/>
        <c:scaling>
          <c:orientation val="minMax"/>
          <c:max val="5"/>
          <c:min val="1"/>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Feasibility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1"/>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9E4E12-138A-48E7-BD30-503E85E0FE1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FDCC47AB-A6FC-4B37-8C4A-FA49427A34B7}"/>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VNUK: the research behind the diagnosis</a:t>
            </a:r>
          </a:p>
        </p:txBody>
      </p:sp>
      <p:sp>
        <p:nvSpPr>
          <p:cNvPr id="3" name="">
            <a:extLst xmlns:a="http://schemas.openxmlformats.org/drawingml/2006/main">
              <a:ext uri="{FF2B5EF4-FFF2-40B4-BE49-F238E27FC236}">
                <a16:creationId xmlns:a16="http://schemas.microsoft.com/office/drawing/2014/main" id="{480C9351-B0D8-4716-81EF-66770C047F2B}"/>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Customer Experience module research across BMS and CSE, December 2025–January 2026.</a:t>
            </a:r>
          </a:p>
        </p:txBody>
      </p:sp>
      <p:sp>
        <p:nvSpPr>
          <p:cNvPr id="4" name="">
            <a:extLst xmlns:a="http://schemas.openxmlformats.org/drawingml/2006/main">
              <a:ext uri="{FF2B5EF4-FFF2-40B4-BE49-F238E27FC236}">
                <a16:creationId xmlns:a16="http://schemas.microsoft.com/office/drawing/2014/main" id="{FB0464B7-D1E7-4434-8E19-F25EDD238E5F}"/>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C6363534-EB72-4FA7-80E4-C5835874C5DA}"/>
              </a:ext>
            </a:extLst>
          </p:cNvPr>
          <p:cNvSpPr>
            <a:spLocks xmlns:a="http://schemas.openxmlformats.org/drawingml/2006/main" noGrp="1"/>
          </p:cNvSpPr>
          <p:nvPr/>
        </p:nvSpPr>
        <p:spPr>
          <a:xfrm xmlns:a="http://schemas.openxmlformats.org/drawingml/2006/main">
            <a:off x="533400" y="2390775"/>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CSE interview coverage</a:t>
            </a:r>
          </a:p>
        </p:txBody>
      </p:sp>
      <p:graphicFrame>
        <p:nvGraphicFramePr>
          <p:cNvPr id="16" name="Chart"/>
          <p:cNvGraphicFramePr/>
          <p:nvPr/>
        </p:nvGraphicFramePr>
        <p:xfrm>
          <a:off xmlns:a="http://schemas.openxmlformats.org/drawingml/2006/main" x="533400" y="2933700"/>
          <a:ext xmlns:a="http://schemas.openxmlformats.org/drawingml/2006/main" cx="7000875" cy="2714625"/>
        </p:xfrm>
        <a:graphic xmlns:a="http://schemas.openxmlformats.org/drawingml/2006/main">
          <a:graphicData uri="http://schemas.openxmlformats.org/drawingml/2006/chart">
            <c:chart xmlns:r="http://schemas.openxmlformats.org/officeDocument/2006/relationships" xmlns:c="http://schemas.openxmlformats.org/drawingml/2006/chart" r:id="R72fb647313ed43d2"/>
          </a:graphicData>
        </a:graphic>
      </p:graphicFrame>
      <p:sp>
        <p:nvSpPr>
          <p:cNvPr id="7" name="">
            <a:extLst xmlns:a="http://schemas.openxmlformats.org/drawingml/2006/main">
              <a:ext uri="{FF2B5EF4-FFF2-40B4-BE49-F238E27FC236}">
                <a16:creationId xmlns:a16="http://schemas.microsoft.com/office/drawing/2014/main" id="{9BBF252C-602B-49FF-9707-537D7291B7EA}"/>
              </a:ext>
            </a:extLst>
          </p:cNvPr>
          <p:cNvSpPr>
            <a:spLocks xmlns:a="http://schemas.openxmlformats.org/drawingml/2006/main" noGrp="1"/>
          </p:cNvSpPr>
          <p:nvPr/>
        </p:nvSpPr>
        <p:spPr>
          <a:xfrm xmlns:a="http://schemas.openxmlformats.org/drawingml/2006/main">
            <a:off x="8429625" y="2543175"/>
            <a:ext cx="276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6878A"/>
                </a:solidFill>
                <a:latin typeface="Helvetica Neue"/>
                <a:ea typeface="Helvetica Neue"/>
                <a:cs typeface="Helvetica Neue"/>
              </a:defRPr>
            </a:pPr>
            <a:r>
              <a:rPr sz="6600" b="1">
                <a:solidFill>
                  <a:srgbClr val="16878A"/>
                </a:solidFill>
                <a:latin typeface="Helvetica Neue"/>
                <a:ea typeface="Helvetica Neue"/>
                <a:cs typeface="Helvetica Neue"/>
              </a:rPr>
              <a:t>8</a:t>
            </a:r>
          </a:p>
        </p:txBody>
      </p:sp>
      <p:sp>
        <p:nvSpPr>
          <p:cNvPr id="8" name="">
            <a:extLst xmlns:a="http://schemas.openxmlformats.org/drawingml/2006/main">
              <a:ext uri="{FF2B5EF4-FFF2-40B4-BE49-F238E27FC236}">
                <a16:creationId xmlns:a16="http://schemas.microsoft.com/office/drawing/2014/main" id="{CD7A16D5-EBDE-4F22-95E5-2D49D0490BFC}"/>
              </a:ext>
            </a:extLst>
          </p:cNvPr>
          <p:cNvSpPr>
            <a:spLocks xmlns:a="http://schemas.openxmlformats.org/drawingml/2006/main" noGrp="1"/>
          </p:cNvSpPr>
          <p:nvPr/>
        </p:nvSpPr>
        <p:spPr>
          <a:xfrm xmlns:a="http://schemas.openxmlformats.org/drawingml/2006/main">
            <a:off x="8429625" y="364807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3746"/>
                </a:solidFill>
                <a:latin typeface="Helvetica Neue"/>
                <a:ea typeface="Helvetica Neue"/>
                <a:cs typeface="Helvetica Neue"/>
              </a:defRPr>
            </a:pPr>
            <a:r>
              <a:rPr sz="2175" b="1">
                <a:solidFill>
                  <a:srgbClr val="233746"/>
                </a:solidFill>
                <a:latin typeface="Helvetica Neue"/>
                <a:ea typeface="Helvetica Neue"/>
                <a:cs typeface="Helvetica Neue"/>
              </a:rPr>
              <a:t>BMS survey respondents</a:t>
            </a:r>
          </a:p>
        </p:txBody>
      </p:sp>
      <p:sp>
        <p:nvSpPr>
          <p:cNvPr id="9" name="">
            <a:extLst xmlns:a="http://schemas.openxmlformats.org/drawingml/2006/main">
              <a:ext uri="{FF2B5EF4-FFF2-40B4-BE49-F238E27FC236}">
                <a16:creationId xmlns:a16="http://schemas.microsoft.com/office/drawing/2014/main" id="{9B622AA4-6EFB-4341-A1D3-C8D52B5894D6}"/>
              </a:ext>
            </a:extLst>
          </p:cNvPr>
          <p:cNvSpPr>
            <a:spLocks xmlns:a="http://schemas.openxmlformats.org/drawingml/2006/main" noGrp="1"/>
          </p:cNvSpPr>
          <p:nvPr/>
        </p:nvSpPr>
        <p:spPr>
          <a:xfrm xmlns:a="http://schemas.openxmlformats.org/drawingml/2006/main">
            <a:off x="8429625" y="4695825"/>
            <a:ext cx="285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Aggregate response charts reviewed.</a:t>
            </a:r>
          </a:p>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No new survey collected.</a:t>
            </a:r>
          </a:p>
        </p:txBody>
      </p:sp>
      <p:sp>
        <p:nvSpPr>
          <p:cNvPr id="10" name="">
            <a:extLst xmlns:a="http://schemas.openxmlformats.org/drawingml/2006/main">
              <a:ext uri="{FF2B5EF4-FFF2-40B4-BE49-F238E27FC236}">
                <a16:creationId xmlns:a16="http://schemas.microsoft.com/office/drawing/2014/main" id="{5CA69640-738A-44FB-89CB-3EB35126A9CF}"/>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Reviewed interviews are a subset of the reported CSE study. The team says issues continue; rates are historical.</a:t>
            </a:r>
          </a:p>
        </p:txBody>
      </p:sp>
    </p:spTree>
    <p:extLst>
      <p:ext uri="{BB962C8B-B14F-4D97-AF65-F5344CB8AC3E}">
        <p14:creationId xmlns:p14="http://schemas.microsoft.com/office/powerpoint/2010/main" val="1176089977"/>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0F6BD55-B001-4CF3-9A05-9C7A3BFEB2F1}"/>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E7389AD1-A6BB-4E8E-9A41-2432AA5DB798}"/>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CSE: friction and support in the same journeys</a:t>
            </a:r>
          </a:p>
        </p:txBody>
      </p:sp>
      <p:sp>
        <p:nvSpPr>
          <p:cNvPr id="3" name="">
            <a:extLst xmlns:a="http://schemas.openxmlformats.org/drawingml/2006/main">
              <a:ext uri="{FF2B5EF4-FFF2-40B4-BE49-F238E27FC236}">
                <a16:creationId xmlns:a16="http://schemas.microsoft.com/office/drawing/2014/main" id="{1AACD09A-D1AB-4D2A-89D1-48F695757B3B}"/>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Individual interview accounts. These measures have different units and are not population averages.</a:t>
            </a:r>
          </a:p>
        </p:txBody>
      </p:sp>
      <p:sp>
        <p:nvSpPr>
          <p:cNvPr id="4" name="">
            <a:extLst xmlns:a="http://schemas.openxmlformats.org/drawingml/2006/main">
              <a:ext uri="{FF2B5EF4-FFF2-40B4-BE49-F238E27FC236}">
                <a16:creationId xmlns:a16="http://schemas.microsoft.com/office/drawing/2014/main" id="{1C67F2CB-3B0A-4ED0-9DF0-86AA9C26D85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4D71D88-16EA-4550-A114-34C64ACEFB17}"/>
              </a:ext>
            </a:extLst>
          </p:cNvPr>
          <p:cNvSpPr>
            <a:spLocks xmlns:a="http://schemas.openxmlformats.org/drawingml/2006/main" noGrp="1"/>
          </p:cNvSpPr>
          <p:nvPr/>
        </p:nvSpPr>
        <p:spPr>
          <a:xfrm xmlns:a="http://schemas.openxmlformats.org/drawingml/2006/main">
            <a:off x="533400" y="24860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Student account</a:t>
            </a:r>
          </a:p>
        </p:txBody>
      </p:sp>
      <p:sp>
        <p:nvSpPr>
          <p:cNvPr id="6" name="">
            <a:extLst xmlns:a="http://schemas.openxmlformats.org/drawingml/2006/main">
              <a:ext uri="{FF2B5EF4-FFF2-40B4-BE49-F238E27FC236}">
                <a16:creationId xmlns:a16="http://schemas.microsoft.com/office/drawing/2014/main" id="{C6B76A93-842E-4476-89FE-615460C68D29}"/>
              </a:ext>
            </a:extLst>
          </p:cNvPr>
          <p:cNvSpPr>
            <a:spLocks xmlns:a="http://schemas.openxmlformats.org/drawingml/2006/main" noGrp="1"/>
          </p:cNvSpPr>
          <p:nvPr/>
        </p:nvSpPr>
        <p:spPr>
          <a:xfrm xmlns:a="http://schemas.openxmlformats.org/drawingml/2006/main">
            <a:off x="533400" y="30861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6878A"/>
                </a:solidFill>
                <a:latin typeface="Helvetica Neue"/>
                <a:ea typeface="Helvetica Neue"/>
                <a:cs typeface="Helvetica Neue"/>
              </a:defRPr>
            </a:pPr>
            <a:r>
              <a:rPr sz="4875" b="1">
                <a:solidFill>
                  <a:srgbClr val="16878A"/>
                </a:solidFill>
                <a:latin typeface="Helvetica Neue"/>
                <a:ea typeface="Helvetica Neue"/>
                <a:cs typeface="Helvetica Neue"/>
              </a:rPr>
              <a:t>4–5 days</a:t>
            </a:r>
          </a:p>
        </p:txBody>
      </p:sp>
      <p:sp>
        <p:nvSpPr>
          <p:cNvPr id="7" name="">
            <a:extLst xmlns:a="http://schemas.openxmlformats.org/drawingml/2006/main">
              <a:ext uri="{FF2B5EF4-FFF2-40B4-BE49-F238E27FC236}">
                <a16:creationId xmlns:a16="http://schemas.microsoft.com/office/drawing/2014/main" id="{D07C82F5-7C0E-4891-9E4D-895E24FF1538}"/>
              </a:ext>
            </a:extLst>
          </p:cNvPr>
          <p:cNvSpPr>
            <a:spLocks xmlns:a="http://schemas.openxmlformats.org/drawingml/2006/main" noGrp="1"/>
          </p:cNvSpPr>
          <p:nvPr/>
        </p:nvSpPr>
        <p:spPr>
          <a:xfrm xmlns:a="http://schemas.openxmlformats.org/drawingml/2006/main">
            <a:off x="533400" y="4000500"/>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Waiting for an advising email reply</a:t>
            </a:r>
          </a:p>
        </p:txBody>
      </p:sp>
      <p:sp>
        <p:nvSpPr>
          <p:cNvPr id="8" name="">
            <a:extLst xmlns:a="http://schemas.openxmlformats.org/drawingml/2006/main">
              <a:ext uri="{FF2B5EF4-FFF2-40B4-BE49-F238E27FC236}">
                <a16:creationId xmlns:a16="http://schemas.microsoft.com/office/drawing/2014/main" id="{5343650E-17AF-4CA6-A300-0A6A92A8CAB3}"/>
              </a:ext>
            </a:extLst>
          </p:cNvPr>
          <p:cNvSpPr>
            <a:spLocks xmlns:a="http://schemas.openxmlformats.org/drawingml/2006/main" noGrp="1"/>
          </p:cNvSpPr>
          <p:nvPr/>
        </p:nvSpPr>
        <p:spPr>
          <a:xfrm xmlns:a="http://schemas.openxmlformats.org/drawingml/2006/main">
            <a:off x="533400" y="48958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449"/>
                </a:solidFill>
                <a:latin typeface="Helvetica Neue"/>
                <a:ea typeface="Helvetica Neue"/>
                <a:cs typeface="Helvetica Neue"/>
              </a:defRPr>
            </a:pPr>
            <a:r>
              <a:rPr sz="2550" b="1">
                <a:solidFill>
                  <a:srgbClr val="183449"/>
                </a:solidFill>
                <a:latin typeface="Helvetica Neue"/>
                <a:ea typeface="Helvetica Neue"/>
                <a:cs typeface="Helvetica Neue"/>
              </a:rPr>
              <a:t>4–5 login attempts</a:t>
            </a:r>
          </a:p>
        </p:txBody>
      </p:sp>
      <p:sp>
        <p:nvSpPr>
          <p:cNvPr id="9" name="">
            <a:extLst xmlns:a="http://schemas.openxmlformats.org/drawingml/2006/main">
              <a:ext uri="{FF2B5EF4-FFF2-40B4-BE49-F238E27FC236}">
                <a16:creationId xmlns:a16="http://schemas.microsoft.com/office/drawing/2014/main" id="{B19CB156-D09F-428B-8DCE-3BB0B628ABAF}"/>
              </a:ext>
            </a:extLst>
          </p:cNvPr>
          <p:cNvSpPr>
            <a:spLocks xmlns:a="http://schemas.openxmlformats.org/drawingml/2006/main" noGrp="1"/>
          </p:cNvSpPr>
          <p:nvPr/>
        </p:nvSpPr>
        <p:spPr>
          <a:xfrm xmlns:a="http://schemas.openxmlformats.org/drawingml/2006/main">
            <a:off x="533400" y="5486400"/>
            <a:ext cx="5095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6"/>
                </a:solidFill>
                <a:latin typeface="Helvetica Neue"/>
                <a:ea typeface="Helvetica Neue"/>
                <a:cs typeface="Helvetica Neue"/>
              </a:defRPr>
            </a:pPr>
            <a:r>
              <a:rPr sz="1725" b="0">
                <a:solidFill>
                  <a:srgbClr val="233746"/>
                </a:solidFill>
                <a:latin typeface="Helvetica Neue"/>
                <a:ea typeface="Helvetica Neue"/>
                <a:cs typeface="Helvetica Neue"/>
              </a:rPr>
              <a:t>The same student’s LMS access experience</a:t>
            </a:r>
          </a:p>
        </p:txBody>
      </p:sp>
      <p:sp>
        <p:nvSpPr>
          <p:cNvPr id="10" name="">
            <a:extLst xmlns:a="http://schemas.openxmlformats.org/drawingml/2006/main">
              <a:ext uri="{FF2B5EF4-FFF2-40B4-BE49-F238E27FC236}">
                <a16:creationId xmlns:a16="http://schemas.microsoft.com/office/drawing/2014/main" id="{C34BD4A5-B027-4961-B52D-F9709DC9F71D}"/>
              </a:ext>
            </a:extLst>
          </p:cNvPr>
          <p:cNvSpPr>
            <a:spLocks xmlns:a="http://schemas.openxmlformats.org/drawingml/2006/main" noGrp="1"/>
          </p:cNvSpPr>
          <p:nvPr/>
        </p:nvSpPr>
        <p:spPr>
          <a:xfrm xmlns:a="http://schemas.openxmlformats.org/drawingml/2006/main">
            <a:off x="6477000" y="24860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Alumnus account</a:t>
            </a:r>
          </a:p>
        </p:txBody>
      </p:sp>
      <p:sp>
        <p:nvSpPr>
          <p:cNvPr id="11" name="">
            <a:extLst xmlns:a="http://schemas.openxmlformats.org/drawingml/2006/main">
              <a:ext uri="{FF2B5EF4-FFF2-40B4-BE49-F238E27FC236}">
                <a16:creationId xmlns:a16="http://schemas.microsoft.com/office/drawing/2014/main" id="{BD5BBABE-ADD6-4785-976C-AAA469480849}"/>
              </a:ext>
            </a:extLst>
          </p:cNvPr>
          <p:cNvSpPr>
            <a:spLocks xmlns:a="http://schemas.openxmlformats.org/drawingml/2006/main" noGrp="1"/>
          </p:cNvSpPr>
          <p:nvPr/>
        </p:nvSpPr>
        <p:spPr>
          <a:xfrm xmlns:a="http://schemas.openxmlformats.org/drawingml/2006/main">
            <a:off x="6477000" y="30861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6878A"/>
                </a:solidFill>
                <a:latin typeface="Helvetica Neue"/>
                <a:ea typeface="Helvetica Neue"/>
                <a:cs typeface="Helvetica Neue"/>
              </a:defRPr>
            </a:pPr>
            <a:r>
              <a:rPr sz="4875" b="1">
                <a:solidFill>
                  <a:srgbClr val="16878A"/>
                </a:solidFill>
                <a:latin typeface="Helvetica Neue"/>
                <a:ea typeface="Helvetica Neue"/>
                <a:cs typeface="Helvetica Neue"/>
              </a:rPr>
              <a:t>Weekly</a:t>
            </a:r>
          </a:p>
        </p:txBody>
      </p:sp>
      <p:sp>
        <p:nvSpPr>
          <p:cNvPr id="12" name="">
            <a:extLst xmlns:a="http://schemas.openxmlformats.org/drawingml/2006/main">
              <a:ext uri="{FF2B5EF4-FFF2-40B4-BE49-F238E27FC236}">
                <a16:creationId xmlns:a16="http://schemas.microsoft.com/office/drawing/2014/main" id="{EE3783F1-AB6C-43FB-BE77-ED123A719849}"/>
              </a:ext>
            </a:extLst>
          </p:cNvPr>
          <p:cNvSpPr>
            <a:spLocks xmlns:a="http://schemas.openxmlformats.org/drawingml/2006/main" noGrp="1"/>
          </p:cNvSpPr>
          <p:nvPr/>
        </p:nvSpPr>
        <p:spPr>
          <a:xfrm xmlns:a="http://schemas.openxmlformats.org/drawingml/2006/main">
            <a:off x="6477000" y="4000500"/>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Thesis supervision meetings</a:t>
            </a:r>
          </a:p>
        </p:txBody>
      </p:sp>
      <p:sp>
        <p:nvSpPr>
          <p:cNvPr id="13" name="">
            <a:extLst xmlns:a="http://schemas.openxmlformats.org/drawingml/2006/main">
              <a:ext uri="{FF2B5EF4-FFF2-40B4-BE49-F238E27FC236}">
                <a16:creationId xmlns:a16="http://schemas.microsoft.com/office/drawing/2014/main" id="{6CA61A26-D697-4C8A-A12B-2BBD3CD705D4}"/>
              </a:ext>
            </a:extLst>
          </p:cNvPr>
          <p:cNvSpPr>
            <a:spLocks xmlns:a="http://schemas.openxmlformats.org/drawingml/2006/main" noGrp="1"/>
          </p:cNvSpPr>
          <p:nvPr/>
        </p:nvSpPr>
        <p:spPr>
          <a:xfrm xmlns:a="http://schemas.openxmlformats.org/drawingml/2006/main">
            <a:off x="6477000" y="48958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449"/>
                </a:solidFill>
                <a:latin typeface="Helvetica Neue"/>
                <a:ea typeface="Helvetica Neue"/>
                <a:cs typeface="Helvetica Neue"/>
              </a:defRPr>
            </a:pPr>
            <a:r>
              <a:rPr sz="2400" b="1">
                <a:solidFill>
                  <a:srgbClr val="183449"/>
                </a:solidFill>
                <a:latin typeface="Helvetica Neue"/>
                <a:ea typeface="Helvetica Neue"/>
                <a:cs typeface="Helvetica Neue"/>
              </a:rPr>
              <a:t>Missed graduation notice</a:t>
            </a:r>
          </a:p>
        </p:txBody>
      </p:sp>
      <p:sp>
        <p:nvSpPr>
          <p:cNvPr id="14" name="">
            <a:extLst xmlns:a="http://schemas.openxmlformats.org/drawingml/2006/main">
              <a:ext uri="{FF2B5EF4-FFF2-40B4-BE49-F238E27FC236}">
                <a16:creationId xmlns:a16="http://schemas.microsoft.com/office/drawing/2014/main" id="{9188FA7A-970E-4452-8719-155F990D642B}"/>
              </a:ext>
            </a:extLst>
          </p:cNvPr>
          <p:cNvSpPr>
            <a:spLocks xmlns:a="http://schemas.openxmlformats.org/drawingml/2006/main" noGrp="1"/>
          </p:cNvSpPr>
          <p:nvPr/>
        </p:nvSpPr>
        <p:spPr>
          <a:xfrm xmlns:a="http://schemas.openxmlformats.org/drawingml/2006/main">
            <a:off x="6477000" y="5486400"/>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Faculty helped resolve registration</a:t>
            </a:r>
          </a:p>
        </p:txBody>
      </p:sp>
      <p:sp>
        <p:nvSpPr>
          <p:cNvPr id="15" name="">
            <a:extLst xmlns:a="http://schemas.openxmlformats.org/drawingml/2006/main">
              <a:ext uri="{FF2B5EF4-FFF2-40B4-BE49-F238E27FC236}">
                <a16:creationId xmlns:a16="http://schemas.microsoft.com/office/drawing/2014/main" id="{D70A6845-5002-411F-9160-EE77CDFE9A97}"/>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CSE interviews. Both service friction and effective faculty support are recorded.</a:t>
            </a:r>
          </a:p>
        </p:txBody>
      </p:sp>
    </p:spTree>
    <p:extLst>
      <p:ext uri="{BB962C8B-B14F-4D97-AF65-F5344CB8AC3E}">
        <p14:creationId xmlns:p14="http://schemas.microsoft.com/office/powerpoint/2010/main" val="1996086132"/>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3D849E-EB2E-4229-99AC-7878DCF30D4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3D4B251D-4041-49E7-94EB-AF32B1174E5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recorded barriers to learning</a:t>
            </a:r>
          </a:p>
        </p:txBody>
      </p:sp>
      <p:sp>
        <p:nvSpPr>
          <p:cNvPr id="3" name="">
            <a:extLst xmlns:a="http://schemas.openxmlformats.org/drawingml/2006/main">
              <a:ext uri="{FF2B5EF4-FFF2-40B4-BE49-F238E27FC236}">
                <a16:creationId xmlns:a16="http://schemas.microsoft.com/office/drawing/2014/main" id="{F5E353A4-C0E6-4F1D-B1EA-CB5309377AB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8 respondents. Each bar shows how many selected the issue; answers can overlap.</a:t>
            </a:r>
          </a:p>
        </p:txBody>
      </p:sp>
      <p:sp>
        <p:nvSpPr>
          <p:cNvPr id="4" name="">
            <a:extLst xmlns:a="http://schemas.openxmlformats.org/drawingml/2006/main">
              <a:ext uri="{FF2B5EF4-FFF2-40B4-BE49-F238E27FC236}">
                <a16:creationId xmlns:a16="http://schemas.microsoft.com/office/drawing/2014/main" id="{E7C6D6DA-D252-4D61-B80B-B043C7F7AD8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03</a:t>
            </a:r>
          </a:p>
        </p:txBody>
      </p:sp>
      <p:graphicFrame>
        <p:nvGraphicFramePr>
          <p:cNvPr id="11" name="Chart"/>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7c3729268d8d4c25"/>
          </a:graphicData>
        </a:graphic>
      </p:graphicFrame>
      <p:sp>
        <p:nvSpPr>
          <p:cNvPr id="6" name="">
            <a:extLst xmlns:a="http://schemas.openxmlformats.org/drawingml/2006/main">
              <a:ext uri="{FF2B5EF4-FFF2-40B4-BE49-F238E27FC236}">
                <a16:creationId xmlns:a16="http://schemas.microsoft.com/office/drawing/2014/main" id="{3F4ADF42-52DD-4E79-B914-89E02DE2948C}"/>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BMS survey, Figures 2–3. Counts describe this sample, not all BMS students.</a:t>
            </a:r>
          </a:p>
        </p:txBody>
      </p:sp>
    </p:spTree>
    <p:extLst>
      <p:ext uri="{BB962C8B-B14F-4D97-AF65-F5344CB8AC3E}">
        <p14:creationId xmlns:p14="http://schemas.microsoft.com/office/powerpoint/2010/main" val="744798008"/>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2A70F9-6854-4732-8437-3FCBC0D8368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22DAE13D-B448-459D-A5A3-66CB7AB0384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the full lab satisfaction distribution</a:t>
            </a:r>
          </a:p>
        </p:txBody>
      </p:sp>
      <p:sp>
        <p:nvSpPr>
          <p:cNvPr id="3" name="">
            <a:extLst xmlns:a="http://schemas.openxmlformats.org/drawingml/2006/main">
              <a:ext uri="{FF2B5EF4-FFF2-40B4-BE49-F238E27FC236}">
                <a16:creationId xmlns:a16="http://schemas.microsoft.com/office/drawing/2014/main" id="{AD5BACC0-9EC9-48E2-A014-E11FAD52D3E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original chart shows mixed-to-positive ratings alongside specific complaints about heat.</a:t>
            </a:r>
          </a:p>
        </p:txBody>
      </p:sp>
      <p:sp>
        <p:nvSpPr>
          <p:cNvPr id="4" name="">
            <a:extLst xmlns:a="http://schemas.openxmlformats.org/drawingml/2006/main">
              <a:ext uri="{FF2B5EF4-FFF2-40B4-BE49-F238E27FC236}">
                <a16:creationId xmlns:a16="http://schemas.microsoft.com/office/drawing/2014/main" id="{B0BD2DB7-91E1-45CF-B3E2-8E7ABC89A82B}"/>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04</a:t>
            </a:r>
          </a:p>
        </p:txBody>
      </p:sp>
      <p:graphicFrame>
        <p:nvGraphicFramePr>
          <p:cNvPr id="15" name="Chart"/>
          <p:cNvGraphicFramePr/>
          <p:nvPr/>
        </p:nvGraphicFramePr>
        <p:xfrm>
          <a:off xmlns:a="http://schemas.openxmlformats.org/drawingml/2006/main" x="533400" y="2619375"/>
          <a:ext xmlns:a="http://schemas.openxmlformats.org/drawingml/2006/main" cx="7143750" cy="3048000"/>
        </p:xfrm>
        <a:graphic xmlns:a="http://schemas.openxmlformats.org/drawingml/2006/main">
          <a:graphicData uri="http://schemas.openxmlformats.org/drawingml/2006/chart">
            <c:chart xmlns:r="http://schemas.openxmlformats.org/officeDocument/2006/relationships" xmlns:c="http://schemas.openxmlformats.org/drawingml/2006/chart" r:id="R13890ec0495d46cc"/>
          </a:graphicData>
        </a:graphic>
      </p:graphicFrame>
      <p:sp>
        <p:nvSpPr>
          <p:cNvPr id="6" name="">
            <a:extLst xmlns:a="http://schemas.openxmlformats.org/drawingml/2006/main">
              <a:ext uri="{FF2B5EF4-FFF2-40B4-BE49-F238E27FC236}">
                <a16:creationId xmlns:a16="http://schemas.microsoft.com/office/drawing/2014/main" id="{8B273FB4-51BB-4B40-9846-955E284271EA}"/>
              </a:ext>
            </a:extLst>
          </p:cNvPr>
          <p:cNvSpPr>
            <a:spLocks xmlns:a="http://schemas.openxmlformats.org/drawingml/2006/main" noGrp="1"/>
          </p:cNvSpPr>
          <p:nvPr/>
        </p:nvSpPr>
        <p:spPr>
          <a:xfrm xmlns:a="http://schemas.openxmlformats.org/drawingml/2006/main">
            <a:off x="8382000" y="25717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6878A"/>
                </a:solidFill>
                <a:latin typeface="Helvetica Neue"/>
                <a:ea typeface="Helvetica Neue"/>
                <a:cs typeface="Helvetica Neue"/>
              </a:defRPr>
            </a:pPr>
            <a:r>
              <a:rPr sz="4200" b="1">
                <a:solidFill>
                  <a:srgbClr val="16878A"/>
                </a:solidFill>
                <a:latin typeface="Helvetica Neue"/>
                <a:ea typeface="Helvetica Neue"/>
                <a:cs typeface="Helvetica Neue"/>
              </a:rPr>
              <a:t>3.63 / 5</a:t>
            </a:r>
          </a:p>
        </p:txBody>
      </p:sp>
      <p:sp>
        <p:nvSpPr>
          <p:cNvPr id="7" name="">
            <a:extLst xmlns:a="http://schemas.openxmlformats.org/drawingml/2006/main">
              <a:ext uri="{FF2B5EF4-FFF2-40B4-BE49-F238E27FC236}">
                <a16:creationId xmlns:a16="http://schemas.microsoft.com/office/drawing/2014/main" id="{9F561C7E-6661-477E-92E8-FFC39CA1CA5D}"/>
              </a:ext>
            </a:extLst>
          </p:cNvPr>
          <p:cNvSpPr>
            <a:spLocks xmlns:a="http://schemas.openxmlformats.org/drawingml/2006/main" noGrp="1"/>
          </p:cNvSpPr>
          <p:nvPr/>
        </p:nvSpPr>
        <p:spPr>
          <a:xfrm xmlns:a="http://schemas.openxmlformats.org/drawingml/2006/main">
            <a:off x="8382000" y="3448050"/>
            <a:ext cx="314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746"/>
                </a:solidFill>
                <a:latin typeface="Helvetica Neue"/>
                <a:ea typeface="Helvetica Neue"/>
                <a:cs typeface="Helvetica Neue"/>
              </a:defRPr>
            </a:pPr>
            <a:r>
              <a:rPr sz="2025" b="0">
                <a:solidFill>
                  <a:srgbClr val="233746"/>
                </a:solidFill>
                <a:latin typeface="Helvetica Neue"/>
                <a:ea typeface="Helvetica Neue"/>
                <a:cs typeface="Helvetica Neue"/>
              </a:rPr>
              <a:t>Mean satisfaction</a:t>
            </a:r>
          </a:p>
          <a:p xmlns:a="http://schemas.openxmlformats.org/drawingml/2006/main">
            <a:pPr>
              <a:defRPr sz="2025" b="0">
                <a:solidFill>
                  <a:srgbClr val="233746"/>
                </a:solidFill>
                <a:latin typeface="Helvetica Neue"/>
                <a:ea typeface="Helvetica Neue"/>
                <a:cs typeface="Helvetica Neue"/>
              </a:defRPr>
            </a:pPr>
            <a:r>
              <a:rPr sz="2025" b="0">
                <a:solidFill>
                  <a:srgbClr val="233746"/>
                </a:solidFill>
                <a:latin typeface="Helvetica Neue"/>
                <a:ea typeface="Helvetica Neue"/>
                <a:cs typeface="Helvetica Neue"/>
              </a:rPr>
              <a:t>Calculated from 8 ratings</a:t>
            </a:r>
          </a:p>
        </p:txBody>
      </p:sp>
      <p:sp>
        <p:nvSpPr>
          <p:cNvPr id="8" name="">
            <a:extLst xmlns:a="http://schemas.openxmlformats.org/drawingml/2006/main">
              <a:ext uri="{FF2B5EF4-FFF2-40B4-BE49-F238E27FC236}">
                <a16:creationId xmlns:a16="http://schemas.microsoft.com/office/drawing/2014/main" id="{3242E6F2-F19E-4F9F-9683-5BD2039740A2}"/>
              </a:ext>
            </a:extLst>
          </p:cNvPr>
          <p:cNvSpPr>
            <a:spLocks xmlns:a="http://schemas.openxmlformats.org/drawingml/2006/main" noGrp="1"/>
          </p:cNvSpPr>
          <p:nvPr/>
        </p:nvSpPr>
        <p:spPr>
          <a:xfrm xmlns:a="http://schemas.openxmlformats.org/drawingml/2006/main">
            <a:off x="8382000" y="443865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449"/>
                </a:solidFill>
                <a:latin typeface="Helvetica Neue"/>
                <a:ea typeface="Helvetica Neue"/>
                <a:cs typeface="Helvetica Neue"/>
              </a:defRPr>
            </a:pPr>
            <a:r>
              <a:rPr sz="3375" b="1">
                <a:solidFill>
                  <a:srgbClr val="183449"/>
                </a:solidFill>
                <a:latin typeface="Helvetica Neue"/>
                <a:ea typeface="Helvetica Neue"/>
                <a:cs typeface="Helvetica Neue"/>
              </a:rPr>
              <a:t>4 of 8</a:t>
            </a:r>
          </a:p>
        </p:txBody>
      </p:sp>
      <p:sp>
        <p:nvSpPr>
          <p:cNvPr id="9" name="">
            <a:extLst xmlns:a="http://schemas.openxmlformats.org/drawingml/2006/main">
              <a:ext uri="{FF2B5EF4-FFF2-40B4-BE49-F238E27FC236}">
                <a16:creationId xmlns:a16="http://schemas.microsoft.com/office/drawing/2014/main" id="{A7C29CB6-56B7-484F-90CF-BD8200A6CB92}"/>
              </a:ext>
            </a:extLst>
          </p:cNvPr>
          <p:cNvSpPr>
            <a:spLocks xmlns:a="http://schemas.openxmlformats.org/drawingml/2006/main" noGrp="1"/>
          </p:cNvSpPr>
          <p:nvPr/>
        </p:nvSpPr>
        <p:spPr>
          <a:xfrm xmlns:a="http://schemas.openxmlformats.org/drawingml/2006/main">
            <a:off x="8382000" y="5200650"/>
            <a:ext cx="314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Rated the lab 4 or 5</a:t>
            </a:r>
          </a:p>
        </p:txBody>
      </p:sp>
      <p:sp>
        <p:nvSpPr>
          <p:cNvPr id="10" name="">
            <a:extLst xmlns:a="http://schemas.openxmlformats.org/drawingml/2006/main">
              <a:ext uri="{FF2B5EF4-FFF2-40B4-BE49-F238E27FC236}">
                <a16:creationId xmlns:a16="http://schemas.microsoft.com/office/drawing/2014/main" id="{2BEF1493-F319-4176-B4E7-7784EB617CEF}"/>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BMS survey, Figure 1. Corrects the report narrative’s inaccurate 2/5 mean.</a:t>
            </a:r>
          </a:p>
        </p:txBody>
      </p:sp>
    </p:spTree>
    <p:extLst>
      <p:ext uri="{BB962C8B-B14F-4D97-AF65-F5344CB8AC3E}">
        <p14:creationId xmlns:p14="http://schemas.microsoft.com/office/powerpoint/2010/main" val="1502441733"/>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14C5AA-2CCA-4D68-9790-D2990B082091}"/>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BD0F4C63-CF53-4C15-9104-0433C704DD23}"/>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stress levels cluster at 7–8</a:t>
            </a:r>
          </a:p>
        </p:txBody>
      </p:sp>
      <p:sp>
        <p:nvSpPr>
          <p:cNvPr id="3" name="">
            <a:extLst xmlns:a="http://schemas.openxmlformats.org/drawingml/2006/main">
              <a:ext uri="{FF2B5EF4-FFF2-40B4-BE49-F238E27FC236}">
                <a16:creationId xmlns:a16="http://schemas.microsoft.com/office/drawing/2014/main" id="{7F751F9B-542E-4631-B925-F7F0DB8A89E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8 respondents rated their stress on a 1–10 scale.</a:t>
            </a:r>
          </a:p>
        </p:txBody>
      </p:sp>
      <p:sp>
        <p:nvSpPr>
          <p:cNvPr id="4" name="">
            <a:extLst xmlns:a="http://schemas.openxmlformats.org/drawingml/2006/main">
              <a:ext uri="{FF2B5EF4-FFF2-40B4-BE49-F238E27FC236}">
                <a16:creationId xmlns:a16="http://schemas.microsoft.com/office/drawing/2014/main" id="{A71C8072-90A9-4884-8CB6-13996FA2733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05</a:t>
            </a:r>
          </a:p>
        </p:txBody>
      </p:sp>
      <p:graphicFrame>
        <p:nvGraphicFramePr>
          <p:cNvPr id="15" name="Chart"/>
          <p:cNvGraphicFramePr/>
          <p:nvPr/>
        </p:nvGraphicFramePr>
        <p:xfrm>
          <a:off xmlns:a="http://schemas.openxmlformats.org/drawingml/2006/main" x="533400" y="2533650"/>
          <a:ext xmlns:a="http://schemas.openxmlformats.org/drawingml/2006/main" cx="7191375" cy="3209925"/>
        </p:xfrm>
        <a:graphic xmlns:a="http://schemas.openxmlformats.org/drawingml/2006/main">
          <a:graphicData uri="http://schemas.openxmlformats.org/drawingml/2006/chart">
            <c:chart xmlns:r="http://schemas.openxmlformats.org/officeDocument/2006/relationships" xmlns:c="http://schemas.openxmlformats.org/drawingml/2006/chart" r:id="Rdb430a7c928141aa"/>
          </a:graphicData>
        </a:graphic>
      </p:graphicFrame>
      <p:sp>
        <p:nvSpPr>
          <p:cNvPr id="6" name="">
            <a:extLst xmlns:a="http://schemas.openxmlformats.org/drawingml/2006/main">
              <a:ext uri="{FF2B5EF4-FFF2-40B4-BE49-F238E27FC236}">
                <a16:creationId xmlns:a16="http://schemas.microsoft.com/office/drawing/2014/main" id="{B2C0777C-1CA0-4601-8B73-641A7CD32026}"/>
              </a:ext>
            </a:extLst>
          </p:cNvPr>
          <p:cNvSpPr>
            <a:spLocks xmlns:a="http://schemas.openxmlformats.org/drawingml/2006/main" noGrp="1"/>
          </p:cNvSpPr>
          <p:nvPr/>
        </p:nvSpPr>
        <p:spPr>
          <a:xfrm xmlns:a="http://schemas.openxmlformats.org/drawingml/2006/main">
            <a:off x="8429625" y="2543175"/>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16878A"/>
                </a:solidFill>
                <a:latin typeface="Helvetica Neue"/>
                <a:ea typeface="Helvetica Neue"/>
                <a:cs typeface="Helvetica Neue"/>
              </a:defRPr>
            </a:pPr>
            <a:r>
              <a:rPr sz="3825" b="1">
                <a:solidFill>
                  <a:srgbClr val="16878A"/>
                </a:solidFill>
                <a:latin typeface="Helvetica Neue"/>
                <a:ea typeface="Helvetica Neue"/>
                <a:cs typeface="Helvetica Neue"/>
              </a:rPr>
              <a:t>5 of 8</a:t>
            </a:r>
          </a:p>
        </p:txBody>
      </p:sp>
      <p:sp>
        <p:nvSpPr>
          <p:cNvPr id="7" name="">
            <a:extLst xmlns:a="http://schemas.openxmlformats.org/drawingml/2006/main">
              <a:ext uri="{FF2B5EF4-FFF2-40B4-BE49-F238E27FC236}">
                <a16:creationId xmlns:a16="http://schemas.microsoft.com/office/drawing/2014/main" id="{2DB044C4-5F9B-4749-A99F-98DD4F6B3B6A}"/>
              </a:ext>
            </a:extLst>
          </p:cNvPr>
          <p:cNvSpPr>
            <a:spLocks xmlns:a="http://schemas.openxmlformats.org/drawingml/2006/main" noGrp="1"/>
          </p:cNvSpPr>
          <p:nvPr/>
        </p:nvSpPr>
        <p:spPr>
          <a:xfrm xmlns:a="http://schemas.openxmlformats.org/drawingml/2006/main">
            <a:off x="8429625" y="3248025"/>
            <a:ext cx="300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Rated stress 7 or 8</a:t>
            </a:r>
          </a:p>
        </p:txBody>
      </p:sp>
      <p:sp>
        <p:nvSpPr>
          <p:cNvPr id="8" name="">
            <a:extLst xmlns:a="http://schemas.openxmlformats.org/drawingml/2006/main">
              <a:ext uri="{FF2B5EF4-FFF2-40B4-BE49-F238E27FC236}">
                <a16:creationId xmlns:a16="http://schemas.microsoft.com/office/drawing/2014/main" id="{DD688CCB-CD27-4931-B474-3E67AF827CE3}"/>
              </a:ext>
            </a:extLst>
          </p:cNvPr>
          <p:cNvSpPr>
            <a:spLocks xmlns:a="http://schemas.openxmlformats.org/drawingml/2006/main" noGrp="1"/>
          </p:cNvSpPr>
          <p:nvPr/>
        </p:nvSpPr>
        <p:spPr>
          <a:xfrm xmlns:a="http://schemas.openxmlformats.org/drawingml/2006/main">
            <a:off x="8429625" y="401002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449"/>
                </a:solidFill>
                <a:latin typeface="Helvetica Neue"/>
                <a:ea typeface="Helvetica Neue"/>
                <a:cs typeface="Helvetica Neue"/>
              </a:defRPr>
            </a:pPr>
            <a:r>
              <a:rPr sz="2100" b="1">
                <a:solidFill>
                  <a:srgbClr val="183449"/>
                </a:solidFill>
                <a:latin typeface="Helvetica Neue"/>
                <a:ea typeface="Helvetica Neue"/>
                <a:cs typeface="Helvetica Neue"/>
              </a:rPr>
              <a:t>8/8 prefer hands-on practice</a:t>
            </a:r>
          </a:p>
        </p:txBody>
      </p:sp>
      <p:sp>
        <p:nvSpPr>
          <p:cNvPr id="9" name="">
            <a:extLst xmlns:a="http://schemas.openxmlformats.org/drawingml/2006/main">
              <a:ext uri="{FF2B5EF4-FFF2-40B4-BE49-F238E27FC236}">
                <a16:creationId xmlns:a16="http://schemas.microsoft.com/office/drawing/2014/main" id="{DFF51661-E706-43E2-AEC3-8339410EDC11}"/>
              </a:ext>
            </a:extLst>
          </p:cNvPr>
          <p:cNvSpPr>
            <a:spLocks xmlns:a="http://schemas.openxmlformats.org/drawingml/2006/main" noGrp="1"/>
          </p:cNvSpPr>
          <p:nvPr/>
        </p:nvSpPr>
        <p:spPr>
          <a:xfrm xmlns:a="http://schemas.openxmlformats.org/drawingml/2006/main">
            <a:off x="8429625" y="50196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449"/>
                </a:solidFill>
                <a:latin typeface="Helvetica Neue"/>
                <a:ea typeface="Helvetica Neue"/>
                <a:cs typeface="Helvetica Neue"/>
              </a:defRPr>
            </a:pPr>
            <a:r>
              <a:rPr sz="2100" b="1">
                <a:solidFill>
                  <a:srgbClr val="183449"/>
                </a:solidFill>
                <a:latin typeface="Helvetica Neue"/>
                <a:ea typeface="Helvetica Neue"/>
                <a:cs typeface="Helvetica Neue"/>
              </a:rPr>
              <a:t>7/8 cite family tuition pressure</a:t>
            </a:r>
          </a:p>
        </p:txBody>
      </p:sp>
      <p:sp>
        <p:nvSpPr>
          <p:cNvPr id="10" name="">
            <a:extLst xmlns:a="http://schemas.openxmlformats.org/drawingml/2006/main">
              <a:ext uri="{FF2B5EF4-FFF2-40B4-BE49-F238E27FC236}">
                <a16:creationId xmlns:a16="http://schemas.microsoft.com/office/drawing/2014/main" id="{3D13181B-9EEB-4157-82A3-261785C0B6C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BMS survey, Figures 4–6. Preferences and self-reports, not causal evidence.</a:t>
            </a:r>
          </a:p>
        </p:txBody>
      </p:sp>
    </p:spTree>
    <p:extLst>
      <p:ext uri="{BB962C8B-B14F-4D97-AF65-F5344CB8AC3E}">
        <p14:creationId xmlns:p14="http://schemas.microsoft.com/office/powerpoint/2010/main" val="371586247"/>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59E89D-FD59-441B-AFB8-A90CB95357AB}"/>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72E72AD8-D51D-4333-ACBF-2AEFD091EE5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Symptoms, causes and capability gaps</a:t>
            </a:r>
          </a:p>
        </p:txBody>
      </p:sp>
      <p:sp>
        <p:nvSpPr>
          <p:cNvPr id="3" name="">
            <a:extLst xmlns:a="http://schemas.openxmlformats.org/drawingml/2006/main">
              <a:ext uri="{FF2B5EF4-FFF2-40B4-BE49-F238E27FC236}">
                <a16:creationId xmlns:a16="http://schemas.microsoft.com/office/drawing/2014/main" id="{8A20D345-35FC-4BF4-8477-26975D49424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process explanations below are hypotheses to test against the reported journeys.</a:t>
            </a:r>
          </a:p>
        </p:txBody>
      </p:sp>
      <p:sp>
        <p:nvSpPr>
          <p:cNvPr id="4" name="">
            <a:extLst xmlns:a="http://schemas.openxmlformats.org/drawingml/2006/main">
              <a:ext uri="{FF2B5EF4-FFF2-40B4-BE49-F238E27FC236}">
                <a16:creationId xmlns:a16="http://schemas.microsoft.com/office/drawing/2014/main" id="{87F48D36-0A1F-4698-BD35-EF2D14B7FED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238375"/>
                <a:gridCol w="4438650"/>
                <a:gridCol w="4448175"/>
              </a:tblGrid>
              <a:tr h="495300">
                <a:tc>
                  <a:txBody>
                    <a:bodyPr/>
                    <a:lstStyle/>
                    <a:p>
                      <a:r>
                        <a:rPr sz="1650" b="1">
                          <a:solidFill>
                            <a:srgbClr val="FFFFFF"/>
                          </a:solidFill>
                          <a:latin typeface="Helvetica Neue"/>
                          <a:ea typeface="Helvetica Neue"/>
                          <a:cs typeface="Helvetica Neue"/>
                        </a:rPr>
                        <a:t>Diagnostic step</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CSE course registration</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BMS lab access</a:t>
                      </a:r>
                    </a:p>
                  </a:txBody>
                  <a:tcPr marL="91440" marR="91440" marT="45720" marB="45720">
                    <a:solidFill>
                      <a:srgbClr val="183449"/>
                    </a:solidFill>
                  </a:tcPr>
                </a:tc>
              </a:tr>
              <a:tr h="596265">
                <a:tc>
                  <a:txBody>
                    <a:bodyPr/>
                    <a:lstStyle/>
                    <a:p>
                      <a:r>
                        <a:rPr sz="1650" b="1">
                          <a:solidFill>
                            <a:srgbClr val="233746"/>
                          </a:solidFill>
                          <a:latin typeface="Helvetica Neue"/>
                          <a:ea typeface="Helvetica Neue"/>
                          <a:cs typeface="Helvetica Neue"/>
                        </a:rPr>
                        <a:t>Observed symptom</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Uncertainty that registration succeeded</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Insufficient practical time reported by 4/8</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Reported process</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Select courses, submit, check, email staff if unclear</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Request equipment/access, obtain approval, use lab</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Cause to test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Unclear confirmation and slow exception handling</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Approval friction, session capacity or supervision gaps</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Capability gap to test</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Reliable status, clear rules and exception ownership</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Availability data, coverage and clear access rules</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Potential impact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Repeated contact and registration rework</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Less practice or rushed sessions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C772830-B433-4314-A102-1F4613079C5F}"/>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Reported processes are simplified reconstructions. Root causes and impact magnitude remain unverified.</a:t>
            </a:r>
          </a:p>
        </p:txBody>
      </p:sp>
    </p:spTree>
    <p:extLst>
      <p:ext uri="{BB962C8B-B14F-4D97-AF65-F5344CB8AC3E}">
        <p14:creationId xmlns:p14="http://schemas.microsoft.com/office/powerpoint/2010/main" val="224829573"/>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F930A0-528A-4BFA-A632-3CAD50C60B8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ABA96995-F44E-4DBB-8315-3D344EE12785}"/>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Eight domains across BMS and CSE</a:t>
            </a:r>
          </a:p>
        </p:txBody>
      </p:sp>
      <p:sp>
        <p:nvSpPr>
          <p:cNvPr id="3" name="">
            <a:extLst xmlns:a="http://schemas.openxmlformats.org/drawingml/2006/main">
              <a:ext uri="{FF2B5EF4-FFF2-40B4-BE49-F238E27FC236}">
                <a16:creationId xmlns:a16="http://schemas.microsoft.com/office/drawing/2014/main" id="{5A41B3D5-EBB0-4BBF-8BA3-29F26BF7400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landscape comes first. Related journeys then form three candidates for assessment.</a:t>
            </a:r>
          </a:p>
        </p:txBody>
      </p:sp>
      <p:sp>
        <p:nvSpPr>
          <p:cNvPr id="4" name="">
            <a:extLst xmlns:a="http://schemas.openxmlformats.org/drawingml/2006/main">
              <a:ext uri="{FF2B5EF4-FFF2-40B4-BE49-F238E27FC236}">
                <a16:creationId xmlns:a16="http://schemas.microsoft.com/office/drawing/2014/main" id="{006F4AA5-11D7-422B-95DE-B33CB735AAC9}"/>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533400" y="2428875"/>
          <a:ext xmlns:a="http://schemas.openxmlformats.org/drawingml/2006/main" cx="11125200" cy="3619500"/>
        </p:xfrm>
        <a:graphic xmlns:a="http://schemas.openxmlformats.org/drawingml/2006/main">
          <a:graphicData uri="http://schemas.openxmlformats.org/drawingml/2006/table">
            <a:tbl>
              <a:tblPr/>
              <a:tblGrid>
                <a:gridCol w="4000500"/>
                <a:gridCol w="4476750"/>
                <a:gridCol w="2647950"/>
              </a:tblGrid>
              <a:tr h="495300">
                <a:tc>
                  <a:txBody>
                    <a:bodyPr/>
                    <a:lstStyle/>
                    <a:p>
                      <a:r>
                        <a:rPr sz="1575" b="1">
                          <a:solidFill>
                            <a:srgbClr val="FFFFFF"/>
                          </a:solidFill>
                          <a:latin typeface="Helvetica Neue"/>
                          <a:ea typeface="Helvetica Neue"/>
                          <a:cs typeface="Helvetica Neue"/>
                        </a:rPr>
                        <a:t>Operational domain</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End outcome</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Evidence</a:t>
                      </a:r>
                    </a:p>
                  </a:txBody>
                  <a:tcPr marL="91440" marR="91440" marT="45720" marB="45720">
                    <a:solidFill>
                      <a:srgbClr val="183449"/>
                    </a:solidFill>
                  </a:tcPr>
                </a:tc>
              </a:tr>
              <a:tr h="390525">
                <a:tc>
                  <a:txBody>
                    <a:bodyPr/>
                    <a:lstStyle/>
                    <a:p>
                      <a:r>
                        <a:rPr sz="1575" b="1">
                          <a:solidFill>
                            <a:srgbClr val="233746"/>
                          </a:solidFill>
                          <a:latin typeface="Helvetica Neue"/>
                          <a:ea typeface="Helvetica Neue"/>
                          <a:cs typeface="Helvetica Neue"/>
                        </a:rPr>
                        <a:t>Course planning and registration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Valid course selection confirmed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Academic advising</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Answer or referral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Thesis registration and supervision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Agreed milestones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Graduation clearance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Eligibility and exceptions resolved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Practical-resource access</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Practical session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Facility and equipment maintenance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Fault resolved and availability verified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Learning support</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Learning difficulty addressed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Career and research opportunities</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Guidance or application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A55150C9-44A9-4A4C-9A9E-66FDD51B5855}"/>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BMS survey and journey analyses.</a:t>
            </a:r>
          </a:p>
        </p:txBody>
      </p:sp>
    </p:spTree>
    <p:extLst>
      <p:ext uri="{BB962C8B-B14F-4D97-AF65-F5344CB8AC3E}">
        <p14:creationId xmlns:p14="http://schemas.microsoft.com/office/powerpoint/2010/main" val="983826243"/>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CD408-BD90-4CF4-BE63-8379CE46872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24C25391-C72A-4180-84E5-940509A579CD}"/>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Three curated transformation domains</a:t>
            </a:r>
          </a:p>
        </p:txBody>
      </p:sp>
      <p:sp>
        <p:nvSpPr>
          <p:cNvPr id="3" name="">
            <a:extLst xmlns:a="http://schemas.openxmlformats.org/drawingml/2006/main">
              <a:ext uri="{FF2B5EF4-FFF2-40B4-BE49-F238E27FC236}">
                <a16:creationId xmlns:a16="http://schemas.microsoft.com/office/drawing/2014/main" id="{02261FB2-F2B5-4CD3-9FBB-DBE86992DE2D}"/>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Selection reflects problem evidence, a clear outcome and connected activities across teams.</a:t>
            </a:r>
          </a:p>
        </p:txBody>
      </p:sp>
      <p:sp>
        <p:nvSpPr>
          <p:cNvPr id="4" name="">
            <a:extLst xmlns:a="http://schemas.openxmlformats.org/drawingml/2006/main">
              <a:ext uri="{FF2B5EF4-FFF2-40B4-BE49-F238E27FC236}">
                <a16:creationId xmlns:a16="http://schemas.microsoft.com/office/drawing/2014/main" id="{75786516-26D1-40D3-8BFD-D63E9A93A2BB}"/>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3667125"/>
                <a:gridCol w="3333750"/>
                <a:gridCol w="4124325"/>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Domains connected</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Reason for inclusion</a:t>
                      </a:r>
                    </a:p>
                  </a:txBody>
                  <a:tcPr marL="91440" marR="91440" marT="45720" marB="45720">
                    <a:solidFill>
                      <a:srgbClr val="183449"/>
                    </a:solidFill>
                  </a:tcPr>
                </a:tc>
              </a:tr>
              <a:tr h="914400">
                <a:tc>
                  <a:txBody>
                    <a:bodyPr/>
                    <a:lstStyle/>
                    <a:p>
                      <a:r>
                        <a:rPr sz="1800" b="1">
                          <a:solidFill>
                            <a:srgbClr val="233746"/>
                          </a:solidFill>
                          <a:latin typeface="Helvetica Neue"/>
                          <a:ea typeface="Helvetica Neue"/>
                          <a:cs typeface="Helvetica Neue"/>
                        </a:rPr>
                        <a:t>A  Student Support &amp; Academic Navigation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Advising, guidance and referral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Uneven access to guidance and repeated follow-up</a:t>
                      </a:r>
                    </a:p>
                  </a:txBody>
                  <a:tcPr marL="91440" marR="91440" marT="45720" marB="45720">
                    <a:solidFill>
                      <a:srgbClr val="FFFFFF"/>
                    </a:solidFill>
                  </a:tcPr>
                </a:tc>
              </a:tr>
              <a:tr h="914400">
                <a:tc>
                  <a:txBody>
                    <a:bodyPr/>
                    <a:lstStyle/>
                    <a:p>
                      <a:r>
                        <a:rPr sz="1800" b="1">
                          <a:solidFill>
                            <a:srgbClr val="233746"/>
                          </a:solidFill>
                          <a:latin typeface="Helvetica Neue"/>
                          <a:ea typeface="Helvetica Neue"/>
                          <a:cs typeface="Helvetica Neue"/>
                        </a:rPr>
                        <a:t>B  Practical Learning &amp; Resource Operations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Resource access and maintenance coordination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Lab-time concerns in BMS and computing constraints in CSE</a:t>
                      </a:r>
                    </a:p>
                  </a:txBody>
                  <a:tcPr marL="91440" marR="91440" marT="45720" marB="45720">
                    <a:solidFill>
                      <a:srgbClr val="EDF3F4"/>
                    </a:solidFill>
                  </a:tcPr>
                </a:tc>
              </a:tr>
              <a:tr h="914400">
                <a:tc>
                  <a:txBody>
                    <a:bodyPr/>
                    <a:lstStyle/>
                    <a:p>
                      <a:r>
                        <a:rPr sz="1800" b="1">
                          <a:solidFill>
                            <a:srgbClr val="233746"/>
                          </a:solidFill>
                          <a:latin typeface="Helvetica Neue"/>
                          <a:ea typeface="Helvetica Neue"/>
                          <a:cs typeface="Helvetica Neue"/>
                        </a:rPr>
                        <a:t>C  Academic Progression &amp; Milestone Management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Course planning, thesis and graduation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Friction at connected academic checkpoints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AA1A205-3A51-49A8-A125-7ADA8234C812}"/>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BMS support needs need further definition. C has stronger direct evidence in CSE.</a:t>
            </a:r>
          </a:p>
        </p:txBody>
      </p:sp>
    </p:spTree>
    <p:extLst>
      <p:ext uri="{BB962C8B-B14F-4D97-AF65-F5344CB8AC3E}">
        <p14:creationId xmlns:p14="http://schemas.microsoft.com/office/powerpoint/2010/main" val="121689440"/>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3C43218-BF7B-48CB-A3D2-2EA475E64FD8}"/>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267DF8BF-68F0-45EF-89E7-0A953B8CF783}"/>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Student Support &amp; Academic Navigation</a:t>
            </a:r>
          </a:p>
        </p:txBody>
      </p:sp>
      <p:sp>
        <p:nvSpPr>
          <p:cNvPr id="3" name="">
            <a:extLst xmlns:a="http://schemas.openxmlformats.org/drawingml/2006/main">
              <a:ext uri="{FF2B5EF4-FFF2-40B4-BE49-F238E27FC236}">
                <a16:creationId xmlns:a16="http://schemas.microsoft.com/office/drawing/2014/main" id="{51E11EAC-64DA-4990-9E03-50AC0D8967E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Students, advisors and support staff. A question ends with an answer or completed referral.</a:t>
            </a:r>
          </a:p>
        </p:txBody>
      </p:sp>
      <p:sp>
        <p:nvSpPr>
          <p:cNvPr id="4" name="">
            <a:extLst xmlns:a="http://schemas.openxmlformats.org/drawingml/2006/main">
              <a:ext uri="{FF2B5EF4-FFF2-40B4-BE49-F238E27FC236}">
                <a16:creationId xmlns:a16="http://schemas.microsoft.com/office/drawing/2014/main" id="{D89A1B05-C669-4FDB-AB5A-079F56CD7936}"/>
              </a:ext>
            </a:extLst>
          </p:cNvPr>
          <p:cNvSpPr>
            <a:spLocks xmlns:a="http://schemas.openxmlformats.org/drawingml/2006/main" noGrp="1"/>
          </p:cNvSpPr>
          <p:nvPr/>
        </p:nvSpPr>
        <p:spPr>
          <a:xfrm xmlns:a="http://schemas.openxmlformats.org/drawingml/2006/main">
            <a:off x="533400" y="237172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A641E"/>
                </a:solidFill>
                <a:latin typeface="Helvetica Neue"/>
                <a:ea typeface="Helvetica Neue"/>
                <a:cs typeface="Helvetica Neue"/>
              </a:defRPr>
            </a:pPr>
            <a:r>
              <a:rPr sz="1725" b="1">
                <a:solidFill>
                  <a:srgbClr val="AA641E"/>
                </a:solidFill>
                <a:latin typeface="Helvetica Neue"/>
                <a:ea typeface="Helvetica Neue"/>
                <a:cs typeface="Helvetica Neue"/>
              </a:rPr>
              <a:t>Friction: scattered guidance and repeated contact</a:t>
            </a:r>
          </a:p>
        </p:txBody>
      </p:sp>
      <p:sp>
        <p:nvSpPr>
          <p:cNvPr id="5" name="">
            <a:extLst xmlns:a="http://schemas.openxmlformats.org/drawingml/2006/main">
              <a:ext uri="{FF2B5EF4-FFF2-40B4-BE49-F238E27FC236}">
                <a16:creationId xmlns:a16="http://schemas.microsoft.com/office/drawing/2014/main" id="{1CC65F14-ED8E-4D7D-9187-A562BDD27D34}"/>
              </a:ext>
            </a:extLst>
          </p:cNvPr>
          <p:cNvSpPr>
            <a:spLocks xmlns:a="http://schemas.openxmlformats.org/drawingml/2006/main" noGrp="1"/>
          </p:cNvSpPr>
          <p:nvPr/>
        </p:nvSpPr>
        <p:spPr>
          <a:xfrm xmlns:a="http://schemas.openxmlformats.org/drawingml/2006/main">
            <a:off x="533400" y="2952750"/>
            <a:ext cx="1752600" cy="800100"/>
          </a:xfrm>
          <a:prstGeom xmlns:a="http://schemas.openxmlformats.org/drawingml/2006/main" prst="rect">
            <a:avLst/>
          </a:prstGeom>
          <a:solidFill xmlns:a="http://schemas.openxmlformats.org/drawingml/2006/main">
            <a:srgbClr val="E3F1F0"/>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Question</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raised</a:t>
            </a:r>
          </a:p>
        </p:txBody>
      </p:sp>
      <p:sp>
        <p:nvSpPr>
          <p:cNvPr id="6" name="">
            <a:extLst xmlns:a="http://schemas.openxmlformats.org/drawingml/2006/main">
              <a:ext uri="{FF2B5EF4-FFF2-40B4-BE49-F238E27FC236}">
                <a16:creationId xmlns:a16="http://schemas.microsoft.com/office/drawing/2014/main" id="{7D8FB3EA-ADBC-49F1-8D2A-B039B90D95EA}"/>
              </a:ext>
            </a:extLst>
          </p:cNvPr>
          <p:cNvSpPr>
            <a:spLocks xmlns:a="http://schemas.openxmlformats.org/drawingml/2006/main" noGrp="1"/>
          </p:cNvSpPr>
          <p:nvPr/>
        </p:nvSpPr>
        <p:spPr>
          <a:xfrm xmlns:a="http://schemas.openxmlformats.org/drawingml/2006/main">
            <a:off x="28575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Find relevant</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guidance</a:t>
            </a:r>
          </a:p>
        </p:txBody>
      </p:sp>
      <p:sp>
        <p:nvSpPr>
          <p:cNvPr id="7" name="">
            <a:extLst xmlns:a="http://schemas.openxmlformats.org/drawingml/2006/main">
              <a:ext uri="{FF2B5EF4-FFF2-40B4-BE49-F238E27FC236}">
                <a16:creationId xmlns:a16="http://schemas.microsoft.com/office/drawing/2014/main" id="{5DB1C1B7-1B59-41AF-8AEF-6E1ECE0F499D}"/>
              </a:ext>
            </a:extLst>
          </p:cNvPr>
          <p:cNvSpPr>
            <a:spLocks xmlns:a="http://schemas.openxmlformats.org/drawingml/2006/main" noGrp="1"/>
          </p:cNvSpPr>
          <p:nvPr/>
        </p:nvSpPr>
        <p:spPr>
          <a:xfrm xmlns:a="http://schemas.openxmlformats.org/drawingml/2006/main">
            <a:off x="51816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Clarify the</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question</a:t>
            </a:r>
          </a:p>
        </p:txBody>
      </p:sp>
      <p:sp>
        <p:nvSpPr>
          <p:cNvPr id="8" name="">
            <a:extLst xmlns:a="http://schemas.openxmlformats.org/drawingml/2006/main">
              <a:ext uri="{FF2B5EF4-FFF2-40B4-BE49-F238E27FC236}">
                <a16:creationId xmlns:a16="http://schemas.microsoft.com/office/drawing/2014/main" id="{9CD9FB54-065F-4775-AA6E-9ABB973111DD}"/>
              </a:ext>
            </a:extLst>
          </p:cNvPr>
          <p:cNvSpPr>
            <a:spLocks xmlns:a="http://schemas.openxmlformats.org/drawingml/2006/main" noGrp="1"/>
          </p:cNvSpPr>
          <p:nvPr/>
        </p:nvSpPr>
        <p:spPr>
          <a:xfrm xmlns:a="http://schemas.openxmlformats.org/drawingml/2006/main">
            <a:off x="75057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Can it be</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resolved?</a:t>
            </a:r>
          </a:p>
        </p:txBody>
      </p:sp>
      <p:sp>
        <p:nvSpPr>
          <p:cNvPr id="9" name="">
            <a:extLst xmlns:a="http://schemas.openxmlformats.org/drawingml/2006/main">
              <a:ext uri="{FF2B5EF4-FFF2-40B4-BE49-F238E27FC236}">
                <a16:creationId xmlns:a16="http://schemas.microsoft.com/office/drawing/2014/main" id="{217FBE7B-BF25-4305-AF5E-8569360E2379}"/>
              </a:ext>
            </a:extLst>
          </p:cNvPr>
          <p:cNvSpPr>
            <a:spLocks xmlns:a="http://schemas.openxmlformats.org/drawingml/2006/main" noGrp="1"/>
          </p:cNvSpPr>
          <p:nvPr/>
        </p:nvSpPr>
        <p:spPr>
          <a:xfrm xmlns:a="http://schemas.openxmlformats.org/drawingml/2006/main">
            <a:off x="9829800" y="2952750"/>
            <a:ext cx="1828800" cy="800100"/>
          </a:xfrm>
          <a:prstGeom xmlns:a="http://schemas.openxmlformats.org/drawingml/2006/main" prst="rect">
            <a:avLst/>
          </a:prstGeom>
          <a:solidFill xmlns:a="http://schemas.openxmlformats.org/drawingml/2006/main">
            <a:srgbClr val="E3F1F0"/>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Answer / referral</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confirmed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22860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46101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69342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6" name=""/>
          <p:cNvCxnSpPr>
            <a:stCxn xmlns:a="http://schemas.openxmlformats.org/drawingml/2006/main" id="8" idx="3"/>
            <a:endCxn xmlns:a="http://schemas.openxmlformats.org/drawingml/2006/main" id="9" idx="1"/>
          </p:cNvCxnSpPr>
          <p:nvPr/>
        </p:nvCxnSpPr>
        <p:spPr>
          <a:xfrm xmlns:a="http://schemas.openxmlformats.org/drawingml/2006/main">
            <a:off x="92583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sp>
        <p:nvSpPr>
          <p:cNvPr id="14" name="">
            <a:extLst xmlns:a="http://schemas.openxmlformats.org/drawingml/2006/main">
              <a:ext uri="{FF2B5EF4-FFF2-40B4-BE49-F238E27FC236}">
                <a16:creationId xmlns:a16="http://schemas.microsoft.com/office/drawing/2014/main" id="{C03E525C-C5D3-40F6-8BC6-C229D5235C83}"/>
              </a:ext>
            </a:extLst>
          </p:cNvPr>
          <p:cNvSpPr>
            <a:spLocks xmlns:a="http://schemas.openxmlformats.org/drawingml/2006/main" noGrp="1"/>
          </p:cNvSpPr>
          <p:nvPr/>
        </p:nvSpPr>
        <p:spPr>
          <a:xfrm xmlns:a="http://schemas.openxmlformats.org/drawingml/2006/main">
            <a:off x="9382125" y="26765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78A"/>
                </a:solidFill>
                <a:latin typeface="Helvetica Neue"/>
                <a:ea typeface="Helvetica Neue"/>
                <a:cs typeface="Helvetica Neue"/>
              </a:defRPr>
            </a:pPr>
            <a:r>
              <a:rPr sz="1350" b="1">
                <a:solidFill>
                  <a:srgbClr val="16878A"/>
                </a:solidFill>
                <a:latin typeface="Helvetica Neue"/>
                <a:ea typeface="Helvetica Neue"/>
                <a:cs typeface="Helvetica Neue"/>
              </a:rPr>
              <a:t>Yes</a:t>
            </a:r>
          </a:p>
        </p:txBody>
      </p:sp>
      <p:sp>
        <p:nvSpPr>
          <p:cNvPr id="15" name="">
            <a:extLst xmlns:a="http://schemas.openxmlformats.org/drawingml/2006/main">
              <a:ext uri="{FF2B5EF4-FFF2-40B4-BE49-F238E27FC236}">
                <a16:creationId xmlns:a16="http://schemas.microsoft.com/office/drawing/2014/main" id="{277A77C5-F856-40C1-902A-F5DD7C86E187}"/>
              </a:ext>
            </a:extLst>
          </p:cNvPr>
          <p:cNvSpPr>
            <a:spLocks xmlns:a="http://schemas.openxmlformats.org/drawingml/2006/main" noGrp="1"/>
          </p:cNvSpPr>
          <p:nvPr/>
        </p:nvSpPr>
        <p:spPr>
          <a:xfrm xmlns:a="http://schemas.openxmlformats.org/drawingml/2006/main">
            <a:off x="6315075" y="4219575"/>
            <a:ext cx="3619500" cy="581025"/>
          </a:xfrm>
          <a:prstGeom xmlns:a="http://schemas.openxmlformats.org/drawingml/2006/main" prst="rect">
            <a:avLst/>
          </a:prstGeom>
          <a:solidFill xmlns:a="http://schemas.openxmlformats.org/drawingml/2006/main">
            <a:srgbClr val="FFF4E8"/>
          </a:solidFill>
          <a:ln xmlns:a="http://schemas.openxmlformats.org/drawingml/2006/main" w="19050">
            <a:solidFill>
              <a:srgbClr val="AA641E"/>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AA641E"/>
                </a:solidFill>
                <a:latin typeface="Helvetica Neue"/>
                <a:ea typeface="Helvetica Neue"/>
                <a:cs typeface="Helvetica Neue"/>
              </a:defRPr>
            </a:pPr>
            <a:r>
              <a:rPr sz="1650" b="1">
                <a:solidFill>
                  <a:srgbClr val="AA641E"/>
                </a:solidFill>
                <a:latin typeface="Helvetica Neue"/>
                <a:ea typeface="Helvetica Neue"/>
                <a:cs typeface="Helvetica Neue"/>
              </a:rPr>
              <a:t>Route to staff and follow up</a:t>
            </a:r>
          </a:p>
        </p:txBody>
      </p:sp>
      <p:cxnSp>
        <p:nvCxnSpPr>
          <p:cNvPr id="39" name=""/>
          <p:cNvCxnSpPr>
            <a:stCxn xmlns:a="http://schemas.openxmlformats.org/drawingml/2006/main" id="8" idx="2"/>
            <a:endCxn xmlns:a="http://schemas.openxmlformats.org/drawingml/2006/main" id="15" idx="0"/>
          </p:cNvCxnSpPr>
          <p:nvPr/>
        </p:nvCxnSpPr>
        <p:spPr>
          <a:xfrm xmlns:a="http://schemas.openxmlformats.org/drawingml/2006/main" flipH="1">
            <a:off x="8124825" y="3752850"/>
            <a:ext cx="257175" cy="466725"/>
          </a:xfrm>
          <a:prstGeom xmlns:a="http://schemas.openxmlformats.org/drawingml/2006/main" prst="bentConnector4">
            <a:avLst>
              <a:gd name="adj1" fmla="val 0"/>
              <a:gd name="adj2" fmla="val 50000"/>
            </a:avLst>
          </a:prstGeom>
          <a:ln xmlns:a="http://schemas.openxmlformats.org/drawingml/2006/main" w="23813">
            <a:solidFill>
              <a:srgbClr val="AA641E"/>
            </a:solidFill>
            <a:tailEnd type="triangle" w="sm" len="sm"/>
          </a:ln>
        </p:spPr>
      </p:cxnSp>
      <p:cxnSp>
        <p:nvCxnSpPr>
          <p:cNvPr id="40" name=""/>
          <p:cNvCxnSpPr>
            <a:stCxn xmlns:a="http://schemas.openxmlformats.org/drawingml/2006/main" id="15" idx="3"/>
            <a:endCxn xmlns:a="http://schemas.openxmlformats.org/drawingml/2006/main" id="9" idx="2"/>
          </p:cNvCxnSpPr>
          <p:nvPr/>
        </p:nvCxnSpPr>
        <p:spPr>
          <a:xfrm xmlns:a="http://schemas.openxmlformats.org/drawingml/2006/main" flipV="1">
            <a:off x="9934575" y="3752850"/>
            <a:ext cx="809625" cy="757238"/>
          </a:xfrm>
          <a:prstGeom xmlns:a="http://schemas.openxmlformats.org/drawingml/2006/main" prst="bentConnector2">
            <a:avLst/>
          </a:prstGeom>
          <a:ln xmlns:a="http://schemas.openxmlformats.org/drawingml/2006/main" w="23813">
            <a:solidFill>
              <a:srgbClr val="AA641E"/>
            </a:solidFill>
            <a:tailEnd type="triangle" w="sm" len="sm"/>
          </a:ln>
        </p:spPr>
      </p:cxnSp>
      <p:sp>
        <p:nvSpPr>
          <p:cNvPr id="18" name="">
            <a:extLst xmlns:a="http://schemas.openxmlformats.org/drawingml/2006/main">
              <a:ext uri="{FF2B5EF4-FFF2-40B4-BE49-F238E27FC236}">
                <a16:creationId xmlns:a16="http://schemas.microsoft.com/office/drawing/2014/main" id="{36070F77-B61E-417F-B615-7F26D0FA7A11}"/>
              </a:ext>
            </a:extLst>
          </p:cNvPr>
          <p:cNvSpPr>
            <a:spLocks xmlns:a="http://schemas.openxmlformats.org/drawingml/2006/main" noGrp="1"/>
          </p:cNvSpPr>
          <p:nvPr/>
        </p:nvSpPr>
        <p:spPr>
          <a:xfrm xmlns:a="http://schemas.openxmlformats.org/drawingml/2006/main">
            <a:off x="5048250" y="38576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A641E"/>
                </a:solidFill>
                <a:latin typeface="Helvetica Neue"/>
                <a:ea typeface="Helvetica Neue"/>
                <a:cs typeface="Helvetica Neue"/>
              </a:defRPr>
            </a:pPr>
            <a:r>
              <a:rPr sz="1350" b="1">
                <a:solidFill>
                  <a:srgbClr val="AA641E"/>
                </a:solidFill>
                <a:latin typeface="Helvetica Neue"/>
                <a:ea typeface="Helvetica Neue"/>
                <a:cs typeface="Helvetica Neue"/>
              </a:rPr>
              <a:t>Needs help / action</a:t>
            </a:r>
          </a:p>
        </p:txBody>
      </p:sp>
      <p:sp>
        <p:nvSpPr>
          <p:cNvPr id="19" name="">
            <a:extLst xmlns:a="http://schemas.openxmlformats.org/drawingml/2006/main">
              <a:ext uri="{FF2B5EF4-FFF2-40B4-BE49-F238E27FC236}">
                <a16:creationId xmlns:a16="http://schemas.microsoft.com/office/drawing/2014/main" id="{AC7AFCF4-C2CE-4208-A50F-272570E9A88B}"/>
              </a:ext>
            </a:extLst>
          </p:cNvPr>
          <p:cNvSpPr>
            <a:spLocks xmlns:a="http://schemas.openxmlformats.org/drawingml/2006/main" noGrp="1"/>
          </p:cNvSpPr>
          <p:nvPr/>
        </p:nvSpPr>
        <p:spPr>
          <a:xfrm xmlns:a="http://schemas.openxmlformats.org/drawingml/2006/main">
            <a:off x="533400" y="50101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CSE interview: one student recalled a 4–5 day advising reply.</a:t>
            </a:r>
          </a:p>
        </p:txBody>
      </p:sp>
      <p:sp>
        <p:nvSpPr>
          <p:cNvPr id="20" name="">
            <a:extLst xmlns:a="http://schemas.openxmlformats.org/drawingml/2006/main">
              <a:ext uri="{FF2B5EF4-FFF2-40B4-BE49-F238E27FC236}">
                <a16:creationId xmlns:a16="http://schemas.microsoft.com/office/drawing/2014/main" id="{1F444C73-A516-441A-ACEC-12685DD2A32F}"/>
              </a:ext>
            </a:extLst>
          </p:cNvPr>
          <p:cNvSpPr>
            <a:spLocks xmlns:a="http://schemas.openxmlformats.org/drawingml/2006/main" noGrp="1"/>
          </p:cNvSpPr>
          <p:nvPr/>
        </p:nvSpPr>
        <p:spPr>
          <a:xfrm xmlns:a="http://schemas.openxmlformats.org/drawingml/2006/main">
            <a:off x="533400" y="5429250"/>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180"/>
                </a:solidFill>
                <a:latin typeface="Helvetica Neue"/>
                <a:ea typeface="Helvetica Neue"/>
                <a:cs typeface="Helvetica Neue"/>
              </a:defRPr>
            </a:pPr>
            <a:r>
              <a:rPr sz="1575" b="0">
                <a:solidFill>
                  <a:srgbClr val="617180"/>
                </a:solidFill>
                <a:latin typeface="Helvetica Neue"/>
                <a:ea typeface="Helvetica Neue"/>
                <a:cs typeface="Helvetica Neue"/>
              </a:rPr>
              <a:t>Outside scope: academic decisions, clinical counselling, formal eligibility checks</a:t>
            </a:r>
          </a:p>
        </p:txBody>
      </p:sp>
      <p:sp>
        <p:nvSpPr>
          <p:cNvPr id="21" name="">
            <a:extLst xmlns:a="http://schemas.openxmlformats.org/drawingml/2006/main">
              <a:ext uri="{FF2B5EF4-FFF2-40B4-BE49-F238E27FC236}">
                <a16:creationId xmlns:a16="http://schemas.microsoft.com/office/drawing/2014/main" id="{7980A981-BFD9-4F42-A09B-CF460073A5AA}"/>
              </a:ext>
            </a:extLst>
          </p:cNvPr>
          <p:cNvSpPr>
            <a:spLocks xmlns:a="http://schemas.openxmlformats.org/drawingml/2006/main" noGrp="1"/>
          </p:cNvSpPr>
          <p:nvPr/>
        </p:nvSpPr>
        <p:spPr>
          <a:xfrm xmlns:a="http://schemas.openxmlformats.org/drawingml/2006/main">
            <a:off x="533400" y="57816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180"/>
                </a:solidFill>
                <a:latin typeface="Helvetica Neue"/>
                <a:ea typeface="Helvetica Neue"/>
                <a:cs typeface="Helvetica Neue"/>
              </a:defRPr>
            </a:pPr>
            <a:r>
              <a:rPr sz="1575" b="0">
                <a:solidFill>
                  <a:srgbClr val="617180"/>
                </a:solidFill>
                <a:latin typeface="Helvetica Neue"/>
                <a:ea typeface="Helvetica Neue"/>
                <a:cs typeface="Helvetica Neue"/>
              </a:rPr>
              <a:t>Measures: resolution time, repeat contacts, unresolved cases, service use</a:t>
            </a:r>
          </a:p>
        </p:txBody>
      </p:sp>
      <p:sp>
        <p:nvSpPr>
          <p:cNvPr id="22" name="">
            <a:extLst xmlns:a="http://schemas.openxmlformats.org/drawingml/2006/main">
              <a:ext uri="{FF2B5EF4-FFF2-40B4-BE49-F238E27FC236}">
                <a16:creationId xmlns:a16="http://schemas.microsoft.com/office/drawing/2014/main" id="{F7151AD2-B31F-468F-8CD0-B0F5532F65C1}"/>
              </a:ext>
            </a:extLst>
          </p:cNvPr>
          <p:cNvSpPr>
            <a:spLocks xmlns:a="http://schemas.openxmlformats.org/drawingml/2006/main" noGrp="1"/>
          </p:cNvSpPr>
          <p:nvPr/>
        </p:nvSpPr>
        <p:spPr>
          <a:xfrm xmlns:a="http://schemas.openxmlformats.org/drawingml/2006/main">
            <a:off x="533400" y="61912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research. Reconstructed flow for validation. Measures have no verified baseline.</a:t>
            </a:r>
          </a:p>
        </p:txBody>
      </p:sp>
      <p:sp>
        <p:nvSpPr>
          <p:cNvPr id="23" name="">
            <a:extLst xmlns:a="http://schemas.openxmlformats.org/drawingml/2006/main">
              <a:ext uri="{FF2B5EF4-FFF2-40B4-BE49-F238E27FC236}">
                <a16:creationId xmlns:a16="http://schemas.microsoft.com/office/drawing/2014/main" id="{EB2A22D6-1675-46AC-BE32-11BBF176CB3F}"/>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09</a:t>
            </a:r>
          </a:p>
        </p:txBody>
      </p:sp>
    </p:spTree>
    <p:extLst>
      <p:ext uri="{BB962C8B-B14F-4D97-AF65-F5344CB8AC3E}">
        <p14:creationId xmlns:p14="http://schemas.microsoft.com/office/powerpoint/2010/main" val="646163766"/>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5093C1C-3F19-4183-B892-73264271ACC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DB2C5306-C222-42C5-BE57-755B2F2AA368}"/>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 Practical Learning &amp; Resource Operations</a:t>
            </a:r>
          </a:p>
        </p:txBody>
      </p:sp>
      <p:sp>
        <p:nvSpPr>
          <p:cNvPr id="3" name="">
            <a:extLst xmlns:a="http://schemas.openxmlformats.org/drawingml/2006/main">
              <a:ext uri="{FF2B5EF4-FFF2-40B4-BE49-F238E27FC236}">
                <a16:creationId xmlns:a16="http://schemas.microsoft.com/office/drawing/2014/main" id="{64D0FBEF-B085-4F0A-A27A-957546124FF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Students, lecturers and lab staff. A practical need ends with a completed session and usable resources.</a:t>
            </a:r>
          </a:p>
        </p:txBody>
      </p:sp>
      <p:sp>
        <p:nvSpPr>
          <p:cNvPr id="4" name="">
            <a:extLst xmlns:a="http://schemas.openxmlformats.org/drawingml/2006/main">
              <a:ext uri="{FF2B5EF4-FFF2-40B4-BE49-F238E27FC236}">
                <a16:creationId xmlns:a16="http://schemas.microsoft.com/office/drawing/2014/main" id="{F710B6B3-1639-4E06-AC46-85B93F23AD57}"/>
              </a:ext>
            </a:extLst>
          </p:cNvPr>
          <p:cNvSpPr>
            <a:spLocks xmlns:a="http://schemas.openxmlformats.org/drawingml/2006/main" noGrp="1"/>
          </p:cNvSpPr>
          <p:nvPr/>
        </p:nvSpPr>
        <p:spPr>
          <a:xfrm xmlns:a="http://schemas.openxmlformats.org/drawingml/2006/main">
            <a:off x="533400" y="237172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A641E"/>
                </a:solidFill>
                <a:latin typeface="Helvetica Neue"/>
                <a:ea typeface="Helvetica Neue"/>
                <a:cs typeface="Helvetica Neue"/>
              </a:defRPr>
            </a:pPr>
            <a:r>
              <a:rPr sz="1725" b="1">
                <a:solidFill>
                  <a:srgbClr val="AA641E"/>
                </a:solidFill>
                <a:latin typeface="Helvetica Neue"/>
                <a:ea typeface="Helvetica Neue"/>
                <a:cs typeface="Helvetica Neue"/>
              </a:rPr>
              <a:t>Constraint: availability, supervision and physical conditions</a:t>
            </a:r>
          </a:p>
        </p:txBody>
      </p:sp>
      <p:sp>
        <p:nvSpPr>
          <p:cNvPr id="5" name="">
            <a:extLst xmlns:a="http://schemas.openxmlformats.org/drawingml/2006/main">
              <a:ext uri="{FF2B5EF4-FFF2-40B4-BE49-F238E27FC236}">
                <a16:creationId xmlns:a16="http://schemas.microsoft.com/office/drawing/2014/main" id="{514C70E3-8FB6-4314-9858-7DB20E05E907}"/>
              </a:ext>
            </a:extLst>
          </p:cNvPr>
          <p:cNvSpPr>
            <a:spLocks xmlns:a="http://schemas.openxmlformats.org/drawingml/2006/main" noGrp="1"/>
          </p:cNvSpPr>
          <p:nvPr/>
        </p:nvSpPr>
        <p:spPr>
          <a:xfrm xmlns:a="http://schemas.openxmlformats.org/drawingml/2006/main">
            <a:off x="533400" y="2952750"/>
            <a:ext cx="1752600" cy="800100"/>
          </a:xfrm>
          <a:prstGeom xmlns:a="http://schemas.openxmlformats.org/drawingml/2006/main" prst="rect">
            <a:avLst/>
          </a:prstGeom>
          <a:solidFill xmlns:a="http://schemas.openxmlformats.org/drawingml/2006/main">
            <a:srgbClr val="E3F1F0"/>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Practical need</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identified</a:t>
            </a:r>
          </a:p>
        </p:txBody>
      </p:sp>
      <p:sp>
        <p:nvSpPr>
          <p:cNvPr id="6" name="">
            <a:extLst xmlns:a="http://schemas.openxmlformats.org/drawingml/2006/main">
              <a:ext uri="{FF2B5EF4-FFF2-40B4-BE49-F238E27FC236}">
                <a16:creationId xmlns:a16="http://schemas.microsoft.com/office/drawing/2014/main" id="{185E7417-F049-4FE8-B1FB-ABF0550235F3}"/>
              </a:ext>
            </a:extLst>
          </p:cNvPr>
          <p:cNvSpPr>
            <a:spLocks xmlns:a="http://schemas.openxmlformats.org/drawingml/2006/main" noGrp="1"/>
          </p:cNvSpPr>
          <p:nvPr/>
        </p:nvSpPr>
        <p:spPr>
          <a:xfrm xmlns:a="http://schemas.openxmlformats.org/drawingml/2006/main">
            <a:off x="28575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Allocate time</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and resources</a:t>
            </a:r>
          </a:p>
        </p:txBody>
      </p:sp>
      <p:sp>
        <p:nvSpPr>
          <p:cNvPr id="7" name="">
            <a:extLst xmlns:a="http://schemas.openxmlformats.org/drawingml/2006/main">
              <a:ext uri="{FF2B5EF4-FFF2-40B4-BE49-F238E27FC236}">
                <a16:creationId xmlns:a16="http://schemas.microsoft.com/office/drawing/2014/main" id="{BFF8B9BF-805C-4422-96BE-6EA5693CB1AC}"/>
              </a:ext>
            </a:extLst>
          </p:cNvPr>
          <p:cNvSpPr>
            <a:spLocks xmlns:a="http://schemas.openxmlformats.org/drawingml/2006/main" noGrp="1"/>
          </p:cNvSpPr>
          <p:nvPr/>
        </p:nvSpPr>
        <p:spPr>
          <a:xfrm xmlns:a="http://schemas.openxmlformats.org/drawingml/2006/main">
            <a:off x="51816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Check access /</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supervision</a:t>
            </a:r>
          </a:p>
        </p:txBody>
      </p:sp>
      <p:sp>
        <p:nvSpPr>
          <p:cNvPr id="8" name="">
            <a:extLst xmlns:a="http://schemas.openxmlformats.org/drawingml/2006/main">
              <a:ext uri="{FF2B5EF4-FFF2-40B4-BE49-F238E27FC236}">
                <a16:creationId xmlns:a16="http://schemas.microsoft.com/office/drawing/2014/main" id="{45566D3F-A3A0-4EE3-AC07-9598AE9106F1}"/>
              </a:ext>
            </a:extLst>
          </p:cNvPr>
          <p:cNvSpPr>
            <a:spLocks xmlns:a="http://schemas.openxmlformats.org/drawingml/2006/main" noGrp="1"/>
          </p:cNvSpPr>
          <p:nvPr/>
        </p:nvSpPr>
        <p:spPr>
          <a:xfrm xmlns:a="http://schemas.openxmlformats.org/drawingml/2006/main">
            <a:off x="75057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Resources</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ready?</a:t>
            </a:r>
          </a:p>
        </p:txBody>
      </p:sp>
      <p:sp>
        <p:nvSpPr>
          <p:cNvPr id="9" name="">
            <a:extLst xmlns:a="http://schemas.openxmlformats.org/drawingml/2006/main">
              <a:ext uri="{FF2B5EF4-FFF2-40B4-BE49-F238E27FC236}">
                <a16:creationId xmlns:a16="http://schemas.microsoft.com/office/drawing/2014/main" id="{6C200D75-EC47-4944-ADDF-AEA827E68F0C}"/>
              </a:ext>
            </a:extLst>
          </p:cNvPr>
          <p:cNvSpPr>
            <a:spLocks xmlns:a="http://schemas.openxmlformats.org/drawingml/2006/main" noGrp="1"/>
          </p:cNvSpPr>
          <p:nvPr/>
        </p:nvSpPr>
        <p:spPr>
          <a:xfrm xmlns:a="http://schemas.openxmlformats.org/drawingml/2006/main">
            <a:off x="9829800" y="2952750"/>
            <a:ext cx="1828800" cy="800100"/>
          </a:xfrm>
          <a:prstGeom xmlns:a="http://schemas.openxmlformats.org/drawingml/2006/main" prst="rect">
            <a:avLst/>
          </a:prstGeom>
          <a:solidFill xmlns:a="http://schemas.openxmlformats.org/drawingml/2006/main">
            <a:srgbClr val="E3F1F0"/>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Session done</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Items returned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22860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46101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69342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6" name=""/>
          <p:cNvCxnSpPr>
            <a:stCxn xmlns:a="http://schemas.openxmlformats.org/drawingml/2006/main" id="8" idx="3"/>
            <a:endCxn xmlns:a="http://schemas.openxmlformats.org/drawingml/2006/main" id="9" idx="1"/>
          </p:cNvCxnSpPr>
          <p:nvPr/>
        </p:nvCxnSpPr>
        <p:spPr>
          <a:xfrm xmlns:a="http://schemas.openxmlformats.org/drawingml/2006/main">
            <a:off x="92583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sp>
        <p:nvSpPr>
          <p:cNvPr id="14" name="">
            <a:extLst xmlns:a="http://schemas.openxmlformats.org/drawingml/2006/main">
              <a:ext uri="{FF2B5EF4-FFF2-40B4-BE49-F238E27FC236}">
                <a16:creationId xmlns:a16="http://schemas.microsoft.com/office/drawing/2014/main" id="{2087E353-CFA8-4957-A832-CAD6320F1364}"/>
              </a:ext>
            </a:extLst>
          </p:cNvPr>
          <p:cNvSpPr>
            <a:spLocks xmlns:a="http://schemas.openxmlformats.org/drawingml/2006/main" noGrp="1"/>
          </p:cNvSpPr>
          <p:nvPr/>
        </p:nvSpPr>
        <p:spPr>
          <a:xfrm xmlns:a="http://schemas.openxmlformats.org/drawingml/2006/main">
            <a:off x="9382125" y="26765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78A"/>
                </a:solidFill>
                <a:latin typeface="Helvetica Neue"/>
                <a:ea typeface="Helvetica Neue"/>
                <a:cs typeface="Helvetica Neue"/>
              </a:defRPr>
            </a:pPr>
            <a:r>
              <a:rPr sz="1350" b="1">
                <a:solidFill>
                  <a:srgbClr val="16878A"/>
                </a:solidFill>
                <a:latin typeface="Helvetica Neue"/>
                <a:ea typeface="Helvetica Neue"/>
                <a:cs typeface="Helvetica Neue"/>
              </a:rPr>
              <a:t>Yes</a:t>
            </a:r>
          </a:p>
        </p:txBody>
      </p:sp>
      <p:sp>
        <p:nvSpPr>
          <p:cNvPr id="15" name="">
            <a:extLst xmlns:a="http://schemas.openxmlformats.org/drawingml/2006/main">
              <a:ext uri="{FF2B5EF4-FFF2-40B4-BE49-F238E27FC236}">
                <a16:creationId xmlns:a16="http://schemas.microsoft.com/office/drawing/2014/main" id="{DFDB8A73-7761-48BC-B553-6C4AB865582B}"/>
              </a:ext>
            </a:extLst>
          </p:cNvPr>
          <p:cNvSpPr>
            <a:spLocks xmlns:a="http://schemas.openxmlformats.org/drawingml/2006/main" noGrp="1"/>
          </p:cNvSpPr>
          <p:nvPr/>
        </p:nvSpPr>
        <p:spPr>
          <a:xfrm xmlns:a="http://schemas.openxmlformats.org/drawingml/2006/main">
            <a:off x="6315075" y="4219575"/>
            <a:ext cx="3619500" cy="581025"/>
          </a:xfrm>
          <a:prstGeom xmlns:a="http://schemas.openxmlformats.org/drawingml/2006/main" prst="rect">
            <a:avLst/>
          </a:prstGeom>
          <a:solidFill xmlns:a="http://schemas.openxmlformats.org/drawingml/2006/main">
            <a:srgbClr val="FFF4E8"/>
          </a:solidFill>
          <a:ln xmlns:a="http://schemas.openxmlformats.org/drawingml/2006/main" w="19050">
            <a:solidFill>
              <a:srgbClr val="AA641E"/>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AA641E"/>
                </a:solidFill>
                <a:latin typeface="Helvetica Neue"/>
                <a:ea typeface="Helvetica Neue"/>
                <a:cs typeface="Helvetica Neue"/>
              </a:defRPr>
            </a:pPr>
            <a:r>
              <a:rPr sz="1650" b="1">
                <a:solidFill>
                  <a:srgbClr val="AA641E"/>
                </a:solidFill>
                <a:latin typeface="Helvetica Neue"/>
                <a:ea typeface="Helvetica Neue"/>
                <a:cs typeface="Helvetica Neue"/>
              </a:rPr>
              <a:t>Arrange supervision / maintenance</a:t>
            </a:r>
          </a:p>
        </p:txBody>
      </p:sp>
      <p:cxnSp>
        <p:nvCxnSpPr>
          <p:cNvPr id="39" name=""/>
          <p:cNvCxnSpPr>
            <a:stCxn xmlns:a="http://schemas.openxmlformats.org/drawingml/2006/main" id="8" idx="2"/>
            <a:endCxn xmlns:a="http://schemas.openxmlformats.org/drawingml/2006/main" id="15" idx="0"/>
          </p:cNvCxnSpPr>
          <p:nvPr/>
        </p:nvCxnSpPr>
        <p:spPr>
          <a:xfrm xmlns:a="http://schemas.openxmlformats.org/drawingml/2006/main" flipH="1">
            <a:off x="8124825" y="3752850"/>
            <a:ext cx="257175" cy="466725"/>
          </a:xfrm>
          <a:prstGeom xmlns:a="http://schemas.openxmlformats.org/drawingml/2006/main" prst="bentConnector4">
            <a:avLst>
              <a:gd name="adj1" fmla="val 0"/>
              <a:gd name="adj2" fmla="val 50000"/>
            </a:avLst>
          </a:prstGeom>
          <a:ln xmlns:a="http://schemas.openxmlformats.org/drawingml/2006/main" w="23813">
            <a:solidFill>
              <a:srgbClr val="AA641E"/>
            </a:solidFill>
            <a:tailEnd type="triangle" w="sm" len="sm"/>
          </a:ln>
        </p:spPr>
      </p:cxnSp>
      <p:cxnSp>
        <p:nvCxnSpPr>
          <p:cNvPr id="40" name=""/>
          <p:cNvCxnSpPr>
            <a:stCxn xmlns:a="http://schemas.openxmlformats.org/drawingml/2006/main" id="15" idx="3"/>
            <a:endCxn xmlns:a="http://schemas.openxmlformats.org/drawingml/2006/main" id="9" idx="2"/>
          </p:cNvCxnSpPr>
          <p:nvPr/>
        </p:nvCxnSpPr>
        <p:spPr>
          <a:xfrm xmlns:a="http://schemas.openxmlformats.org/drawingml/2006/main" flipV="1">
            <a:off x="9934575" y="3752850"/>
            <a:ext cx="809625" cy="757238"/>
          </a:xfrm>
          <a:prstGeom xmlns:a="http://schemas.openxmlformats.org/drawingml/2006/main" prst="bentConnector2">
            <a:avLst/>
          </a:prstGeom>
          <a:ln xmlns:a="http://schemas.openxmlformats.org/drawingml/2006/main" w="23813">
            <a:solidFill>
              <a:srgbClr val="AA641E"/>
            </a:solidFill>
            <a:tailEnd type="triangle" w="sm" len="sm"/>
          </a:ln>
        </p:spPr>
      </p:cxnSp>
      <p:sp>
        <p:nvSpPr>
          <p:cNvPr id="18" name="">
            <a:extLst xmlns:a="http://schemas.openxmlformats.org/drawingml/2006/main">
              <a:ext uri="{FF2B5EF4-FFF2-40B4-BE49-F238E27FC236}">
                <a16:creationId xmlns:a16="http://schemas.microsoft.com/office/drawing/2014/main" id="{1C58439A-7BB5-4ADB-A43F-5DE91F4970D8}"/>
              </a:ext>
            </a:extLst>
          </p:cNvPr>
          <p:cNvSpPr>
            <a:spLocks xmlns:a="http://schemas.openxmlformats.org/drawingml/2006/main" noGrp="1"/>
          </p:cNvSpPr>
          <p:nvPr/>
        </p:nvSpPr>
        <p:spPr>
          <a:xfrm xmlns:a="http://schemas.openxmlformats.org/drawingml/2006/main">
            <a:off x="5048250" y="38576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A641E"/>
                </a:solidFill>
                <a:latin typeface="Helvetica Neue"/>
                <a:ea typeface="Helvetica Neue"/>
                <a:cs typeface="Helvetica Neue"/>
              </a:defRPr>
            </a:pPr>
            <a:r>
              <a:rPr sz="1350" b="1">
                <a:solidFill>
                  <a:srgbClr val="AA641E"/>
                </a:solidFill>
                <a:latin typeface="Helvetica Neue"/>
                <a:ea typeface="Helvetica Neue"/>
                <a:cs typeface="Helvetica Neue"/>
              </a:rPr>
              <a:t>Needs help / action</a:t>
            </a:r>
          </a:p>
        </p:txBody>
      </p:sp>
      <p:sp>
        <p:nvSpPr>
          <p:cNvPr id="19" name="">
            <a:extLst xmlns:a="http://schemas.openxmlformats.org/drawingml/2006/main">
              <a:ext uri="{FF2B5EF4-FFF2-40B4-BE49-F238E27FC236}">
                <a16:creationId xmlns:a16="http://schemas.microsoft.com/office/drawing/2014/main" id="{4E76BBCC-6110-4C14-8264-8047D8F3D1CE}"/>
              </a:ext>
            </a:extLst>
          </p:cNvPr>
          <p:cNvSpPr>
            <a:spLocks xmlns:a="http://schemas.openxmlformats.org/drawingml/2006/main" noGrp="1"/>
          </p:cNvSpPr>
          <p:nvPr/>
        </p:nvSpPr>
        <p:spPr>
          <a:xfrm xmlns:a="http://schemas.openxmlformats.org/drawingml/2006/main">
            <a:off x="533400" y="50101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BMS survey: 4/8 report insufficient practice time. 7/8 report heat effects.</a:t>
            </a:r>
          </a:p>
        </p:txBody>
      </p:sp>
      <p:sp>
        <p:nvSpPr>
          <p:cNvPr id="20" name="">
            <a:extLst xmlns:a="http://schemas.openxmlformats.org/drawingml/2006/main">
              <a:ext uri="{FF2B5EF4-FFF2-40B4-BE49-F238E27FC236}">
                <a16:creationId xmlns:a16="http://schemas.microsoft.com/office/drawing/2014/main" id="{9E881A2E-DF11-44F5-835D-51695ACBBA36}"/>
              </a:ext>
            </a:extLst>
          </p:cNvPr>
          <p:cNvSpPr>
            <a:spLocks xmlns:a="http://schemas.openxmlformats.org/drawingml/2006/main" noGrp="1"/>
          </p:cNvSpPr>
          <p:nvPr/>
        </p:nvSpPr>
        <p:spPr>
          <a:xfrm xmlns:a="http://schemas.openxmlformats.org/drawingml/2006/main">
            <a:off x="533400" y="5429250"/>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180"/>
                </a:solidFill>
                <a:latin typeface="Helvetica Neue"/>
                <a:ea typeface="Helvetica Neue"/>
                <a:cs typeface="Helvetica Neue"/>
              </a:defRPr>
            </a:pPr>
            <a:r>
              <a:rPr sz="1575" b="0">
                <a:solidFill>
                  <a:srgbClr val="617180"/>
                </a:solidFill>
                <a:latin typeface="Helvetica Neue"/>
                <a:ea typeface="Helvetica Neue"/>
                <a:cs typeface="Helvetica Neue"/>
              </a:rPr>
              <a:t>Outside scope: curriculum redesign and approval of major capital upgrades</a:t>
            </a:r>
          </a:p>
        </p:txBody>
      </p:sp>
      <p:sp>
        <p:nvSpPr>
          <p:cNvPr id="21" name="">
            <a:extLst xmlns:a="http://schemas.openxmlformats.org/drawingml/2006/main">
              <a:ext uri="{FF2B5EF4-FFF2-40B4-BE49-F238E27FC236}">
                <a16:creationId xmlns:a16="http://schemas.microsoft.com/office/drawing/2014/main" id="{2E8202A3-084D-4096-9768-074B9A4F6811}"/>
              </a:ext>
            </a:extLst>
          </p:cNvPr>
          <p:cNvSpPr>
            <a:spLocks xmlns:a="http://schemas.openxmlformats.org/drawingml/2006/main" noGrp="1"/>
          </p:cNvSpPr>
          <p:nvPr/>
        </p:nvSpPr>
        <p:spPr>
          <a:xfrm xmlns:a="http://schemas.openxmlformats.org/drawingml/2006/main">
            <a:off x="533400" y="57816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180"/>
                </a:solidFill>
                <a:latin typeface="Helvetica Neue"/>
                <a:ea typeface="Helvetica Neue"/>
                <a:cs typeface="Helvetica Neue"/>
              </a:defRPr>
            </a:pPr>
            <a:r>
              <a:rPr sz="1575" b="0">
                <a:solidFill>
                  <a:srgbClr val="617180"/>
                </a:solidFill>
                <a:latin typeface="Helvetica Neue"/>
                <a:ea typeface="Helvetica Neue"/>
                <a:cs typeface="Helvetica Neue"/>
              </a:rPr>
              <a:t>Measures: fulfilled requests, practical hours, utilisation, equipment downtime</a:t>
            </a:r>
          </a:p>
        </p:txBody>
      </p:sp>
      <p:sp>
        <p:nvSpPr>
          <p:cNvPr id="22" name="">
            <a:extLst xmlns:a="http://schemas.openxmlformats.org/drawingml/2006/main">
              <a:ext uri="{FF2B5EF4-FFF2-40B4-BE49-F238E27FC236}">
                <a16:creationId xmlns:a16="http://schemas.microsoft.com/office/drawing/2014/main" id="{E82858B2-FBAE-4988-9AC0-F4DA94A4F809}"/>
              </a:ext>
            </a:extLst>
          </p:cNvPr>
          <p:cNvSpPr>
            <a:spLocks xmlns:a="http://schemas.openxmlformats.org/drawingml/2006/main" noGrp="1"/>
          </p:cNvSpPr>
          <p:nvPr/>
        </p:nvSpPr>
        <p:spPr>
          <a:xfrm xmlns:a="http://schemas.openxmlformats.org/drawingml/2006/main">
            <a:off x="533400" y="61912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research. Reconstructed flow for validation. Measures have no verified baseline.</a:t>
            </a:r>
          </a:p>
        </p:txBody>
      </p:sp>
      <p:sp>
        <p:nvSpPr>
          <p:cNvPr id="23" name="">
            <a:extLst xmlns:a="http://schemas.openxmlformats.org/drawingml/2006/main">
              <a:ext uri="{FF2B5EF4-FFF2-40B4-BE49-F238E27FC236}">
                <a16:creationId xmlns:a16="http://schemas.microsoft.com/office/drawing/2014/main" id="{E7AA3D7A-5C07-4787-8862-37F78CDF58D8}"/>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10</a:t>
            </a:r>
          </a:p>
        </p:txBody>
      </p:sp>
    </p:spTree>
    <p:extLst>
      <p:ext uri="{BB962C8B-B14F-4D97-AF65-F5344CB8AC3E}">
        <p14:creationId xmlns:p14="http://schemas.microsoft.com/office/powerpoint/2010/main" val="18504257"/>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D683E99-D2DA-42BA-89E8-9EC669173BE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F1396F04-2F0D-4B81-B13B-83C31A2BCA3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 Academic Progression &amp; Milestones</a:t>
            </a:r>
          </a:p>
        </p:txBody>
      </p:sp>
      <p:sp>
        <p:nvSpPr>
          <p:cNvPr id="3" name="">
            <a:extLst xmlns:a="http://schemas.openxmlformats.org/drawingml/2006/main">
              <a:ext uri="{FF2B5EF4-FFF2-40B4-BE49-F238E27FC236}">
                <a16:creationId xmlns:a16="http://schemas.microsoft.com/office/drawing/2014/main" id="{BCEB4605-4D2E-4D84-B6CF-72CD897C754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Students and programme teams. Course, thesis and graduation requirements define the checkpoints.</a:t>
            </a:r>
          </a:p>
        </p:txBody>
      </p:sp>
      <p:sp>
        <p:nvSpPr>
          <p:cNvPr id="4" name="">
            <a:extLst xmlns:a="http://schemas.openxmlformats.org/drawingml/2006/main">
              <a:ext uri="{FF2B5EF4-FFF2-40B4-BE49-F238E27FC236}">
                <a16:creationId xmlns:a16="http://schemas.microsoft.com/office/drawing/2014/main" id="{9144B77D-9843-4186-A2A3-9E6EF0A6F358}"/>
              </a:ext>
            </a:extLst>
          </p:cNvPr>
          <p:cNvSpPr>
            <a:spLocks xmlns:a="http://schemas.openxmlformats.org/drawingml/2006/main" noGrp="1"/>
          </p:cNvSpPr>
          <p:nvPr/>
        </p:nvSpPr>
        <p:spPr>
          <a:xfrm xmlns:a="http://schemas.openxmlformats.org/drawingml/2006/main">
            <a:off x="533400" y="237172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A641E"/>
                </a:solidFill>
                <a:latin typeface="Helvetica Neue"/>
                <a:ea typeface="Helvetica Neue"/>
                <a:cs typeface="Helvetica Neue"/>
              </a:defRPr>
            </a:pPr>
            <a:r>
              <a:rPr sz="1725" b="1">
                <a:solidFill>
                  <a:srgbClr val="AA641E"/>
                </a:solidFill>
                <a:latin typeface="Helvetica Neue"/>
                <a:ea typeface="Helvetica Neue"/>
                <a:cs typeface="Helvetica Neue"/>
              </a:rPr>
              <a:t>Friction: unclear status and manual exception handling</a:t>
            </a:r>
          </a:p>
        </p:txBody>
      </p:sp>
      <p:sp>
        <p:nvSpPr>
          <p:cNvPr id="5" name="">
            <a:extLst xmlns:a="http://schemas.openxmlformats.org/drawingml/2006/main">
              <a:ext uri="{FF2B5EF4-FFF2-40B4-BE49-F238E27FC236}">
                <a16:creationId xmlns:a16="http://schemas.microsoft.com/office/drawing/2014/main" id="{580B1AFC-FBC8-463B-82FF-0C65AACCB8CD}"/>
              </a:ext>
            </a:extLst>
          </p:cNvPr>
          <p:cNvSpPr>
            <a:spLocks xmlns:a="http://schemas.openxmlformats.org/drawingml/2006/main" noGrp="1"/>
          </p:cNvSpPr>
          <p:nvPr/>
        </p:nvSpPr>
        <p:spPr>
          <a:xfrm xmlns:a="http://schemas.openxmlformats.org/drawingml/2006/main">
            <a:off x="533400" y="2952750"/>
            <a:ext cx="1752600" cy="800100"/>
          </a:xfrm>
          <a:prstGeom xmlns:a="http://schemas.openxmlformats.org/drawingml/2006/main" prst="rect">
            <a:avLst/>
          </a:prstGeom>
          <a:solidFill xmlns:a="http://schemas.openxmlformats.org/drawingml/2006/main">
            <a:srgbClr val="E3F1F0"/>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Academic plan</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established</a:t>
            </a:r>
          </a:p>
        </p:txBody>
      </p:sp>
      <p:sp>
        <p:nvSpPr>
          <p:cNvPr id="6" name="">
            <a:extLst xmlns:a="http://schemas.openxmlformats.org/drawingml/2006/main">
              <a:ext uri="{FF2B5EF4-FFF2-40B4-BE49-F238E27FC236}">
                <a16:creationId xmlns:a16="http://schemas.microsoft.com/office/drawing/2014/main" id="{62FC958E-3DD9-47AC-B1D7-31600C3C36EF}"/>
              </a:ext>
            </a:extLst>
          </p:cNvPr>
          <p:cNvSpPr>
            <a:spLocks xmlns:a="http://schemas.openxmlformats.org/drawingml/2006/main" noGrp="1"/>
          </p:cNvSpPr>
          <p:nvPr/>
        </p:nvSpPr>
        <p:spPr>
          <a:xfrm xmlns:a="http://schemas.openxmlformats.org/drawingml/2006/main">
            <a:off x="28575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Check rules</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for the cohort</a:t>
            </a:r>
          </a:p>
        </p:txBody>
      </p:sp>
      <p:sp>
        <p:nvSpPr>
          <p:cNvPr id="7" name="">
            <a:extLst xmlns:a="http://schemas.openxmlformats.org/drawingml/2006/main">
              <a:ext uri="{FF2B5EF4-FFF2-40B4-BE49-F238E27FC236}">
                <a16:creationId xmlns:a16="http://schemas.microsoft.com/office/drawing/2014/main" id="{E1CDCCF9-E2ED-4537-B849-872E681655F5}"/>
              </a:ext>
            </a:extLst>
          </p:cNvPr>
          <p:cNvSpPr>
            <a:spLocks xmlns:a="http://schemas.openxmlformats.org/drawingml/2006/main" noGrp="1"/>
          </p:cNvSpPr>
          <p:nvPr/>
        </p:nvSpPr>
        <p:spPr>
          <a:xfrm xmlns:a="http://schemas.openxmlformats.org/drawingml/2006/main">
            <a:off x="51816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Review milestone</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status</a:t>
            </a:r>
          </a:p>
        </p:txBody>
      </p:sp>
      <p:sp>
        <p:nvSpPr>
          <p:cNvPr id="8" name="">
            <a:extLst xmlns:a="http://schemas.openxmlformats.org/drawingml/2006/main">
              <a:ext uri="{FF2B5EF4-FFF2-40B4-BE49-F238E27FC236}">
                <a16:creationId xmlns:a16="http://schemas.microsoft.com/office/drawing/2014/main" id="{A2A2970B-D7E9-4314-9061-CD4D8C73D5C3}"/>
              </a:ext>
            </a:extLst>
          </p:cNvPr>
          <p:cNvSpPr>
            <a:spLocks xmlns:a="http://schemas.openxmlformats.org/drawingml/2006/main" noGrp="1"/>
          </p:cNvSpPr>
          <p:nvPr/>
        </p:nvSpPr>
        <p:spPr>
          <a:xfrm xmlns:a="http://schemas.openxmlformats.org/drawingml/2006/main">
            <a:off x="7505700" y="2952750"/>
            <a:ext cx="17526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Requirements</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met?</a:t>
            </a:r>
          </a:p>
        </p:txBody>
      </p:sp>
      <p:sp>
        <p:nvSpPr>
          <p:cNvPr id="9" name="">
            <a:extLst xmlns:a="http://schemas.openxmlformats.org/drawingml/2006/main">
              <a:ext uri="{FF2B5EF4-FFF2-40B4-BE49-F238E27FC236}">
                <a16:creationId xmlns:a16="http://schemas.microsoft.com/office/drawing/2014/main" id="{0C9C02F4-2CCC-4061-91C5-0DCEBC283053}"/>
              </a:ext>
            </a:extLst>
          </p:cNvPr>
          <p:cNvSpPr>
            <a:spLocks xmlns:a="http://schemas.openxmlformats.org/drawingml/2006/main" noGrp="1"/>
          </p:cNvSpPr>
          <p:nvPr/>
        </p:nvSpPr>
        <p:spPr>
          <a:xfrm xmlns:a="http://schemas.openxmlformats.org/drawingml/2006/main">
            <a:off x="9829800" y="2952750"/>
            <a:ext cx="1828800" cy="800100"/>
          </a:xfrm>
          <a:prstGeom xmlns:a="http://schemas.openxmlformats.org/drawingml/2006/main" prst="rect">
            <a:avLst/>
          </a:prstGeom>
          <a:solidFill xmlns:a="http://schemas.openxmlformats.org/drawingml/2006/main">
            <a:srgbClr val="E3F1F0"/>
          </a:solidFill>
          <a:ln xmlns:a="http://schemas.openxmlformats.org/drawingml/2006/main" w="19050">
            <a:solidFill>
              <a:srgbClr val="183449"/>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Verify milestone</a:t>
            </a:r>
          </a:p>
          <a:p xmlns:a="http://schemas.openxmlformats.org/drawingml/2006/main">
            <a:pPr algn="ct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completion</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22860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46101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69342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cxnSp>
        <p:nvCxnSpPr>
          <p:cNvPr id="36" name=""/>
          <p:cNvCxnSpPr>
            <a:stCxn xmlns:a="http://schemas.openxmlformats.org/drawingml/2006/main" id="8" idx="3"/>
            <a:endCxn xmlns:a="http://schemas.openxmlformats.org/drawingml/2006/main" id="9" idx="1"/>
          </p:cNvCxnSpPr>
          <p:nvPr/>
        </p:nvCxnSpPr>
        <p:spPr>
          <a:xfrm xmlns:a="http://schemas.openxmlformats.org/drawingml/2006/main">
            <a:off x="9258300" y="3352800"/>
            <a:ext cx="571500" cy="0"/>
          </a:xfrm>
          <a:prstGeom xmlns:a="http://schemas.openxmlformats.org/drawingml/2006/main" prst="straightConnector1">
            <a:avLst/>
          </a:prstGeom>
          <a:ln xmlns:a="http://schemas.openxmlformats.org/drawingml/2006/main" w="23813">
            <a:solidFill>
              <a:srgbClr val="16878A"/>
            </a:solidFill>
            <a:tailEnd type="triangle" w="sm" len="sm"/>
          </a:ln>
        </p:spPr>
      </p:cxnSp>
      <p:sp>
        <p:nvSpPr>
          <p:cNvPr id="14" name="">
            <a:extLst xmlns:a="http://schemas.openxmlformats.org/drawingml/2006/main">
              <a:ext uri="{FF2B5EF4-FFF2-40B4-BE49-F238E27FC236}">
                <a16:creationId xmlns:a16="http://schemas.microsoft.com/office/drawing/2014/main" id="{B79F96B4-EC8A-4894-9A08-D57BAF4AB160}"/>
              </a:ext>
            </a:extLst>
          </p:cNvPr>
          <p:cNvSpPr>
            <a:spLocks xmlns:a="http://schemas.openxmlformats.org/drawingml/2006/main" noGrp="1"/>
          </p:cNvSpPr>
          <p:nvPr/>
        </p:nvSpPr>
        <p:spPr>
          <a:xfrm xmlns:a="http://schemas.openxmlformats.org/drawingml/2006/main">
            <a:off x="9382125" y="26765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78A"/>
                </a:solidFill>
                <a:latin typeface="Helvetica Neue"/>
                <a:ea typeface="Helvetica Neue"/>
                <a:cs typeface="Helvetica Neue"/>
              </a:defRPr>
            </a:pPr>
            <a:r>
              <a:rPr sz="1350" b="1">
                <a:solidFill>
                  <a:srgbClr val="16878A"/>
                </a:solidFill>
                <a:latin typeface="Helvetica Neue"/>
                <a:ea typeface="Helvetica Neue"/>
                <a:cs typeface="Helvetica Neue"/>
              </a:rPr>
              <a:t>Yes</a:t>
            </a:r>
          </a:p>
        </p:txBody>
      </p:sp>
      <p:sp>
        <p:nvSpPr>
          <p:cNvPr id="15" name="">
            <a:extLst xmlns:a="http://schemas.openxmlformats.org/drawingml/2006/main">
              <a:ext uri="{FF2B5EF4-FFF2-40B4-BE49-F238E27FC236}">
                <a16:creationId xmlns:a16="http://schemas.microsoft.com/office/drawing/2014/main" id="{51B929DF-1586-4BEE-BD39-9F892AEB281D}"/>
              </a:ext>
            </a:extLst>
          </p:cNvPr>
          <p:cNvSpPr>
            <a:spLocks xmlns:a="http://schemas.openxmlformats.org/drawingml/2006/main" noGrp="1"/>
          </p:cNvSpPr>
          <p:nvPr/>
        </p:nvSpPr>
        <p:spPr>
          <a:xfrm xmlns:a="http://schemas.openxmlformats.org/drawingml/2006/main">
            <a:off x="6315075" y="4219575"/>
            <a:ext cx="3619500" cy="581025"/>
          </a:xfrm>
          <a:prstGeom xmlns:a="http://schemas.openxmlformats.org/drawingml/2006/main" prst="rect">
            <a:avLst/>
          </a:prstGeom>
          <a:solidFill xmlns:a="http://schemas.openxmlformats.org/drawingml/2006/main">
            <a:srgbClr val="FFF4E8"/>
          </a:solidFill>
          <a:ln xmlns:a="http://schemas.openxmlformats.org/drawingml/2006/main" w="19050">
            <a:solidFill>
              <a:srgbClr val="AA641E"/>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AA641E"/>
                </a:solidFill>
                <a:latin typeface="Helvetica Neue"/>
                <a:ea typeface="Helvetica Neue"/>
                <a:cs typeface="Helvetica Neue"/>
              </a:defRPr>
            </a:pPr>
            <a:r>
              <a:rPr sz="1650" b="1">
                <a:solidFill>
                  <a:srgbClr val="AA641E"/>
                </a:solidFill>
                <a:latin typeface="Helvetica Neue"/>
                <a:ea typeface="Helvetica Neue"/>
                <a:cs typeface="Helvetica Neue"/>
              </a:rPr>
              <a:t>Resolve gaps with authorised staff</a:t>
            </a:r>
          </a:p>
        </p:txBody>
      </p:sp>
      <p:cxnSp>
        <p:nvCxnSpPr>
          <p:cNvPr id="39" name=""/>
          <p:cNvCxnSpPr>
            <a:stCxn xmlns:a="http://schemas.openxmlformats.org/drawingml/2006/main" id="8" idx="2"/>
            <a:endCxn xmlns:a="http://schemas.openxmlformats.org/drawingml/2006/main" id="15" idx="0"/>
          </p:cNvCxnSpPr>
          <p:nvPr/>
        </p:nvCxnSpPr>
        <p:spPr>
          <a:xfrm xmlns:a="http://schemas.openxmlformats.org/drawingml/2006/main" flipH="1">
            <a:off x="8124825" y="3752850"/>
            <a:ext cx="257175" cy="466725"/>
          </a:xfrm>
          <a:prstGeom xmlns:a="http://schemas.openxmlformats.org/drawingml/2006/main" prst="bentConnector4">
            <a:avLst>
              <a:gd name="adj1" fmla="val 0"/>
              <a:gd name="adj2" fmla="val 50000"/>
            </a:avLst>
          </a:prstGeom>
          <a:ln xmlns:a="http://schemas.openxmlformats.org/drawingml/2006/main" w="23813">
            <a:solidFill>
              <a:srgbClr val="AA641E"/>
            </a:solidFill>
            <a:tailEnd type="triangle" w="sm" len="sm"/>
          </a:ln>
        </p:spPr>
      </p:cxnSp>
      <p:cxnSp>
        <p:nvCxnSpPr>
          <p:cNvPr id="40" name=""/>
          <p:cNvCxnSpPr>
            <a:stCxn xmlns:a="http://schemas.openxmlformats.org/drawingml/2006/main" id="15" idx="3"/>
            <a:endCxn xmlns:a="http://schemas.openxmlformats.org/drawingml/2006/main" id="9" idx="2"/>
          </p:cNvCxnSpPr>
          <p:nvPr/>
        </p:nvCxnSpPr>
        <p:spPr>
          <a:xfrm xmlns:a="http://schemas.openxmlformats.org/drawingml/2006/main" flipV="1">
            <a:off x="9934575" y="3752850"/>
            <a:ext cx="809625" cy="757238"/>
          </a:xfrm>
          <a:prstGeom xmlns:a="http://schemas.openxmlformats.org/drawingml/2006/main" prst="bentConnector2">
            <a:avLst/>
          </a:prstGeom>
          <a:ln xmlns:a="http://schemas.openxmlformats.org/drawingml/2006/main" w="23813">
            <a:solidFill>
              <a:srgbClr val="AA641E"/>
            </a:solidFill>
            <a:tailEnd type="triangle" w="sm" len="sm"/>
          </a:ln>
        </p:spPr>
      </p:cxnSp>
      <p:sp>
        <p:nvSpPr>
          <p:cNvPr id="18" name="">
            <a:extLst xmlns:a="http://schemas.openxmlformats.org/drawingml/2006/main">
              <a:ext uri="{FF2B5EF4-FFF2-40B4-BE49-F238E27FC236}">
                <a16:creationId xmlns:a16="http://schemas.microsoft.com/office/drawing/2014/main" id="{A07C31A3-EDD0-4EC2-9916-E451B3BCA386}"/>
              </a:ext>
            </a:extLst>
          </p:cNvPr>
          <p:cNvSpPr>
            <a:spLocks xmlns:a="http://schemas.openxmlformats.org/drawingml/2006/main" noGrp="1"/>
          </p:cNvSpPr>
          <p:nvPr/>
        </p:nvSpPr>
        <p:spPr>
          <a:xfrm xmlns:a="http://schemas.openxmlformats.org/drawingml/2006/main">
            <a:off x="5048250" y="38576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A641E"/>
                </a:solidFill>
                <a:latin typeface="Helvetica Neue"/>
                <a:ea typeface="Helvetica Neue"/>
                <a:cs typeface="Helvetica Neue"/>
              </a:defRPr>
            </a:pPr>
            <a:r>
              <a:rPr sz="1350" b="1">
                <a:solidFill>
                  <a:srgbClr val="AA641E"/>
                </a:solidFill>
                <a:latin typeface="Helvetica Neue"/>
                <a:ea typeface="Helvetica Neue"/>
                <a:cs typeface="Helvetica Neue"/>
              </a:rPr>
              <a:t>Needs help / action</a:t>
            </a:r>
          </a:p>
        </p:txBody>
      </p:sp>
      <p:sp>
        <p:nvSpPr>
          <p:cNvPr id="19" name="">
            <a:extLst xmlns:a="http://schemas.openxmlformats.org/drawingml/2006/main">
              <a:ext uri="{FF2B5EF4-FFF2-40B4-BE49-F238E27FC236}">
                <a16:creationId xmlns:a16="http://schemas.microsoft.com/office/drawing/2014/main" id="{F0865E58-1D4D-40EF-B729-0B29824DBBBD}"/>
              </a:ext>
            </a:extLst>
          </p:cNvPr>
          <p:cNvSpPr>
            <a:spLocks xmlns:a="http://schemas.openxmlformats.org/drawingml/2006/main" noGrp="1"/>
          </p:cNvSpPr>
          <p:nvPr/>
        </p:nvSpPr>
        <p:spPr>
          <a:xfrm xmlns:a="http://schemas.openxmlformats.org/drawingml/2006/main">
            <a:off x="533400" y="50101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449"/>
                </a:solidFill>
                <a:latin typeface="Helvetica Neue"/>
                <a:ea typeface="Helvetica Neue"/>
                <a:cs typeface="Helvetica Neue"/>
              </a:defRPr>
            </a:pPr>
            <a:r>
              <a:rPr sz="1650" b="1">
                <a:solidFill>
                  <a:srgbClr val="183449"/>
                </a:solidFill>
                <a:latin typeface="Helvetica Neue"/>
                <a:ea typeface="Helvetica Neue"/>
                <a:cs typeface="Helvetica Neue"/>
              </a:rPr>
              <a:t>CSE interview: one alumnus missed a graduation notice and needed faculty help.</a:t>
            </a:r>
          </a:p>
        </p:txBody>
      </p:sp>
      <p:sp>
        <p:nvSpPr>
          <p:cNvPr id="20" name="">
            <a:extLst xmlns:a="http://schemas.openxmlformats.org/drawingml/2006/main">
              <a:ext uri="{FF2B5EF4-FFF2-40B4-BE49-F238E27FC236}">
                <a16:creationId xmlns:a16="http://schemas.microsoft.com/office/drawing/2014/main" id="{4C21088B-9934-4A02-A12E-E81D9F509B10}"/>
              </a:ext>
            </a:extLst>
          </p:cNvPr>
          <p:cNvSpPr>
            <a:spLocks xmlns:a="http://schemas.openxmlformats.org/drawingml/2006/main" noGrp="1"/>
          </p:cNvSpPr>
          <p:nvPr/>
        </p:nvSpPr>
        <p:spPr>
          <a:xfrm xmlns:a="http://schemas.openxmlformats.org/drawingml/2006/main">
            <a:off x="533400" y="5429250"/>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180"/>
                </a:solidFill>
                <a:latin typeface="Helvetica Neue"/>
                <a:ea typeface="Helvetica Neue"/>
                <a:cs typeface="Helvetica Neue"/>
              </a:defRPr>
            </a:pPr>
            <a:r>
              <a:rPr sz="1575" b="0">
                <a:solidFill>
                  <a:srgbClr val="617180"/>
                </a:solidFill>
                <a:latin typeface="Helvetica Neue"/>
                <a:ea typeface="Helvetica Neue"/>
                <a:cs typeface="Helvetica Neue"/>
              </a:rPr>
              <a:t>Outside scope: teaching delivery, curriculum redesign and full system replacement</a:t>
            </a:r>
          </a:p>
        </p:txBody>
      </p:sp>
      <p:sp>
        <p:nvSpPr>
          <p:cNvPr id="21" name="">
            <a:extLst xmlns:a="http://schemas.openxmlformats.org/drawingml/2006/main">
              <a:ext uri="{FF2B5EF4-FFF2-40B4-BE49-F238E27FC236}">
                <a16:creationId xmlns:a16="http://schemas.microsoft.com/office/drawing/2014/main" id="{0811AC6B-0705-48F3-911B-29A133C29FAE}"/>
              </a:ext>
            </a:extLst>
          </p:cNvPr>
          <p:cNvSpPr>
            <a:spLocks xmlns:a="http://schemas.openxmlformats.org/drawingml/2006/main" noGrp="1"/>
          </p:cNvSpPr>
          <p:nvPr/>
        </p:nvSpPr>
        <p:spPr>
          <a:xfrm xmlns:a="http://schemas.openxmlformats.org/drawingml/2006/main">
            <a:off x="533400" y="57816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180"/>
                </a:solidFill>
                <a:latin typeface="Helvetica Neue"/>
                <a:ea typeface="Helvetica Neue"/>
                <a:cs typeface="Helvetica Neue"/>
              </a:defRPr>
            </a:pPr>
            <a:r>
              <a:rPr sz="1575" b="0">
                <a:solidFill>
                  <a:srgbClr val="617180"/>
                </a:solidFill>
                <a:latin typeface="Helvetica Neue"/>
                <a:ea typeface="Helvetica Neue"/>
                <a:cs typeface="Helvetica Neue"/>
              </a:rPr>
              <a:t>Measures: corrections, unresolved exceptions, on-time milestone completion</a:t>
            </a:r>
          </a:p>
        </p:txBody>
      </p:sp>
      <p:sp>
        <p:nvSpPr>
          <p:cNvPr id="22" name="">
            <a:extLst xmlns:a="http://schemas.openxmlformats.org/drawingml/2006/main">
              <a:ext uri="{FF2B5EF4-FFF2-40B4-BE49-F238E27FC236}">
                <a16:creationId xmlns:a16="http://schemas.microsoft.com/office/drawing/2014/main" id="{1136EC49-523E-4D17-B5C3-70B7F016851A}"/>
              </a:ext>
            </a:extLst>
          </p:cNvPr>
          <p:cNvSpPr>
            <a:spLocks xmlns:a="http://schemas.openxmlformats.org/drawingml/2006/main" noGrp="1"/>
          </p:cNvSpPr>
          <p:nvPr/>
        </p:nvSpPr>
        <p:spPr>
          <a:xfrm xmlns:a="http://schemas.openxmlformats.org/drawingml/2006/main">
            <a:off x="533400" y="61912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research. Reconstructed flow for validation. Measures have no verified baseline.</a:t>
            </a:r>
          </a:p>
        </p:txBody>
      </p:sp>
      <p:sp>
        <p:nvSpPr>
          <p:cNvPr id="23" name="">
            <a:extLst xmlns:a="http://schemas.openxmlformats.org/drawingml/2006/main">
              <a:ext uri="{FF2B5EF4-FFF2-40B4-BE49-F238E27FC236}">
                <a16:creationId xmlns:a16="http://schemas.microsoft.com/office/drawing/2014/main" id="{24E8B468-6B69-4E66-8C3E-4CF9BF0D5869}"/>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11</a:t>
            </a:r>
          </a:p>
        </p:txBody>
      </p:sp>
    </p:spTree>
    <p:extLst>
      <p:ext uri="{BB962C8B-B14F-4D97-AF65-F5344CB8AC3E}">
        <p14:creationId xmlns:p14="http://schemas.microsoft.com/office/powerpoint/2010/main" val="730090007"/>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30D365-EFC8-465C-949B-005B0E42243B}"/>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67E750E1-B416-4F74-90D3-8EBED9ED4F9D}"/>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Ownership, talent and operating model</a:t>
            </a:r>
          </a:p>
        </p:txBody>
      </p:sp>
      <p:sp>
        <p:nvSpPr>
          <p:cNvPr id="3" name="">
            <a:extLst xmlns:a="http://schemas.openxmlformats.org/drawingml/2006/main">
              <a:ext uri="{FF2B5EF4-FFF2-40B4-BE49-F238E27FC236}">
                <a16:creationId xmlns:a16="http://schemas.microsoft.com/office/drawing/2014/main" id="{EC59E576-68F5-4A82-AE19-B45FF63B2CEC}"/>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Partial = some capability evidenced. Gap = reported shortfall. Unknown = insufficient evidence.</a:t>
            </a:r>
          </a:p>
        </p:txBody>
      </p:sp>
      <p:sp>
        <p:nvSpPr>
          <p:cNvPr id="4" name="">
            <a:extLst xmlns:a="http://schemas.openxmlformats.org/drawingml/2006/main">
              <a:ext uri="{FF2B5EF4-FFF2-40B4-BE49-F238E27FC236}">
                <a16:creationId xmlns:a16="http://schemas.microsoft.com/office/drawing/2014/main" id="{388584D3-3159-4E84-A69E-41C2E1268C3F}"/>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Roadmap</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owner and targets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Approved plan and funding</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Cross-unit ownership</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Talent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capacity varies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coverage unclear</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Roles exist; delivery time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Operating model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and routing vary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Access and guidance friction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Manual checks and follow-up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F4EE4E4-9455-4526-9665-903558FD746D}"/>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and reports. Ratings are judgments, not measured maturity scores.</a:t>
            </a:r>
          </a:p>
        </p:txBody>
      </p:sp>
    </p:spTree>
    <p:extLst>
      <p:ext uri="{BB962C8B-B14F-4D97-AF65-F5344CB8AC3E}">
        <p14:creationId xmlns:p14="http://schemas.microsoft.com/office/powerpoint/2010/main" val="649361176"/>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8A5CE4-FE0F-4FFF-8BCB-BF9377E863A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F2474F58-4B08-4BD3-903C-B7B7EB82ADB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Technology, data and adoption</a:t>
            </a:r>
          </a:p>
        </p:txBody>
      </p:sp>
      <p:sp>
        <p:nvSpPr>
          <p:cNvPr id="3" name="">
            <a:extLst xmlns:a="http://schemas.openxmlformats.org/drawingml/2006/main">
              <a:ext uri="{FF2B5EF4-FFF2-40B4-BE49-F238E27FC236}">
                <a16:creationId xmlns:a16="http://schemas.microsoft.com/office/drawing/2014/main" id="{61E282A2-BAB4-472F-AACA-87A53354A325}"/>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Existing tools provide a foundation. Readiness depends on reliable processes and records.</a:t>
            </a:r>
          </a:p>
        </p:txBody>
      </p:sp>
      <p:sp>
        <p:nvSpPr>
          <p:cNvPr id="4" name="">
            <a:extLst xmlns:a="http://schemas.openxmlformats.org/drawingml/2006/main">
              <a:ext uri="{FF2B5EF4-FFF2-40B4-BE49-F238E27FC236}">
                <a16:creationId xmlns:a16="http://schemas.microsoft.com/office/drawing/2014/main" id="{876F9DF3-CAAA-4F34-9009-636DD1824E71}"/>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Technology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Channels exist; tracking unclear</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Booking and inventory tools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Portal exists; issues reported</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Data</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is dispersed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Capacity and usage records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Records exist; quality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Adoption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Use of support varies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workflow use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Systems and workarounds coexist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69142F4-3EA7-421D-98D8-DDAB0161793B}"/>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Unknown does not mean absent. Validate permissions, staffing and data before committing to delivery.</a:t>
            </a:r>
          </a:p>
        </p:txBody>
      </p:sp>
    </p:spTree>
    <p:extLst>
      <p:ext uri="{BB962C8B-B14F-4D97-AF65-F5344CB8AC3E}">
        <p14:creationId xmlns:p14="http://schemas.microsoft.com/office/powerpoint/2010/main" val="1549143458"/>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22FB2F-6C0F-47AC-BAE1-ACE3C6B788B7}"/>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044F7931-74BB-4DE3-BCB8-E933B74AAA1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Value and feasibility favour a support pilot</a:t>
            </a:r>
          </a:p>
        </p:txBody>
      </p:sp>
      <p:sp>
        <p:nvSpPr>
          <p:cNvPr id="3" name="">
            <a:extLst xmlns:a="http://schemas.openxmlformats.org/drawingml/2006/main">
              <a:ext uri="{FF2B5EF4-FFF2-40B4-BE49-F238E27FC236}">
                <a16:creationId xmlns:a16="http://schemas.microsoft.com/office/drawing/2014/main" id="{1D06C0B1-00E5-4880-968E-9B5D566EC3DC}"/>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Provisional positions for bounded entry projects within each transformation domain.</a:t>
            </a:r>
          </a:p>
        </p:txBody>
      </p:sp>
      <p:sp>
        <p:nvSpPr>
          <p:cNvPr id="4" name="">
            <a:extLst xmlns:a="http://schemas.openxmlformats.org/drawingml/2006/main">
              <a:ext uri="{FF2B5EF4-FFF2-40B4-BE49-F238E27FC236}">
                <a16:creationId xmlns:a16="http://schemas.microsoft.com/office/drawing/2014/main" id="{809F4F5E-CC48-4318-BC9D-E6F2072D606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14</a:t>
            </a:r>
          </a:p>
        </p:txBody>
      </p:sp>
      <p:graphicFrame>
        <p:nvGraphicFramePr>
          <p:cNvPr id="17" name="Chart"/>
          <p:cNvGraphicFramePr/>
          <p:nvPr/>
        </p:nvGraphicFramePr>
        <p:xfrm>
          <a:off xmlns:a="http://schemas.openxmlformats.org/drawingml/2006/main" x="619125" y="2476500"/>
          <a:ext xmlns:a="http://schemas.openxmlformats.org/drawingml/2006/main" cx="6334125" cy="3286125"/>
        </p:xfrm>
        <a:graphic xmlns:a="http://schemas.openxmlformats.org/drawingml/2006/main">
          <a:graphicData uri="http://schemas.openxmlformats.org/drawingml/2006/chart">
            <c:chart xmlns:r="http://schemas.openxmlformats.org/officeDocument/2006/relationships" xmlns:c="http://schemas.openxmlformats.org/drawingml/2006/chart" r:id="R0ec91f9f37794e08"/>
          </a:graphicData>
        </a:graphic>
      </p:graphicFrame>
      <p:sp>
        <p:nvSpPr>
          <p:cNvPr id="6" name="">
            <a:extLst xmlns:a="http://schemas.openxmlformats.org/drawingml/2006/main">
              <a:ext uri="{FF2B5EF4-FFF2-40B4-BE49-F238E27FC236}">
                <a16:creationId xmlns:a16="http://schemas.microsoft.com/office/drawing/2014/main" id="{94D42203-8C21-49E0-8DC3-0FF178E4739E}"/>
              </a:ext>
            </a:extLst>
          </p:cNvPr>
          <p:cNvSpPr>
            <a:spLocks xmlns:a="http://schemas.openxmlformats.org/drawingml/2006/main" noGrp="1"/>
          </p:cNvSpPr>
          <p:nvPr/>
        </p:nvSpPr>
        <p:spPr>
          <a:xfrm xmlns:a="http://schemas.openxmlformats.org/drawingml/2006/main">
            <a:off x="7524750" y="25146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A  Student support</a:t>
            </a:r>
          </a:p>
        </p:txBody>
      </p:sp>
      <p:sp>
        <p:nvSpPr>
          <p:cNvPr id="7" name="">
            <a:extLst xmlns:a="http://schemas.openxmlformats.org/drawingml/2006/main">
              <a:ext uri="{FF2B5EF4-FFF2-40B4-BE49-F238E27FC236}">
                <a16:creationId xmlns:a16="http://schemas.microsoft.com/office/drawing/2014/main" id="{A75B8D6B-3A79-4EFF-BE7B-1062F6C505AA}"/>
              </a:ext>
            </a:extLst>
          </p:cNvPr>
          <p:cNvSpPr>
            <a:spLocks xmlns:a="http://schemas.openxmlformats.org/drawingml/2006/main" noGrp="1"/>
          </p:cNvSpPr>
          <p:nvPr/>
        </p:nvSpPr>
        <p:spPr>
          <a:xfrm xmlns:a="http://schemas.openxmlformats.org/drawingml/2006/main">
            <a:off x="7524750" y="2990850"/>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Bounded information and routing pilot; limited initial integration.</a:t>
            </a:r>
          </a:p>
        </p:txBody>
      </p:sp>
      <p:sp>
        <p:nvSpPr>
          <p:cNvPr id="8" name="">
            <a:extLst xmlns:a="http://schemas.openxmlformats.org/drawingml/2006/main">
              <a:ext uri="{FF2B5EF4-FFF2-40B4-BE49-F238E27FC236}">
                <a16:creationId xmlns:a16="http://schemas.microsoft.com/office/drawing/2014/main" id="{E3861234-FE9B-4903-BDA0-E769C60DE8CF}"/>
              </a:ext>
            </a:extLst>
          </p:cNvPr>
          <p:cNvSpPr>
            <a:spLocks xmlns:a="http://schemas.openxmlformats.org/drawingml/2006/main" noGrp="1"/>
          </p:cNvSpPr>
          <p:nvPr/>
        </p:nvSpPr>
        <p:spPr>
          <a:xfrm xmlns:a="http://schemas.openxmlformats.org/drawingml/2006/main">
            <a:off x="7524750" y="39338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F6C1F"/>
                </a:solidFill>
                <a:latin typeface="Helvetica Neue"/>
                <a:ea typeface="Helvetica Neue"/>
                <a:cs typeface="Helvetica Neue"/>
              </a:defRPr>
            </a:pPr>
            <a:r>
              <a:rPr sz="2025" b="1">
                <a:solidFill>
                  <a:srgbClr val="AF6C1F"/>
                </a:solidFill>
                <a:latin typeface="Helvetica Neue"/>
                <a:ea typeface="Helvetica Neue"/>
                <a:cs typeface="Helvetica Neue"/>
              </a:rPr>
              <a:t>B  Practical learning</a:t>
            </a:r>
          </a:p>
        </p:txBody>
      </p:sp>
      <p:sp>
        <p:nvSpPr>
          <p:cNvPr id="9" name="">
            <a:extLst xmlns:a="http://schemas.openxmlformats.org/drawingml/2006/main">
              <a:ext uri="{FF2B5EF4-FFF2-40B4-BE49-F238E27FC236}">
                <a16:creationId xmlns:a16="http://schemas.microsoft.com/office/drawing/2014/main" id="{FC790950-3D20-4269-B723-9DF01C460326}"/>
              </a:ext>
            </a:extLst>
          </p:cNvPr>
          <p:cNvSpPr>
            <a:spLocks xmlns:a="http://schemas.openxmlformats.org/drawingml/2006/main" noGrp="1"/>
          </p:cNvSpPr>
          <p:nvPr/>
        </p:nvSpPr>
        <p:spPr>
          <a:xfrm xmlns:a="http://schemas.openxmlformats.org/drawingml/2006/main">
            <a:off x="7524750" y="438150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Equipment and supervision constrain delivery.</a:t>
            </a:r>
          </a:p>
        </p:txBody>
      </p:sp>
      <p:sp>
        <p:nvSpPr>
          <p:cNvPr id="10" name="">
            <a:extLst xmlns:a="http://schemas.openxmlformats.org/drawingml/2006/main">
              <a:ext uri="{FF2B5EF4-FFF2-40B4-BE49-F238E27FC236}">
                <a16:creationId xmlns:a16="http://schemas.microsoft.com/office/drawing/2014/main" id="{1FA1353F-345C-4320-ADA5-96A816930389}"/>
              </a:ext>
            </a:extLst>
          </p:cNvPr>
          <p:cNvSpPr>
            <a:spLocks xmlns:a="http://schemas.openxmlformats.org/drawingml/2006/main" noGrp="1"/>
          </p:cNvSpPr>
          <p:nvPr/>
        </p:nvSpPr>
        <p:spPr>
          <a:xfrm xmlns:a="http://schemas.openxmlformats.org/drawingml/2006/main">
            <a:off x="7524750" y="51530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449"/>
                </a:solidFill>
                <a:latin typeface="Helvetica Neue"/>
                <a:ea typeface="Helvetica Neue"/>
                <a:cs typeface="Helvetica Neue"/>
              </a:defRPr>
            </a:pPr>
            <a:r>
              <a:rPr sz="2025" b="1">
                <a:solidFill>
                  <a:srgbClr val="183449"/>
                </a:solidFill>
                <a:latin typeface="Helvetica Neue"/>
                <a:ea typeface="Helvetica Neue"/>
                <a:cs typeface="Helvetica Neue"/>
              </a:rPr>
              <a:t>C  Progression</a:t>
            </a:r>
          </a:p>
        </p:txBody>
      </p:sp>
      <p:sp>
        <p:nvSpPr>
          <p:cNvPr id="11" name="">
            <a:extLst xmlns:a="http://schemas.openxmlformats.org/drawingml/2006/main">
              <a:ext uri="{FF2B5EF4-FFF2-40B4-BE49-F238E27FC236}">
                <a16:creationId xmlns:a16="http://schemas.microsoft.com/office/drawing/2014/main" id="{0CE576D0-2F27-424C-8B7A-CFA3323D2EF2}"/>
              </a:ext>
            </a:extLst>
          </p:cNvPr>
          <p:cNvSpPr>
            <a:spLocks xmlns:a="http://schemas.openxmlformats.org/drawingml/2006/main" noGrp="1"/>
          </p:cNvSpPr>
          <p:nvPr/>
        </p:nvSpPr>
        <p:spPr>
          <a:xfrm xmlns:a="http://schemas.openxmlformats.org/drawingml/2006/main">
            <a:off x="7524750" y="55816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6"/>
                </a:solidFill>
                <a:latin typeface="Helvetica Neue"/>
                <a:ea typeface="Helvetica Neue"/>
                <a:cs typeface="Helvetica Neue"/>
              </a:defRPr>
            </a:pPr>
            <a:r>
              <a:rPr sz="1725" b="0">
                <a:solidFill>
                  <a:srgbClr val="233746"/>
                </a:solidFill>
                <a:latin typeface="Helvetica Neue"/>
                <a:ea typeface="Helvetica Neue"/>
                <a:cs typeface="Helvetica Neue"/>
              </a:rPr>
              <a:t>Wider value, more data dependencies.</a:t>
            </a:r>
          </a:p>
        </p:txBody>
      </p:sp>
      <p:sp>
        <p:nvSpPr>
          <p:cNvPr id="12" name="">
            <a:extLst xmlns:a="http://schemas.openxmlformats.org/drawingml/2006/main">
              <a:ext uri="{FF2B5EF4-FFF2-40B4-BE49-F238E27FC236}">
                <a16:creationId xmlns:a16="http://schemas.microsoft.com/office/drawing/2014/main" id="{57C8B67D-9864-47BA-8C7F-44C582EC132D}"/>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Analyst judgments on a 1–5 scale. A depends on approved content, a process owner and staff capacity.</a:t>
            </a:r>
          </a:p>
        </p:txBody>
      </p:sp>
    </p:spTree>
    <p:extLst>
      <p:ext uri="{BB962C8B-B14F-4D97-AF65-F5344CB8AC3E}">
        <p14:creationId xmlns:p14="http://schemas.microsoft.com/office/powerpoint/2010/main" val="1087632755"/>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9A526B-0914-4EE1-8911-857C1DF2C46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21A7CE5F-556B-4155-B93F-6C85E03D8F7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The ranking is conditional on feasibility</a:t>
            </a:r>
          </a:p>
        </p:txBody>
      </p:sp>
      <p:sp>
        <p:nvSpPr>
          <p:cNvPr id="3" name="">
            <a:extLst xmlns:a="http://schemas.openxmlformats.org/drawingml/2006/main">
              <a:ext uri="{FF2B5EF4-FFF2-40B4-BE49-F238E27FC236}">
                <a16:creationId xmlns:a16="http://schemas.microsoft.com/office/drawing/2014/main" id="{308FEBC8-E540-4D6D-A08B-2EB324A1D58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Course weights: value 30%, feasibility 25%, strategic relevance 20%, urgency 15%, learning 10%.</a:t>
            </a:r>
          </a:p>
        </p:txBody>
      </p:sp>
      <p:sp>
        <p:nvSpPr>
          <p:cNvPr id="4" name="">
            <a:extLst xmlns:a="http://schemas.openxmlformats.org/drawingml/2006/main">
              <a:ext uri="{FF2B5EF4-FFF2-40B4-BE49-F238E27FC236}">
                <a16:creationId xmlns:a16="http://schemas.microsoft.com/office/drawing/2014/main" id="{E6880435-3BE7-4BB2-AF6E-3181C001AB8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15</a:t>
            </a:r>
          </a:p>
        </p:txBody>
      </p:sp>
      <p:graphicFrame>
        <p:nvGraphicFramePr>
          <p:cNvPr id="13" name=""/>
          <p:cNvGraphicFramePr/>
          <p:nvPr/>
        </p:nvGraphicFramePr>
        <p:xfrm>
          <a:off xmlns:a="http://schemas.openxmlformats.org/drawingml/2006/main" x="533400" y="2428875"/>
          <a:ext xmlns:a="http://schemas.openxmlformats.org/drawingml/2006/main" cx="11125200" cy="2286000"/>
        </p:xfrm>
        <a:graphic xmlns:a="http://schemas.openxmlformats.org/drawingml/2006/main">
          <a:graphicData uri="http://schemas.openxmlformats.org/drawingml/2006/table">
            <a:tbl>
              <a:tblPr/>
              <a:tblGrid>
                <a:gridCol w="3124200"/>
                <a:gridCol w="1143000"/>
                <a:gridCol w="1143000"/>
                <a:gridCol w="1428750"/>
                <a:gridCol w="1428750"/>
                <a:gridCol w="1428750"/>
                <a:gridCol w="1428750"/>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Value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Feas.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Strategy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Urgency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Total</a:t>
                      </a:r>
                    </a:p>
                  </a:txBody>
                  <a:tcPr marL="91440" marR="91440" marT="45720" marB="45720">
                    <a:solidFill>
                      <a:srgbClr val="183449"/>
                    </a:solidFill>
                  </a:tcPr>
                </a:tc>
              </a:tr>
              <a:tr h="596900">
                <a:tc>
                  <a:txBody>
                    <a:bodyPr/>
                    <a:lstStyle/>
                    <a:p>
                      <a:r>
                        <a:rPr sz="1800" b="1">
                          <a:solidFill>
                            <a:srgbClr val="233746"/>
                          </a:solidFill>
                          <a:latin typeface="Helvetica Neue"/>
                          <a:ea typeface="Helvetica Neue"/>
                          <a:cs typeface="Helvetica Neue"/>
                        </a:rPr>
                        <a:t>A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4.10</a:t>
                      </a:r>
                    </a:p>
                  </a:txBody>
                  <a:tcPr marL="91440" marR="91440" marT="45720" marB="45720">
                    <a:solidFill>
                      <a:srgbClr val="FFFFFF"/>
                    </a:solidFill>
                  </a:tcPr>
                </a:tc>
              </a:tr>
              <a:tr h="596900">
                <a:tc>
                  <a:txBody>
                    <a:bodyPr/>
                    <a:lstStyle/>
                    <a:p>
                      <a:r>
                        <a:rPr sz="1800" b="1">
                          <a:solidFill>
                            <a:srgbClr val="233746"/>
                          </a:solidFill>
                          <a:latin typeface="Helvetica Neue"/>
                          <a:ea typeface="Helvetica Neue"/>
                          <a:cs typeface="Helvetica Neue"/>
                        </a:rPr>
                        <a:t>B  Practical</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3.50</a:t>
                      </a:r>
                    </a:p>
                  </a:txBody>
                  <a:tcPr marL="91440" marR="91440" marT="45720" marB="45720">
                    <a:solidFill>
                      <a:srgbClr val="EDF3F4"/>
                    </a:solidFill>
                  </a:tcPr>
                </a:tc>
              </a:tr>
              <a:tr h="596900">
                <a:tc>
                  <a:txBody>
                    <a:bodyPr/>
                    <a:lstStyle/>
                    <a:p>
                      <a:r>
                        <a:rPr sz="1800" b="1">
                          <a:solidFill>
                            <a:srgbClr val="233746"/>
                          </a:solidFill>
                          <a:latin typeface="Helvetica Neue"/>
                          <a:ea typeface="Helvetica Neue"/>
                          <a:cs typeface="Helvetica Neue"/>
                        </a:rPr>
                        <a:t>C  Progression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3.80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373246B-D3A9-4761-9283-4C36FD1EB9D7}"/>
              </a:ext>
            </a:extLst>
          </p:cNvPr>
          <p:cNvSpPr>
            <a:spLocks xmlns:a="http://schemas.openxmlformats.org/drawingml/2006/main" noGrp="1"/>
          </p:cNvSpPr>
          <p:nvPr/>
        </p:nvSpPr>
        <p:spPr>
          <a:xfrm xmlns:a="http://schemas.openxmlformats.org/drawingml/2006/main">
            <a:off x="533400" y="49815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Strongest alternative: Academic Progression</a:t>
            </a:r>
          </a:p>
        </p:txBody>
      </p:sp>
      <p:sp>
        <p:nvSpPr>
          <p:cNvPr id="7" name="">
            <a:extLst xmlns:a="http://schemas.openxmlformats.org/drawingml/2006/main">
              <a:ext uri="{FF2B5EF4-FFF2-40B4-BE49-F238E27FC236}">
                <a16:creationId xmlns:a16="http://schemas.microsoft.com/office/drawing/2014/main" id="{1007DE3B-C9B6-41E6-9D0E-A112E804F10F}"/>
              </a:ext>
            </a:extLst>
          </p:cNvPr>
          <p:cNvSpPr>
            <a:spLocks xmlns:a="http://schemas.openxmlformats.org/drawingml/2006/main" noGrp="1"/>
          </p:cNvSpPr>
          <p:nvPr/>
        </p:nvSpPr>
        <p:spPr>
          <a:xfrm xmlns:a="http://schemas.openxmlformats.org/drawingml/2006/main">
            <a:off x="533400" y="5457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Broader milestone value, but greater record and approval dependencies.</a:t>
            </a:r>
          </a:p>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If support feasibility falls from 4 to 2, its score falls to 3.60 and progression leads.</a:t>
            </a:r>
          </a:p>
        </p:txBody>
      </p:sp>
      <p:sp>
        <p:nvSpPr>
          <p:cNvPr id="8" name="">
            <a:extLst xmlns:a="http://schemas.openxmlformats.org/drawingml/2006/main">
              <a:ext uri="{FF2B5EF4-FFF2-40B4-BE49-F238E27FC236}">
                <a16:creationId xmlns:a16="http://schemas.microsoft.com/office/drawing/2014/main" id="{AA3878E9-2AEF-4792-B416-00FD1B5242CE}"/>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Illustrative scores. Strategic relevance and urgency are held equal pending leadership and deadline evidence.</a:t>
            </a:r>
          </a:p>
        </p:txBody>
      </p:sp>
    </p:spTree>
    <p:extLst>
      <p:ext uri="{BB962C8B-B14F-4D97-AF65-F5344CB8AC3E}">
        <p14:creationId xmlns:p14="http://schemas.microsoft.com/office/powerpoint/2010/main" val="1208618408"/>
      </p:ext>
    </p:extLst>
  </p:cSld>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3689FA-0760-4219-B39E-EA0390AEA52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3106827F-C8C4-4B3B-9E04-253CAE61B943}"/>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The solution: AI Student Support Hub</a:t>
            </a:r>
          </a:p>
        </p:txBody>
      </p:sp>
      <p:sp>
        <p:nvSpPr>
          <p:cNvPr id="3" name="">
            <a:extLst xmlns:a="http://schemas.openxmlformats.org/drawingml/2006/main">
              <a:ext uri="{FF2B5EF4-FFF2-40B4-BE49-F238E27FC236}">
                <a16:creationId xmlns:a16="http://schemas.microsoft.com/office/drawing/2014/main" id="{2BF8E5CE-EBBC-4158-9F3D-32F232EDF93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One place to ask, understand the next step and get an unresolved issue to the right person.</a:t>
            </a:r>
          </a:p>
        </p:txBody>
      </p:sp>
      <p:sp>
        <p:nvSpPr>
          <p:cNvPr id="4" name="">
            <a:extLst xmlns:a="http://schemas.openxmlformats.org/drawingml/2006/main">
              <a:ext uri="{FF2B5EF4-FFF2-40B4-BE49-F238E27FC236}">
                <a16:creationId xmlns:a16="http://schemas.microsoft.com/office/drawing/2014/main" id="{E48EAFC6-1FBB-4C1A-8308-57A0800204A4}"/>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16</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3333750"/>
                <a:gridCol w="4143375"/>
                <a:gridCol w="3648075"/>
              </a:tblGrid>
              <a:tr h="495300">
                <a:tc>
                  <a:txBody>
                    <a:bodyPr/>
                    <a:lstStyle/>
                    <a:p>
                      <a:r>
                        <a:rPr sz="1725" b="1">
                          <a:solidFill>
                            <a:srgbClr val="FFFFFF"/>
                          </a:solidFill>
                          <a:latin typeface="Helvetica Neue"/>
                          <a:ea typeface="Helvetica Neue"/>
                          <a:cs typeface="Helvetica Neue"/>
                        </a:rPr>
                        <a:t>Hub capability</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What the student can do</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Evidence it addresses</a:t>
                      </a:r>
                    </a:p>
                  </a:txBody>
                  <a:tcPr marL="91440" marR="91440" marT="45720" marB="45720">
                    <a:solidFill>
                      <a:srgbClr val="183449"/>
                    </a:solidFill>
                  </a:tcPr>
                </a:tc>
              </a:tr>
              <a:tr h="709613">
                <a:tc>
                  <a:txBody>
                    <a:bodyPr/>
                    <a:lstStyle/>
                    <a:p>
                      <a:r>
                        <a:rPr sz="1725" b="1">
                          <a:solidFill>
                            <a:srgbClr val="233746"/>
                          </a:solidFill>
                          <a:latin typeface="Helvetica Neue"/>
                          <a:ea typeface="Helvetica Neue"/>
                          <a:cs typeface="Helvetica Neue"/>
                        </a:rPr>
                        <a:t>AI guidance with sources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Ask a question and see the approved rule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Fragmented information and repeated searching</a:t>
                      </a:r>
                    </a:p>
                  </a:txBody>
                  <a:tcPr marL="91440" marR="91440" marT="45720" marB="45720">
                    <a:solidFill>
                      <a:srgbClr val="FFFFFF"/>
                    </a:solidFill>
                  </a:tcPr>
                </a:tc>
              </a:tr>
              <a:tr h="709613">
                <a:tc>
                  <a:txBody>
                    <a:bodyPr/>
                    <a:lstStyle/>
                    <a:p>
                      <a:r>
                        <a:rPr sz="1725" b="1">
                          <a:solidFill>
                            <a:srgbClr val="233746"/>
                          </a:solidFill>
                          <a:latin typeface="Helvetica Neue"/>
                          <a:ea typeface="Helvetica Neue"/>
                          <a:cs typeface="Helvetica Neue"/>
                        </a:rPr>
                        <a:t>Task-specific checklists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See required steps for a chosen process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Unclear registration and milestone guidance</a:t>
                      </a:r>
                    </a:p>
                  </a:txBody>
                  <a:tcPr marL="91440" marR="91440" marT="45720" marB="45720">
                    <a:solidFill>
                      <a:srgbClr val="EDF3F4"/>
                    </a:solidFill>
                  </a:tcPr>
                </a:tc>
              </a:tr>
              <a:tr h="709613">
                <a:tc>
                  <a:txBody>
                    <a:bodyPr/>
                    <a:lstStyle/>
                    <a:p>
                      <a:r>
                        <a:rPr sz="1725" b="1">
                          <a:solidFill>
                            <a:srgbClr val="233746"/>
                          </a:solidFill>
                          <a:latin typeface="Helvetica Neue"/>
                          <a:ea typeface="Helvetica Neue"/>
                          <a:cs typeface="Helvetica Neue"/>
                        </a:rPr>
                        <a:t>Staff handoff + case status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Send unresolved issues and track the response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Reply delays and uncertain handling</a:t>
                      </a:r>
                    </a:p>
                  </a:txBody>
                  <a:tcPr marL="91440" marR="91440" marT="45720" marB="45720">
                    <a:solidFill>
                      <a:srgbClr val="FFFFFF"/>
                    </a:solidFill>
                  </a:tcPr>
                </a:tc>
              </a:tr>
              <a:tr h="709613">
                <a:tc>
                  <a:txBody>
                    <a:bodyPr/>
                    <a:lstStyle/>
                    <a:p>
                      <a:r>
                        <a:rPr sz="1725" b="1">
                          <a:solidFill>
                            <a:srgbClr val="233746"/>
                          </a:solidFill>
                          <a:latin typeface="Helvetica Neue"/>
                          <a:ea typeface="Helvetica Neue"/>
                          <a:cs typeface="Helvetica Neue"/>
                        </a:rPr>
                        <a:t>Deadline reminders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Follow verified deadlines for selected tasks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A reported missed graduation notice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B252E16B-EC34-434D-9212-0078FF5381F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Pilot: CSE registration guidance. Add BMS procedures after validation. Reminders depend on reliable deadlines.</a:t>
            </a:r>
          </a:p>
        </p:txBody>
      </p:sp>
    </p:spTree>
    <p:extLst>
      <p:ext uri="{BB962C8B-B14F-4D97-AF65-F5344CB8AC3E}">
        <p14:creationId xmlns:p14="http://schemas.microsoft.com/office/powerpoint/2010/main" val="1498199307"/>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550F5A-9158-4182-BD76-306A8402557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D499065E-923A-4C58-A1F6-C62A4B5B5BC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How a student would use the AI Hub</a:t>
            </a:r>
          </a:p>
        </p:txBody>
      </p:sp>
      <p:sp>
        <p:nvSpPr>
          <p:cNvPr id="3" name="">
            <a:extLst xmlns:a="http://schemas.openxmlformats.org/drawingml/2006/main">
              <a:ext uri="{FF2B5EF4-FFF2-40B4-BE49-F238E27FC236}">
                <a16:creationId xmlns:a16="http://schemas.microsoft.com/office/drawing/2014/main" id="{906FE121-E3E6-46DD-8205-6DCA4DDF2BA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Illustrative scenario: “I selected my courses, but am I actually registered?”</a:t>
            </a:r>
          </a:p>
        </p:txBody>
      </p:sp>
      <p:sp>
        <p:nvSpPr>
          <p:cNvPr id="4" name="">
            <a:extLst xmlns:a="http://schemas.openxmlformats.org/drawingml/2006/main">
              <a:ext uri="{FF2B5EF4-FFF2-40B4-BE49-F238E27FC236}">
                <a16:creationId xmlns:a16="http://schemas.microsoft.com/office/drawing/2014/main" id="{58729A13-A6DF-4B31-B33E-FDE313E3FEB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2190750"/>
                <a:gridCol w="8934450"/>
              </a:tblGrid>
              <a:tr h="495300">
                <a:tc>
                  <a:txBody>
                    <a:bodyPr/>
                    <a:lstStyle/>
                    <a:p>
                      <a:r>
                        <a:rPr sz="1800" b="1">
                          <a:solidFill>
                            <a:srgbClr val="FFFFFF"/>
                          </a:solidFill>
                          <a:latin typeface="Helvetica Neue"/>
                          <a:ea typeface="Helvetica Neue"/>
                          <a:cs typeface="Helvetica Neue"/>
                        </a:rPr>
                        <a:t>Step</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AI Hub response or action</a:t>
                      </a:r>
                    </a:p>
                  </a:txBody>
                  <a:tcPr marL="91440" marR="91440" marT="45720" marB="45720">
                    <a:solidFill>
                      <a:srgbClr val="183449"/>
                    </a:solidFill>
                  </a:tcPr>
                </a:tc>
              </a:tr>
              <a:tr h="709613">
                <a:tc>
                  <a:txBody>
                    <a:bodyPr/>
                    <a:lstStyle/>
                    <a:p>
                      <a:r>
                        <a:rPr sz="1800" b="1">
                          <a:solidFill>
                            <a:srgbClr val="233746"/>
                          </a:solidFill>
                          <a:latin typeface="Helvetica Neue"/>
                          <a:ea typeface="Helvetica Neue"/>
                          <a:cs typeface="Helvetica Neue"/>
                        </a:rPr>
                        <a:t>1  Find the right guidance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Ask for programme/cohort and retrieve the approved registration guide</a:t>
                      </a:r>
                    </a:p>
                  </a:txBody>
                  <a:tcPr marL="91440" marR="91440" marT="45720" marB="45720">
                    <a:solidFill>
                      <a:srgbClr val="FFFFFF"/>
                    </a:solidFill>
                  </a:tcPr>
                </a:tc>
              </a:tr>
              <a:tr h="709613">
                <a:tc>
                  <a:txBody>
                    <a:bodyPr/>
                    <a:lstStyle/>
                    <a:p>
                      <a:r>
                        <a:rPr sz="1800" b="1">
                          <a:solidFill>
                            <a:srgbClr val="233746"/>
                          </a:solidFill>
                          <a:latin typeface="Helvetica Neue"/>
                          <a:ea typeface="Helvetica Neue"/>
                          <a:cs typeface="Helvetica Neue"/>
                        </a:rPr>
                        <a:t>2  Explain how to verify</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Show the official confirmation steps, with source and update date</a:t>
                      </a:r>
                    </a:p>
                  </a:txBody>
                  <a:tcPr marL="91440" marR="91440" marT="45720" marB="45720">
                    <a:solidFill>
                      <a:srgbClr val="EDF3F4"/>
                    </a:solidFill>
                  </a:tcPr>
                </a:tc>
              </a:tr>
              <a:tr h="709613">
                <a:tc>
                  <a:txBody>
                    <a:bodyPr/>
                    <a:lstStyle/>
                    <a:p>
                      <a:r>
                        <a:rPr sz="1800" b="1">
                          <a:solidFill>
                            <a:srgbClr val="233746"/>
                          </a:solidFill>
                          <a:latin typeface="Helvetica Neue"/>
                          <a:ea typeface="Helvetica Neue"/>
                          <a:cs typeface="Helvetica Neue"/>
                        </a:rPr>
                        <a:t>3  Acknowledge the limit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“I cannot verify your live registration status from here.”</a:t>
                      </a:r>
                    </a:p>
                  </a:txBody>
                  <a:tcPr marL="91440" marR="91440" marT="45720" marB="45720">
                    <a:solidFill>
                      <a:srgbClr val="FFFFFF"/>
                    </a:solidFill>
                  </a:tcPr>
                </a:tc>
              </a:tr>
              <a:tr h="709613">
                <a:tc>
                  <a:txBody>
                    <a:bodyPr/>
                    <a:lstStyle/>
                    <a:p>
                      <a:r>
                        <a:rPr sz="1800" b="1">
                          <a:solidFill>
                            <a:srgbClr val="233746"/>
                          </a:solidFill>
                          <a:latin typeface="Helvetica Neue"/>
                          <a:ea typeface="Helvetica Neue"/>
                          <a:cs typeface="Helvetica Neue"/>
                        </a:rPr>
                        <a:t>4  Route and track</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Create a case for the authorised team and show its status</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00BF4367-F97E-4D6B-A4C0-5A8AE6AFEE78}"/>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AI explains and routes. Staff verify official records. This is a proposed experience, not an existing VNUK service.</a:t>
            </a:r>
          </a:p>
        </p:txBody>
      </p:sp>
    </p:spTree>
    <p:extLst>
      <p:ext uri="{BB962C8B-B14F-4D97-AF65-F5344CB8AC3E}">
        <p14:creationId xmlns:p14="http://schemas.microsoft.com/office/powerpoint/2010/main" val="364910014"/>
      </p:ext>
    </p:extLst>
  </p:cSld>
</p:sld>
</file>

<file path=ppt/slides/slide1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F55270-73D6-4E42-BA3C-B541BD8A0E2F}"/>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C3927AED-343F-4DDE-96EB-9E94BDB2B4B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Pilot conditions and success measures</a:t>
            </a:r>
          </a:p>
        </p:txBody>
      </p:sp>
      <p:sp>
        <p:nvSpPr>
          <p:cNvPr id="3" name="">
            <a:extLst xmlns:a="http://schemas.openxmlformats.org/drawingml/2006/main">
              <a:ext uri="{FF2B5EF4-FFF2-40B4-BE49-F238E27FC236}">
                <a16:creationId xmlns:a16="http://schemas.microsoft.com/office/drawing/2014/main" id="{06878F11-9D5D-4880-BF24-B2AAC812A894}"/>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Baseline first. Agree improvement targets before student rollout.</a:t>
            </a:r>
          </a:p>
        </p:txBody>
      </p:sp>
      <p:sp>
        <p:nvSpPr>
          <p:cNvPr id="4" name="">
            <a:extLst xmlns:a="http://schemas.openxmlformats.org/drawingml/2006/main">
              <a:ext uri="{FF2B5EF4-FFF2-40B4-BE49-F238E27FC236}">
                <a16:creationId xmlns:a16="http://schemas.microsoft.com/office/drawing/2014/main" id="{4800A30B-B5A9-4406-B3AF-B86ED652515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5334000"/>
                <a:gridCol w="5791200"/>
              </a:tblGrid>
              <a:tr h="495300">
                <a:tc>
                  <a:txBody>
                    <a:bodyPr/>
                    <a:lstStyle/>
                    <a:p>
                      <a:r>
                        <a:rPr sz="1800" b="1">
                          <a:solidFill>
                            <a:srgbClr val="FFFFFF"/>
                          </a:solidFill>
                          <a:latin typeface="Helvetica Neue"/>
                          <a:ea typeface="Helvetica Neue"/>
                          <a:cs typeface="Helvetica Neue"/>
                        </a:rPr>
                        <a:t>Before launch</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Measure during the pilot</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Named content owner and case-handling staff</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Staff handling minutes per resolved enquiry</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Approved guidance and a tested answer set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Accuracy and source relevance on reviewed answers</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Working handoff and escalation route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Resolution time and unresolved-case rate</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Baseline from comparable enquiries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Repeat contacts and student effort</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Approved access and data-handling rules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Access exceptions and inappropriate disclosures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011CAE6-EEEA-4685-8C9F-51F2FB6C49A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Proceed only if staff can maintain content and accept escalations. Correctness comes before response speed.</a:t>
            </a:r>
          </a:p>
        </p:txBody>
      </p:sp>
    </p:spTree>
    <p:extLst>
      <p:ext uri="{BB962C8B-B14F-4D97-AF65-F5344CB8AC3E}">
        <p14:creationId xmlns:p14="http://schemas.microsoft.com/office/powerpoint/2010/main" val="2097791842"/>
      </p:ext>
    </p:extLst>
  </p:cSld>
</p:sld>
</file>

<file path=ppt/slides/slide1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14ECAC-1522-4D32-BCE7-E4CA1145E186}"/>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581AFF2A-361E-4371-87F8-75F4542E048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focused pilot with a broader domain vision</a:t>
            </a:r>
          </a:p>
        </p:txBody>
      </p:sp>
      <p:sp>
        <p:nvSpPr>
          <p:cNvPr id="3" name="">
            <a:extLst xmlns:a="http://schemas.openxmlformats.org/drawingml/2006/main">
              <a:ext uri="{FF2B5EF4-FFF2-40B4-BE49-F238E27FC236}">
                <a16:creationId xmlns:a16="http://schemas.microsoft.com/office/drawing/2014/main" id="{7F2FD9CE-3CC1-4855-9419-1DB5A95B6D6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Start with reliable support. Expand only when evidence justifies the next capability.</a:t>
            </a:r>
          </a:p>
        </p:txBody>
      </p:sp>
      <p:sp>
        <p:nvSpPr>
          <p:cNvPr id="4" name="">
            <a:extLst xmlns:a="http://schemas.openxmlformats.org/drawingml/2006/main">
              <a:ext uri="{FF2B5EF4-FFF2-40B4-BE49-F238E27FC236}">
                <a16:creationId xmlns:a16="http://schemas.microsoft.com/office/drawing/2014/main" id="{08C07C4E-2C68-4B05-84EB-F3A66F9C52C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19</a:t>
            </a:r>
          </a:p>
        </p:txBody>
      </p:sp>
      <p:graphicFrame>
        <p:nvGraphicFramePr>
          <p:cNvPr id="12" name=""/>
          <p:cNvGraphicFramePr/>
          <p:nvPr/>
        </p:nvGraphicFramePr>
        <p:xfrm>
          <a:off xmlns:a="http://schemas.openxmlformats.org/drawingml/2006/main" x="533400" y="2428875"/>
          <a:ext xmlns:a="http://schemas.openxmlformats.org/drawingml/2006/main" cx="11125200" cy="2857500"/>
        </p:xfrm>
        <a:graphic xmlns:a="http://schemas.openxmlformats.org/drawingml/2006/main">
          <a:graphicData uri="http://schemas.openxmlformats.org/drawingml/2006/table">
            <a:tbl>
              <a:tblPr/>
              <a:tblGrid>
                <a:gridCol w="1619250"/>
                <a:gridCol w="5095875"/>
                <a:gridCol w="4410075"/>
              </a:tblGrid>
              <a:tr h="495300">
                <a:tc>
                  <a:txBody>
                    <a:bodyPr/>
                    <a:lstStyle/>
                    <a:p>
                      <a:r>
                        <a:rPr sz="1800" b="1">
                          <a:solidFill>
                            <a:srgbClr val="FFFFFF"/>
                          </a:solidFill>
                          <a:latin typeface="Helvetica Neue"/>
                          <a:ea typeface="Helvetica Neue"/>
                          <a:cs typeface="Helvetica Neue"/>
                        </a:rPr>
                        <a:t>Stage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Expansion condition</a:t>
                      </a:r>
                    </a:p>
                  </a:txBody>
                  <a:tcPr marL="91440" marR="91440" marT="45720" marB="45720">
                    <a:solidFill>
                      <a:srgbClr val="183449"/>
                    </a:solidFill>
                  </a:tcPr>
                </a:tc>
              </a:tr>
              <a:tr h="787400">
                <a:tc>
                  <a:txBody>
                    <a:bodyPr/>
                    <a:lstStyle/>
                    <a:p>
                      <a:r>
                        <a:rPr sz="1800" b="1">
                          <a:solidFill>
                            <a:srgbClr val="233746"/>
                          </a:solidFill>
                          <a:latin typeface="Helvetica Neue"/>
                          <a:ea typeface="Helvetica Neue"/>
                          <a:cs typeface="Helvetica Neue"/>
                        </a:rPr>
                        <a:t>1  Reliable guidance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Sourced answers for one defined CSE process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Correct answers and maintainable content</a:t>
                      </a:r>
                    </a:p>
                  </a:txBody>
                  <a:tcPr marL="91440" marR="91440" marT="45720" marB="45720">
                    <a:solidFill>
                      <a:srgbClr val="FFFFFF"/>
                    </a:solidFill>
                  </a:tcPr>
                </a:tc>
              </a:tr>
              <a:tr h="787400">
                <a:tc>
                  <a:txBody>
                    <a:bodyPr/>
                    <a:lstStyle/>
                    <a:p>
                      <a:r>
                        <a:rPr sz="1800" b="1">
                          <a:solidFill>
                            <a:srgbClr val="233746"/>
                          </a:solidFill>
                          <a:latin typeface="Helvetica Neue"/>
                          <a:ea typeface="Helvetica Neue"/>
                          <a:cs typeface="Helvetica Neue"/>
                        </a:rPr>
                        <a:t>2  Guided resolution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Checklists, staff routing and case status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Fewer repeat contacts without extra staff burden</a:t>
                      </a:r>
                    </a:p>
                  </a:txBody>
                  <a:tcPr marL="91440" marR="91440" marT="45720" marB="45720">
                    <a:solidFill>
                      <a:srgbClr val="EDF3F4"/>
                    </a:solidFill>
                  </a:tcPr>
                </a:tc>
              </a:tr>
              <a:tr h="787400">
                <a:tc>
                  <a:txBody>
                    <a:bodyPr/>
                    <a:lstStyle/>
                    <a:p>
                      <a:r>
                        <a:rPr sz="1800" b="1">
                          <a:solidFill>
                            <a:srgbClr val="233746"/>
                          </a:solidFill>
                          <a:latin typeface="Helvetica Neue"/>
                          <a:ea typeface="Helvetica Neue"/>
                          <a:cs typeface="Helvetica Neue"/>
                        </a:rPr>
                        <a:t>3  Wider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Validated BMS workflows and milestone reminders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Reliable data, permissions and demonstrated demand</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0C9E6A0-B5C3-43FD-87DB-158499BCFF99}"/>
              </a:ext>
            </a:extLst>
          </p:cNvPr>
          <p:cNvSpPr>
            <a:spLocks xmlns:a="http://schemas.openxmlformats.org/drawingml/2006/main" noGrp="1"/>
          </p:cNvSpPr>
          <p:nvPr/>
        </p:nvSpPr>
        <p:spPr>
          <a:xfrm xmlns:a="http://schemas.openxmlformats.org/drawingml/2006/main">
            <a:off x="533400" y="56197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Decision proposed: validate ownership and run a bounded support pilot.</a:t>
            </a:r>
          </a:p>
        </p:txBody>
      </p:sp>
      <p:sp>
        <p:nvSpPr>
          <p:cNvPr id="7" name="">
            <a:extLst xmlns:a="http://schemas.openxmlformats.org/drawingml/2006/main">
              <a:ext uri="{FF2B5EF4-FFF2-40B4-BE49-F238E27FC236}">
                <a16:creationId xmlns:a16="http://schemas.microsoft.com/office/drawing/2014/main" id="{75657F71-615B-4A45-8EAE-12C48FC5946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Customer Experience research identifies the needs. Pilot evidence must determine whether to expand.</a:t>
            </a:r>
          </a:p>
        </p:txBody>
      </p:sp>
    </p:spTree>
    <p:extLst>
      <p:ext uri="{BB962C8B-B14F-4D97-AF65-F5344CB8AC3E}">
        <p14:creationId xmlns:p14="http://schemas.microsoft.com/office/powerpoint/2010/main" val="2064197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2026-09-23T07:08:45.9350000Z</dcterms:created>
  <dcterms:modified xsi:type="dcterms:W3CDTF">2026-09-23T07:08:45.9350000Z</dcterms:modified>
</coreProperties>
</file>