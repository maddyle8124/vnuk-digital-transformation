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e292dc124fc431d" /><Relationship Type="http://schemas.openxmlformats.org/officeDocument/2006/relationships/extended-properties" Target="/docProps/app.xml" Id="R8dd9fd895cde494c" /><Relationship Type="http://schemas.openxmlformats.org/officeDocument/2006/relationships/officeDocument" Target="/ppt/presentation.xml" Id="Rb2e7056b2ac24701" /></Relationships>
</file>

<file path=ppt/presentation.xml><?xml version="1.0" encoding="utf-8"?>
<p:presentation xmlns:p="http://schemas.openxmlformats.org/presentationml/2006/main">
  <p:sldMasterIdLst>
    <p:sldMasterId xmlns:r="http://schemas.openxmlformats.org/officeDocument/2006/relationships" id="2147483648" r:id="R1b08c35687ea4c5a"/>
  </p:sldMasterIdLst>
  <p:notesMasterIdLst>
    <p:notesMasterId xmlns:r="http://schemas.openxmlformats.org/officeDocument/2006/relationships" r:id="R70e2925e22d7401a"/>
  </p:notesMasterIdLst>
  <p:sldIdLst>
    <p:sldId xmlns:r="http://schemas.openxmlformats.org/officeDocument/2006/relationships" id="256" r:id="R8b628e9bb66e4906"/>
    <p:sldId xmlns:r="http://schemas.openxmlformats.org/officeDocument/2006/relationships" id="257" r:id="R16b7c39ec6304af4"/>
    <p:sldId xmlns:r="http://schemas.openxmlformats.org/officeDocument/2006/relationships" id="258" r:id="R8543606d3ad0465a"/>
    <p:sldId xmlns:r="http://schemas.openxmlformats.org/officeDocument/2006/relationships" id="259" r:id="R1b0594cec67142ae"/>
    <p:sldId xmlns:r="http://schemas.openxmlformats.org/officeDocument/2006/relationships" id="260" r:id="R6ed0a109b3094e4c"/>
    <p:sldId xmlns:r="http://schemas.openxmlformats.org/officeDocument/2006/relationships" id="261" r:id="R77ed8295015443fe"/>
    <p:sldId xmlns:r="http://schemas.openxmlformats.org/officeDocument/2006/relationships" id="262" r:id="R681bee21b6de454c"/>
    <p:sldId xmlns:r="http://schemas.openxmlformats.org/officeDocument/2006/relationships" id="263" r:id="Rc9adb95e3d2a4532"/>
    <p:sldId xmlns:r="http://schemas.openxmlformats.org/officeDocument/2006/relationships" id="264" r:id="R1169365d33aa473f"/>
    <p:sldId xmlns:r="http://schemas.openxmlformats.org/officeDocument/2006/relationships" id="265" r:id="R6ec4805589734b7f"/>
    <p:sldId xmlns:r="http://schemas.openxmlformats.org/officeDocument/2006/relationships" id="266" r:id="Re5d89bba195b40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9324f196a1471f" /><Relationship Type="http://schemas.openxmlformats.org/officeDocument/2006/relationships/slideMaster" Target="/ppt/slideMasters/slideMaster1.xml" Id="R1b08c35687ea4c5a" /><Relationship Type="http://schemas.openxmlformats.org/officeDocument/2006/relationships/notesMaster" Target="/ppt/notesMasters/notesMaster1.xml" Id="R70e2925e22d7401a" /><Relationship Type="http://schemas.openxmlformats.org/officeDocument/2006/relationships/presProps" Target="/ppt/presProps.xml" Id="R92c1f4ebc4a843d0" /><Relationship Type="http://schemas.openxmlformats.org/officeDocument/2006/relationships/tableStyles" Target="/ppt/tableStyles.xml" Id="Rae4c1ce87a4d4989" /><Relationship Type="http://schemas.openxmlformats.org/officeDocument/2006/relationships/slide" Target="/ppt/slides/slide1.xml" Id="R8b628e9bb66e4906" /><Relationship Type="http://schemas.openxmlformats.org/officeDocument/2006/relationships/slide" Target="/ppt/slides/slide2.xml" Id="R16b7c39ec6304af4" /><Relationship Type="http://schemas.openxmlformats.org/officeDocument/2006/relationships/slide" Target="/ppt/slides/slide3.xml" Id="R8543606d3ad0465a" /><Relationship Type="http://schemas.openxmlformats.org/officeDocument/2006/relationships/slide" Target="/ppt/slides/slide4.xml" Id="R1b0594cec67142ae" /><Relationship Type="http://schemas.openxmlformats.org/officeDocument/2006/relationships/slide" Target="/ppt/slides/slide5.xml" Id="R6ed0a109b3094e4c" /><Relationship Type="http://schemas.openxmlformats.org/officeDocument/2006/relationships/slide" Target="/ppt/slides/slide6.xml" Id="R77ed8295015443fe" /><Relationship Type="http://schemas.openxmlformats.org/officeDocument/2006/relationships/slide" Target="/ppt/slides/slide7.xml" Id="R681bee21b6de454c" /><Relationship Type="http://schemas.openxmlformats.org/officeDocument/2006/relationships/slide" Target="/ppt/slides/slide8.xml" Id="Rc9adb95e3d2a4532" /><Relationship Type="http://schemas.openxmlformats.org/officeDocument/2006/relationships/slide" Target="/ppt/slides/slide9.xml" Id="R1169365d33aa473f" /><Relationship Type="http://schemas.openxmlformats.org/officeDocument/2006/relationships/slide" Target="/ppt/slides/slide10.xml" Id="R6ec4805589734b7f" /><Relationship Type="http://schemas.openxmlformats.org/officeDocument/2006/relationships/slide" Target="/ppt/slides/slide11.xml" Id="Re5d89bba195b40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0c5ace42bd4a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558168aff74520" /><Relationship Type="http://schemas.openxmlformats.org/officeDocument/2006/relationships/notesMaster" Target="/ppt/notesMasters/notesMaster1.xml" Id="R03bfe870ae294a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370d77d5f54a5c" /><Relationship Type="http://schemas.openxmlformats.org/officeDocument/2006/relationships/notesMaster" Target="/ppt/notesMasters/notesMaster1.xml" Id="R8baef17b5d724a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c33c56ee06483b" /><Relationship Type="http://schemas.openxmlformats.org/officeDocument/2006/relationships/notesMaster" Target="/ppt/notesMasters/notesMaster1.xml" Id="R5e5f6555e93f42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6cc02c6b244e5c" /><Relationship Type="http://schemas.openxmlformats.org/officeDocument/2006/relationships/notesMaster" Target="/ppt/notesMasters/notesMaster1.xml" Id="R905aefea27894f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378a24c8f04030" /><Relationship Type="http://schemas.openxmlformats.org/officeDocument/2006/relationships/notesMaster" Target="/ppt/notesMasters/notesMaster1.xml" Id="R371bb1df241d4d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6af056d6bb47f7" /><Relationship Type="http://schemas.openxmlformats.org/officeDocument/2006/relationships/notesMaster" Target="/ppt/notesMasters/notesMaster1.xml" Id="Rbb1aef0df5504c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6d7200bd8a4c0a" /><Relationship Type="http://schemas.openxmlformats.org/officeDocument/2006/relationships/notesMaster" Target="/ppt/notesMasters/notesMaster1.xml" Id="R0afa75f7174340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e981d151b2437f" /><Relationship Type="http://schemas.openxmlformats.org/officeDocument/2006/relationships/notesMaster" Target="/ppt/notesMasters/notesMaster1.xml" Id="R8aedb19040e34c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28803a2f3e41fe" /><Relationship Type="http://schemas.openxmlformats.org/officeDocument/2006/relationships/notesMaster" Target="/ppt/notesMasters/notesMaster1.xml" Id="Rce94110701344d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bce87d65bb4384" /><Relationship Type="http://schemas.openxmlformats.org/officeDocument/2006/relationships/notesMaster" Target="/ppt/notesMasters/notesMaster1.xml" Id="R905e30485b2f41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1a42725543427a" /><Relationship Type="http://schemas.openxmlformats.org/officeDocument/2006/relationships/notesMaster" Target="/ppt/notesMasters/notesMaster1.xml" Id="Rc691779b38a443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Workshop reference: /Users/maddy/Downloads/vnuk/digital trans/DBB43005_Session3_Week3_Digital_Diagnosis_Domain_Selection.pdf, PDF pages 6–7, 12, 15, 20–21. Scope is first three integrated-workshop parts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/Users/maddy/Downloads/interviews/Mngoc interview.docx, Huy Hoàng Q2/Q3/Q9 and Vinh Phạm Q2/Q7; /Users/maddy/Downloads/interviews/Khánh linh interview.pdf, Kiệt pp.1–2 and Tiến pp.4–6; /Users/maddy/Downloads/interviews/lh interview.docx, Đạt rough notes; /Users/maddy/Downloads/interviews/thuylinh interview.docx, Tuyến and Chính. The 4–5 day wait is one recalled case. No claim about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 /Users/maddy/Downloads/vnuk/digital trans/CX Group 3 _ Final Project- full rp.md, §3.1.2 Figures 1–3. Figure 2: 7/8 heat-related fatigue/irritability/reduced productivity and 5/8 want to finish quickly. Figure 3: 6/8 heavy workload and 4/8 insufficient practical time. Chart uses selected categories across two questions; categories overlap. Figure 1 counts at ratings 1–5 are [0,1,3,2,2]. Mean=(2+9+8+10)/8=3.625. The report narrative incorrectly gives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/Users/maddy/Downloads/interviews/Mngoc interview.docx, Huy Hoàng; BMS /Users/maddy/Downloads/vnuk/digital trans/CX Group 3 _ Final Project- full rp.md §§3.1.1–3.1.2 and 3.3. BMS borrowing and afternoon technical guidance are report-level qualitative findings, not a supplied transcript. No financial, retention or productivity effect is quantified.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Domain boundaries are team analysis based on the supplied research. Workshop asks for 6–10 mapped domains and three shortlisted candidates. Selection balances concrete CSE process evidence, quantified BMS pain and a shared support domain. Advising evidence in BMS is thinner; this is explicitly a discovery candidate, not a claim of equal maturity or equal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/Users/maddy/Downloads/interviews/DUY INTERIVEW.pdf pp.1–3 and Mngoc interview.docx, Huy Hoàng Q2/Q9. Measures are proposed for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/Users/maddy/Downloads/vnuk/digital trans/CX Group 3 _ Final Project- full rp.md §§3.1.1–3.1.2, 3.3 and Figure 3. Cooling and physical capacity remain dependencies even though major capital work is outside this domain boundary. No inference that a booking tool fixes heat.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/Users/maddy/Downloads/interviews/Mngoc interview.docx; thuylinh interview.docx; /Users/maddy/Downloads/vnuk/digital trans/CX Group 3 _ Final Project- full rp.md §§2.4–2.5 and Figure 7. BMS 0/8 selecting advisor contact as stress coping does not prove unavailable advising. BMS enquiry demand and service performance are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Workshop capability dimensions: PDF p.15 (printed p.16). Ratings are qualitative analyst assessments, not measured maturity scores. Sources: DUY faculty notes p.5; CSE student interviews; BMS report §§2.4–2.5, 3.1.1 and 5–6. Roadmap includes accountable value owner and agreed priorities. BMS proposed CX Council and staffing proposals do not establish present ownership or spare staff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Mngoc interview Q2/Q9, DUY interview, lh notes; BMS report §§2.4–2.5, 3.1.2, 4.1, 5.3. Proposed BMS booking app and digital inventory are not existing capabilities. Adoption requirements are analyst-defined. Partial does not imply implementation-ready; Unknown is not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Synthesis of the first three workshop parts only. No value–feasibility matrix, priority selection, detailed technology recommendation or implementation roadmap is included. The user confirms continued issues, not repeated numerical measurements. BMS faculty interview was conducted per user, but its completed answers are not supplied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af36e501b141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2fcf8b7ebc4c25" /><Relationship Type="http://schemas.openxmlformats.org/officeDocument/2006/relationships/slideLayout" Target="/ppt/slideLayouts/slideLayout1.xml" Id="R5f27fcebb10942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27fcebb10942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d88e95df9a4226" /><Relationship Type="http://schemas.openxmlformats.org/officeDocument/2006/relationships/notesSlide" Target="/ppt/notesSlides/notesSlide1.xml" Id="R8ee3705a280544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accbde507c49fe" /><Relationship Type="http://schemas.openxmlformats.org/officeDocument/2006/relationships/notesSlide" Target="/ppt/notesSlides/notesSlide2.xml" Id="R1b1f6f76d6294d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fa39fd0ddc4dda" /><Relationship Type="http://schemas.openxmlformats.org/officeDocument/2006/relationships/chart" Target="/ppt/slides/charts/chart1.xml" Id="Rf69adb3ce4fc4677" /><Relationship Type="http://schemas.openxmlformats.org/officeDocument/2006/relationships/notesSlide" Target="/ppt/notesSlides/notesSlide3.xml" Id="R28b056295d8b49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ee3457b40845ed" /><Relationship Type="http://schemas.openxmlformats.org/officeDocument/2006/relationships/notesSlide" Target="/ppt/notesSlides/notesSlide4.xml" Id="R0b2e9fb2ed3045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b56348f13048ce" /><Relationship Type="http://schemas.openxmlformats.org/officeDocument/2006/relationships/notesSlide" Target="/ppt/notesSlides/notesSlide5.xml" Id="R5630b53cbeb547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11f9d9c07c4aef" /><Relationship Type="http://schemas.openxmlformats.org/officeDocument/2006/relationships/notesSlide" Target="/ppt/notesSlides/notesSlide6.xml" Id="R3a2bbf9ddbdf44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0f3804ea5140b8" /><Relationship Type="http://schemas.openxmlformats.org/officeDocument/2006/relationships/notesSlide" Target="/ppt/notesSlides/notesSlide7.xml" Id="R318cef1eec914d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a06eb9e8c04a56" /><Relationship Type="http://schemas.openxmlformats.org/officeDocument/2006/relationships/notesSlide" Target="/ppt/notesSlides/notesSlide8.xml" Id="Rf4baca3952a94b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344c2dd9384d7b" /><Relationship Type="http://schemas.openxmlformats.org/officeDocument/2006/relationships/notesSlide" Target="/ppt/notesSlides/notesSlide9.xml" Id="R2446e8e79dad4b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7a56736dbe4cfa" /><Relationship Type="http://schemas.openxmlformats.org/officeDocument/2006/relationships/notesSlide" Target="/ppt/notesSlides/notesSlide10.xml" Id="R9cbfaf23e47d45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039c2767ec04844" /><Relationship Type="http://schemas.openxmlformats.org/officeDocument/2006/relationships/notesSlide" Target="/ppt/notesSlides/notesSlide11.xml" Id="R6d1fad87b3b3421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Respondents (out of 8)</c:v>
          </c:tx>
          <c:spPr>
            <a:solidFill xmlns:a="http://schemas.openxmlformats.org/drawingml/2006/main">
              <a:srgbClr val="16878A"/>
            </a:solidFill>
          </c:spPr>
          <c:cat>
            <c:strRef>
              <c:f>'Chart Data'!$A$2:$A$5</c:f>
              <c:strCache>
                <c:ptCount val="4"/>
                <c:pt idx="0">
                  <c:v>Heat-related fatigue</c:v>
                </c:pt>
                <c:pt idx="1">
                  <c:v>Heavy academic workload</c:v>
                </c:pt>
                <c:pt idx="2">
                  <c:v>Rushing to leave the lab</c:v>
                </c:pt>
                <c:pt idx="3">
                  <c:v>Insufficient practice time</c:v>
                </c:pt>
              </c:strCache>
            </c:strRef>
          </c:cat>
          <c:val>
            <c:numRef>
              <c:f>'Chart Data'!$B$2:$B$5</c:f>
              <c:numCache>
                <c:formatCode>General</c:formatCode>
                <c:ptCount val="4"/>
                <c:pt idx="0">
                  <c:v>7</c:v>
                </c:pt>
                <c:pt idx="1">
                  <c:v>6</c:v>
                </c:pt>
                <c:pt idx="2">
                  <c:v>5</c:v>
                </c:pt>
                <c:pt idx="3">
                  <c:v>4</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3449"/>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325222-5316-4EF7-BCA5-CFE839619D03}"/>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C7CC5C04-44E8-424E-AB8D-EF53CFC7EEC8}"/>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VNUK digital diagnosis</a:t>
            </a:r>
          </a:p>
        </p:txBody>
      </p:sp>
      <p:sp>
        <p:nvSpPr>
          <p:cNvPr id="3" name="">
            <a:extLst xmlns:a="http://schemas.openxmlformats.org/drawingml/2006/main">
              <a:ext uri="{FF2B5EF4-FFF2-40B4-BE49-F238E27FC236}">
                <a16:creationId xmlns:a16="http://schemas.microsoft.com/office/drawing/2014/main" id="{3ACE851A-47BA-4BFE-87B0-00D7EE9E89C1}"/>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BMS and CSE: evidence, problem domains and capability gaps</a:t>
            </a:r>
          </a:p>
        </p:txBody>
      </p:sp>
      <p:sp>
        <p:nvSpPr>
          <p:cNvPr id="4" name="">
            <a:extLst xmlns:a="http://schemas.openxmlformats.org/drawingml/2006/main">
              <a:ext uri="{FF2B5EF4-FFF2-40B4-BE49-F238E27FC236}">
                <a16:creationId xmlns:a16="http://schemas.microsoft.com/office/drawing/2014/main" id="{269A8466-091B-4B37-A46E-06EDBE704083}"/>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32554F23-3221-40B7-8D2A-57D6F9CCF8F7}"/>
              </a:ext>
            </a:extLst>
          </p:cNvPr>
          <p:cNvSpPr>
            <a:spLocks xmlns:a="http://schemas.openxmlformats.org/drawingml/2006/main" noGrp="1"/>
          </p:cNvSpPr>
          <p:nvPr/>
        </p:nvSpPr>
        <p:spPr>
          <a:xfrm xmlns:a="http://schemas.openxmlformats.org/drawingml/2006/main">
            <a:off x="533400" y="26193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3746"/>
                </a:solidFill>
                <a:latin typeface="Helvetica Neue"/>
                <a:ea typeface="Helvetica Neue"/>
                <a:cs typeface="Helvetica Neue"/>
              </a:defRPr>
            </a:pPr>
            <a:r>
              <a:rPr sz="2250" b="1">
                <a:solidFill>
                  <a:srgbClr val="233746"/>
                </a:solidFill>
                <a:latin typeface="Helvetica Neue"/>
                <a:ea typeface="Helvetica Neue"/>
                <a:cs typeface="Helvetica Neue"/>
              </a:rPr>
              <a:t>Educational service in scope</a:t>
            </a:r>
          </a:p>
        </p:txBody>
      </p:sp>
      <p:sp>
        <p:nvSpPr>
          <p:cNvPr id="6" name="">
            <a:extLst xmlns:a="http://schemas.openxmlformats.org/drawingml/2006/main">
              <a:ext uri="{FF2B5EF4-FFF2-40B4-BE49-F238E27FC236}">
                <a16:creationId xmlns:a16="http://schemas.microsoft.com/office/drawing/2014/main" id="{0B2270EC-E9D5-4F35-B468-8A923E4BF10B}"/>
              </a:ext>
            </a:extLst>
          </p:cNvPr>
          <p:cNvSpPr>
            <a:spLocks xmlns:a="http://schemas.openxmlformats.org/drawingml/2006/main" noGrp="1"/>
          </p:cNvSpPr>
          <p:nvPr/>
        </p:nvSpPr>
        <p:spPr>
          <a:xfrm xmlns:a="http://schemas.openxmlformats.org/drawingml/2006/main">
            <a:off x="533400" y="32099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746"/>
                </a:solidFill>
                <a:latin typeface="Helvetica Neue"/>
                <a:ea typeface="Helvetica Neue"/>
                <a:cs typeface="Helvetica Neue"/>
              </a:defRPr>
            </a:pPr>
            <a:r>
              <a:rPr sz="2325" b="0">
                <a:solidFill>
                  <a:srgbClr val="233746"/>
                </a:solidFill>
                <a:latin typeface="Helvetica Neue"/>
                <a:ea typeface="Helvetica Neue"/>
                <a:cs typeface="Helvetica Neue"/>
              </a:rPr>
              <a:t>How students access learning resources, obtain support and complete academic processes.</a:t>
            </a:r>
          </a:p>
        </p:txBody>
      </p:sp>
      <p:sp>
        <p:nvSpPr>
          <p:cNvPr id="7" name="">
            <a:extLst xmlns:a="http://schemas.openxmlformats.org/drawingml/2006/main">
              <a:ext uri="{FF2B5EF4-FFF2-40B4-BE49-F238E27FC236}">
                <a16:creationId xmlns:a16="http://schemas.microsoft.com/office/drawing/2014/main" id="{865DF88E-2B8F-421C-BD64-9B8F60C1539F}"/>
              </a:ext>
            </a:extLst>
          </p:cNvPr>
          <p:cNvSpPr>
            <a:spLocks xmlns:a="http://schemas.openxmlformats.org/drawingml/2006/main" noGrp="1"/>
          </p:cNvSpPr>
          <p:nvPr/>
        </p:nvSpPr>
        <p:spPr>
          <a:xfrm xmlns:a="http://schemas.openxmlformats.org/drawingml/2006/main">
            <a:off x="6477000" y="26193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3746"/>
                </a:solidFill>
                <a:latin typeface="Helvetica Neue"/>
                <a:ea typeface="Helvetica Neue"/>
                <a:cs typeface="Helvetica Neue"/>
              </a:defRPr>
            </a:pPr>
            <a:r>
              <a:rPr sz="2250" b="1">
                <a:solidFill>
                  <a:srgbClr val="233746"/>
                </a:solidFill>
                <a:latin typeface="Helvetica Neue"/>
                <a:ea typeface="Helvetica Neue"/>
                <a:cs typeface="Helvetica Neue"/>
              </a:rPr>
              <a:t>Evidence base</a:t>
            </a:r>
          </a:p>
        </p:txBody>
      </p:sp>
      <p:sp>
        <p:nvSpPr>
          <p:cNvPr id="8" name="">
            <a:extLst xmlns:a="http://schemas.openxmlformats.org/drawingml/2006/main">
              <a:ext uri="{FF2B5EF4-FFF2-40B4-BE49-F238E27FC236}">
                <a16:creationId xmlns:a16="http://schemas.microsoft.com/office/drawing/2014/main" id="{40823ED7-336B-4B9E-8717-C9C35472A582}"/>
              </a:ext>
            </a:extLst>
          </p:cNvPr>
          <p:cNvSpPr>
            <a:spLocks xmlns:a="http://schemas.openxmlformats.org/drawingml/2006/main" noGrp="1"/>
          </p:cNvSpPr>
          <p:nvPr/>
        </p:nvSpPr>
        <p:spPr>
          <a:xfrm xmlns:a="http://schemas.openxmlformats.org/drawingml/2006/main">
            <a:off x="6477000" y="3209925"/>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CSE: interviews and process accounts</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BMS: 8-response survey and CX report</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Fieldwork: Dec 2025–Jan 2026</a:t>
            </a:r>
          </a:p>
        </p:txBody>
      </p:sp>
      <p:sp>
        <p:nvSpPr>
          <p:cNvPr id="9" name="">
            <a:extLst xmlns:a="http://schemas.openxmlformats.org/drawingml/2006/main">
              <a:ext uri="{FF2B5EF4-FFF2-40B4-BE49-F238E27FC236}">
                <a16:creationId xmlns:a16="http://schemas.microsoft.com/office/drawing/2014/main" id="{5BF4D61E-5A56-4927-B5B2-D231C1A38F40}"/>
              </a:ext>
            </a:extLst>
          </p:cNvPr>
          <p:cNvSpPr>
            <a:spLocks xmlns:a="http://schemas.openxmlformats.org/drawingml/2006/main" noGrp="1"/>
          </p:cNvSpPr>
          <p:nvPr/>
        </p:nvSpPr>
        <p:spPr>
          <a:xfrm xmlns:a="http://schemas.openxmlformats.org/drawingml/2006/main">
            <a:off x="533400" y="51625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878A"/>
                </a:solidFill>
                <a:latin typeface="Helvetica Neue"/>
                <a:ea typeface="Helvetica Neue"/>
                <a:cs typeface="Helvetica Neue"/>
              </a:defRPr>
            </a:pPr>
            <a:r>
              <a:rPr sz="2025" b="1">
                <a:solidFill>
                  <a:srgbClr val="16878A"/>
                </a:solidFill>
                <a:latin typeface="Helvetica Neue"/>
                <a:ea typeface="Helvetica Neue"/>
                <a:cs typeface="Helvetica Neue"/>
              </a:rPr>
              <a:t>Current update: the team reports that the problems continue.</a:t>
            </a:r>
          </a:p>
        </p:txBody>
      </p:sp>
      <p:sp>
        <p:nvSpPr>
          <p:cNvPr id="10" name="">
            <a:extLst xmlns:a="http://schemas.openxmlformats.org/drawingml/2006/main">
              <a:ext uri="{FF2B5EF4-FFF2-40B4-BE49-F238E27FC236}">
                <a16:creationId xmlns:a16="http://schemas.microsoft.com/office/drawing/2014/main" id="{B00E295B-2533-492A-B071-5FA79E9B12C2}"/>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Historical measurements inform this diagnosis. Current severity has not been remeasured.</a:t>
            </a:r>
          </a:p>
        </p:txBody>
      </p:sp>
    </p:spTree>
    <p:extLst>
      <p:ext uri="{BB962C8B-B14F-4D97-AF65-F5344CB8AC3E}">
        <p14:creationId xmlns:p14="http://schemas.microsoft.com/office/powerpoint/2010/main" val="840458491"/>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39E24D-4ABF-4EBB-9EE6-409A5DC162A5}"/>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2C3C4BC5-668E-4403-A9B7-45E96A3CE342}"/>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CSE: support exists, but experiences differ</a:t>
            </a:r>
          </a:p>
        </p:txBody>
      </p:sp>
      <p:sp>
        <p:nvSpPr>
          <p:cNvPr id="3" name="">
            <a:extLst xmlns:a="http://schemas.openxmlformats.org/drawingml/2006/main">
              <a:ext uri="{FF2B5EF4-FFF2-40B4-BE49-F238E27FC236}">
                <a16:creationId xmlns:a16="http://schemas.microsoft.com/office/drawing/2014/main" id="{6F465927-3C16-4535-AAFB-60FA733490C6}"/>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interviews show both useful academic support and friction in administrative processes.</a:t>
            </a:r>
          </a:p>
        </p:txBody>
      </p:sp>
      <p:sp>
        <p:nvSpPr>
          <p:cNvPr id="4" name="">
            <a:extLst xmlns:a="http://schemas.openxmlformats.org/drawingml/2006/main">
              <a:ext uri="{FF2B5EF4-FFF2-40B4-BE49-F238E27FC236}">
                <a16:creationId xmlns:a16="http://schemas.microsoft.com/office/drawing/2014/main" id="{D6BCBA7C-914E-4CF6-9E0B-0DD25E977185}"/>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02</a:t>
            </a:r>
          </a:p>
        </p:txBody>
      </p:sp>
      <p:graphicFrame>
        <p:nvGraphicFramePr>
          <p:cNvPr id="11" name=""/>
          <p:cNvGraphicFramePr/>
          <p:nvPr/>
        </p:nvGraphicFramePr>
        <p:xfrm>
          <a:off xmlns:a="http://schemas.openxmlformats.org/drawingml/2006/main" x="533400" y="2428875"/>
          <a:ext xmlns:a="http://schemas.openxmlformats.org/drawingml/2006/main" cx="11125200" cy="3238500"/>
        </p:xfrm>
        <a:graphic xmlns:a="http://schemas.openxmlformats.org/drawingml/2006/main">
          <a:graphicData uri="http://schemas.openxmlformats.org/drawingml/2006/table">
            <a:tbl>
              <a:tblPr/>
              <a:tblGrid>
                <a:gridCol w="2333625"/>
                <a:gridCol w="4524375"/>
                <a:gridCol w="4267200"/>
              </a:tblGrid>
              <a:tr h="495300">
                <a:tc>
                  <a:txBody>
                    <a:bodyPr/>
                    <a:lstStyle/>
                    <a:p>
                      <a:r>
                        <a:rPr sz="1875" b="1">
                          <a:solidFill>
                            <a:srgbClr val="FFFFFF"/>
                          </a:solidFill>
                          <a:latin typeface="Helvetica Neue"/>
                          <a:ea typeface="Helvetica Neue"/>
                          <a:cs typeface="Helvetica Neue"/>
                        </a:rPr>
                        <a:t>Process</a:t>
                      </a:r>
                    </a:p>
                  </a:txBody>
                  <a:tcPr marL="91440" marR="91440" marT="45720" marB="45720">
                    <a:solidFill>
                      <a:srgbClr val="183449"/>
                    </a:solidFill>
                  </a:tcPr>
                </a:tc>
                <a:tc>
                  <a:txBody>
                    <a:bodyPr/>
                    <a:lstStyle/>
                    <a:p>
                      <a:r>
                        <a:rPr sz="1875" b="1">
                          <a:solidFill>
                            <a:srgbClr val="FFFFFF"/>
                          </a:solidFill>
                          <a:latin typeface="Helvetica Neue"/>
                          <a:ea typeface="Helvetica Neue"/>
                          <a:cs typeface="Helvetica Neue"/>
                        </a:rPr>
                        <a:t>Reported friction</a:t>
                      </a:r>
                    </a:p>
                  </a:txBody>
                  <a:tcPr marL="91440" marR="91440" marT="45720" marB="45720">
                    <a:solidFill>
                      <a:srgbClr val="183449"/>
                    </a:solidFill>
                  </a:tcPr>
                </a:tc>
                <a:tc>
                  <a:txBody>
                    <a:bodyPr/>
                    <a:lstStyle/>
                    <a:p>
                      <a:r>
                        <a:rPr sz="1875" b="1">
                          <a:solidFill>
                            <a:srgbClr val="FFFFFF"/>
                          </a:solidFill>
                          <a:latin typeface="Helvetica Neue"/>
                          <a:ea typeface="Helvetica Neue"/>
                          <a:cs typeface="Helvetica Neue"/>
                        </a:rPr>
                        <a:t>Counter-evidence / limit</a:t>
                      </a:r>
                    </a:p>
                  </a:txBody>
                  <a:tcPr marL="91440" marR="91440" marT="45720" marB="45720">
                    <a:solidFill>
                      <a:srgbClr val="183449"/>
                    </a:solidFill>
                  </a:tcPr>
                </a:tc>
              </a:tr>
              <a:tr h="914400">
                <a:tc>
                  <a:txBody>
                    <a:bodyPr/>
                    <a:lstStyle/>
                    <a:p>
                      <a:r>
                        <a:rPr sz="1875" b="1">
                          <a:solidFill>
                            <a:srgbClr val="233746"/>
                          </a:solidFill>
                          <a:latin typeface="Helvetica Neue"/>
                          <a:ea typeface="Helvetica Neue"/>
                          <a:cs typeface="Helvetica Neue"/>
                        </a:rPr>
                        <a:t>Course registration</a:t>
                      </a:r>
                    </a:p>
                  </a:txBody>
                  <a:tcPr marL="91440" marR="91440" marT="45720" marB="45720">
                    <a:solidFill>
                      <a:srgbClr val="FFFFFF"/>
                    </a:solidFill>
                  </a:tcPr>
                </a:tc>
                <a:tc>
                  <a:txBody>
                    <a:bodyPr/>
                    <a:lstStyle/>
                    <a:p>
                      <a:r>
                        <a:rPr sz="1875" b="0">
                          <a:solidFill>
                            <a:srgbClr val="233746"/>
                          </a:solidFill>
                          <a:latin typeface="Helvetica Neue"/>
                          <a:ea typeface="Helvetica Neue"/>
                          <a:cs typeface="Helvetica Neue"/>
                        </a:rPr>
                        <a:t>Mixed listings, lag and uncertain confirmation</a:t>
                      </a:r>
                    </a:p>
                  </a:txBody>
                  <a:tcPr marL="91440" marR="91440" marT="45720" marB="45720">
                    <a:solidFill>
                      <a:srgbClr val="FFFFFF"/>
                    </a:solidFill>
                  </a:tcPr>
                </a:tc>
                <a:tc>
                  <a:txBody>
                    <a:bodyPr/>
                    <a:lstStyle/>
                    <a:p>
                      <a:r>
                        <a:rPr sz="1875" b="0">
                          <a:solidFill>
                            <a:srgbClr val="233746"/>
                          </a:solidFill>
                          <a:latin typeface="Helvetica Neue"/>
                          <a:ea typeface="Helvetica Neue"/>
                          <a:cs typeface="Helvetica Neue"/>
                        </a:rPr>
                        <a:t>No logs or failure rate supplied</a:t>
                      </a:r>
                    </a:p>
                  </a:txBody>
                  <a:tcPr marL="91440" marR="91440" marT="45720" marB="45720">
                    <a:solidFill>
                      <a:srgbClr val="FFFFFF"/>
                    </a:solidFill>
                  </a:tcPr>
                </a:tc>
              </a:tr>
              <a:tr h="914400">
                <a:tc>
                  <a:txBody>
                    <a:bodyPr/>
                    <a:lstStyle/>
                    <a:p>
                      <a:r>
                        <a:rPr sz="1875" b="1">
                          <a:solidFill>
                            <a:srgbClr val="233746"/>
                          </a:solidFill>
                          <a:latin typeface="Helvetica Neue"/>
                          <a:ea typeface="Helvetica Neue"/>
                          <a:cs typeface="Helvetica Neue"/>
                        </a:rPr>
                        <a:t>Academic advising</a:t>
                      </a:r>
                    </a:p>
                  </a:txBody>
                  <a:tcPr marL="91440" marR="91440" marT="45720" marB="45720">
                    <a:solidFill>
                      <a:srgbClr val="EDF3F4"/>
                    </a:solidFill>
                  </a:tcPr>
                </a:tc>
                <a:tc>
                  <a:txBody>
                    <a:bodyPr/>
                    <a:lstStyle/>
                    <a:p>
                      <a:r>
                        <a:rPr sz="1875" b="0">
                          <a:solidFill>
                            <a:srgbClr val="233746"/>
                          </a:solidFill>
                          <a:latin typeface="Helvetica Neue"/>
                          <a:ea typeface="Helvetica Neue"/>
                          <a:cs typeface="Helvetica Neue"/>
                        </a:rPr>
                        <a:t>One student recalls a 4–5 day reply delay</a:t>
                      </a:r>
                    </a:p>
                  </a:txBody>
                  <a:tcPr marL="91440" marR="91440" marT="45720" marB="45720">
                    <a:solidFill>
                      <a:srgbClr val="EDF3F4"/>
                    </a:solidFill>
                  </a:tcPr>
                </a:tc>
                <a:tc>
                  <a:txBody>
                    <a:bodyPr/>
                    <a:lstStyle/>
                    <a:p>
                      <a:r>
                        <a:rPr sz="1875" b="0">
                          <a:solidFill>
                            <a:srgbClr val="233746"/>
                          </a:solidFill>
                          <a:latin typeface="Helvetica Neue"/>
                          <a:ea typeface="Helvetica Neue"/>
                          <a:cs typeface="Helvetica Neue"/>
                        </a:rPr>
                        <a:t>Others describe helpful career and postgraduate advice</a:t>
                      </a:r>
                    </a:p>
                  </a:txBody>
                  <a:tcPr marL="91440" marR="91440" marT="45720" marB="45720">
                    <a:solidFill>
                      <a:srgbClr val="EDF3F4"/>
                    </a:solidFill>
                  </a:tcPr>
                </a:tc>
              </a:tr>
              <a:tr h="914400">
                <a:tc>
                  <a:txBody>
                    <a:bodyPr/>
                    <a:lstStyle/>
                    <a:p>
                      <a:r>
                        <a:rPr sz="1875" b="1">
                          <a:solidFill>
                            <a:srgbClr val="233746"/>
                          </a:solidFill>
                          <a:latin typeface="Helvetica Neue"/>
                          <a:ea typeface="Helvetica Neue"/>
                          <a:cs typeface="Helvetica Neue"/>
                        </a:rPr>
                        <a:t>Thesis and graduation</a:t>
                      </a:r>
                    </a:p>
                  </a:txBody>
                  <a:tcPr marL="91440" marR="91440" marT="45720" marB="45720">
                    <a:solidFill>
                      <a:srgbClr val="FFFFFF"/>
                    </a:solidFill>
                  </a:tcPr>
                </a:tc>
                <a:tc>
                  <a:txBody>
                    <a:bodyPr/>
                    <a:lstStyle/>
                    <a:p>
                      <a:r>
                        <a:rPr sz="1875" b="0">
                          <a:solidFill>
                            <a:srgbClr val="233746"/>
                          </a:solidFill>
                          <a:latin typeface="Helvetica Neue"/>
                          <a:ea typeface="Helvetica Neue"/>
                          <a:cs typeface="Helvetica Neue"/>
                        </a:rPr>
                        <a:t>Unclear guidance, repeated checks and one missed notice</a:t>
                      </a:r>
                    </a:p>
                  </a:txBody>
                  <a:tcPr marL="91440" marR="91440" marT="45720" marB="45720">
                    <a:solidFill>
                      <a:srgbClr val="FFFFFF"/>
                    </a:solidFill>
                  </a:tcPr>
                </a:tc>
                <a:tc>
                  <a:txBody>
                    <a:bodyPr/>
                    <a:lstStyle/>
                    <a:p>
                      <a:r>
                        <a:rPr sz="1875" b="0">
                          <a:solidFill>
                            <a:srgbClr val="233746"/>
                          </a:solidFill>
                          <a:latin typeface="Helvetica Neue"/>
                          <a:ea typeface="Helvetica Neue"/>
                          <a:cs typeface="Helvetica Neue"/>
                        </a:rPr>
                        <a:t>An alumnus reports weekly supervision and faculty help</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BA3CDFC-20F8-4CE2-8232-0303996DF07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supplied CSE interviews. Findings describe individual experiences, not population rates.</a:t>
            </a:r>
          </a:p>
        </p:txBody>
      </p:sp>
    </p:spTree>
    <p:extLst>
      <p:ext uri="{BB962C8B-B14F-4D97-AF65-F5344CB8AC3E}">
        <p14:creationId xmlns:p14="http://schemas.microsoft.com/office/powerpoint/2010/main" val="1371774473"/>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9EAAD79-2B24-4E6A-A9E2-266CF55B11B9}"/>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252C5836-444C-492B-900F-765CF8DB5CEF}"/>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BMS: heat and practical access are distinct issues</a:t>
            </a:r>
          </a:p>
        </p:txBody>
      </p:sp>
      <p:sp>
        <p:nvSpPr>
          <p:cNvPr id="3" name="">
            <a:extLst xmlns:a="http://schemas.openxmlformats.org/drawingml/2006/main">
              <a:ext uri="{FF2B5EF4-FFF2-40B4-BE49-F238E27FC236}">
                <a16:creationId xmlns:a16="http://schemas.microsoft.com/office/drawing/2014/main" id="{25F1DE46-721C-40DA-9B1F-158CADCC2342}"/>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Survey responses from 8 BMS students. Counts are more informative than percentages alone.</a:t>
            </a:r>
          </a:p>
        </p:txBody>
      </p:sp>
      <p:sp>
        <p:nvSpPr>
          <p:cNvPr id="4" name="">
            <a:extLst xmlns:a="http://schemas.openxmlformats.org/drawingml/2006/main">
              <a:ext uri="{FF2B5EF4-FFF2-40B4-BE49-F238E27FC236}">
                <a16:creationId xmlns:a16="http://schemas.microsoft.com/office/drawing/2014/main" id="{58B0D2F7-36A5-4104-A934-17B967B21DBE}"/>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03</a:t>
            </a:r>
          </a:p>
        </p:txBody>
      </p:sp>
      <p:graphicFrame>
        <p:nvGraphicFramePr>
          <p:cNvPr id="14" name="Chart"/>
          <p:cNvGraphicFramePr/>
          <p:nvPr/>
        </p:nvGraphicFramePr>
        <p:xfrm>
          <a:off xmlns:a="http://schemas.openxmlformats.org/drawingml/2006/main" x="533400" y="2524125"/>
          <a:ext xmlns:a="http://schemas.openxmlformats.org/drawingml/2006/main" cx="7048500" cy="3048000"/>
        </p:xfrm>
        <a:graphic xmlns:a="http://schemas.openxmlformats.org/drawingml/2006/main">
          <a:graphicData uri="http://schemas.openxmlformats.org/drawingml/2006/chart">
            <c:chart xmlns:r="http://schemas.openxmlformats.org/officeDocument/2006/relationships" xmlns:c="http://schemas.openxmlformats.org/drawingml/2006/chart" r:id="Rf69adb3ce4fc4677"/>
          </a:graphicData>
        </a:graphic>
      </p:graphicFrame>
      <p:sp>
        <p:nvSpPr>
          <p:cNvPr id="6" name="">
            <a:extLst xmlns:a="http://schemas.openxmlformats.org/drawingml/2006/main">
              <a:ext uri="{FF2B5EF4-FFF2-40B4-BE49-F238E27FC236}">
                <a16:creationId xmlns:a16="http://schemas.microsoft.com/office/drawing/2014/main" id="{DFA07D5B-AA30-4E0D-AD11-76CBAAFCB2B1}"/>
              </a:ext>
            </a:extLst>
          </p:cNvPr>
          <p:cNvSpPr>
            <a:spLocks xmlns:a="http://schemas.openxmlformats.org/drawingml/2006/main" noGrp="1"/>
          </p:cNvSpPr>
          <p:nvPr/>
        </p:nvSpPr>
        <p:spPr>
          <a:xfrm xmlns:a="http://schemas.openxmlformats.org/drawingml/2006/main">
            <a:off x="8334375" y="26670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3449"/>
                </a:solidFill>
                <a:latin typeface="Helvetica Neue"/>
                <a:ea typeface="Helvetica Neue"/>
                <a:cs typeface="Helvetica Neue"/>
              </a:defRPr>
            </a:pPr>
            <a:r>
              <a:rPr sz="4200" b="1">
                <a:solidFill>
                  <a:srgbClr val="183449"/>
                </a:solidFill>
                <a:latin typeface="Helvetica Neue"/>
                <a:ea typeface="Helvetica Neue"/>
                <a:cs typeface="Helvetica Neue"/>
              </a:rPr>
              <a:t>3.63 / 5</a:t>
            </a:r>
          </a:p>
        </p:txBody>
      </p:sp>
      <p:sp>
        <p:nvSpPr>
          <p:cNvPr id="7" name="">
            <a:extLst xmlns:a="http://schemas.openxmlformats.org/drawingml/2006/main">
              <a:ext uri="{FF2B5EF4-FFF2-40B4-BE49-F238E27FC236}">
                <a16:creationId xmlns:a16="http://schemas.microsoft.com/office/drawing/2014/main" id="{80BC1178-1CCD-4D50-8EE8-E02BFC398CC0}"/>
              </a:ext>
            </a:extLst>
          </p:cNvPr>
          <p:cNvSpPr>
            <a:spLocks xmlns:a="http://schemas.openxmlformats.org/drawingml/2006/main" noGrp="1"/>
          </p:cNvSpPr>
          <p:nvPr/>
        </p:nvSpPr>
        <p:spPr>
          <a:xfrm xmlns:a="http://schemas.openxmlformats.org/drawingml/2006/main">
            <a:off x="8334375" y="351472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33746"/>
                </a:solidFill>
                <a:latin typeface="Helvetica Neue"/>
                <a:ea typeface="Helvetica Neue"/>
                <a:cs typeface="Helvetica Neue"/>
              </a:defRPr>
            </a:pPr>
            <a:r>
              <a:rPr sz="1950" b="0">
                <a:solidFill>
                  <a:srgbClr val="233746"/>
                </a:solidFill>
                <a:latin typeface="Helvetica Neue"/>
                <a:ea typeface="Helvetica Neue"/>
                <a:cs typeface="Helvetica Neue"/>
              </a:rPr>
              <a:t>Mean lab satisfaction</a:t>
            </a:r>
          </a:p>
          <a:p xmlns:a="http://schemas.openxmlformats.org/drawingml/2006/main">
            <a:pPr>
              <a:defRPr sz="1950" b="0">
                <a:solidFill>
                  <a:srgbClr val="233746"/>
                </a:solidFill>
                <a:latin typeface="Helvetica Neue"/>
                <a:ea typeface="Helvetica Neue"/>
                <a:cs typeface="Helvetica Neue"/>
              </a:defRPr>
            </a:pPr>
            <a:r>
              <a:rPr sz="1950" b="0">
                <a:solidFill>
                  <a:srgbClr val="233746"/>
                </a:solidFill>
                <a:latin typeface="Helvetica Neue"/>
                <a:ea typeface="Helvetica Neue"/>
                <a:cs typeface="Helvetica Neue"/>
              </a:rPr>
              <a:t>Calculated from Figure 1</a:t>
            </a:r>
          </a:p>
        </p:txBody>
      </p:sp>
      <p:sp>
        <p:nvSpPr>
          <p:cNvPr id="8" name="">
            <a:extLst xmlns:a="http://schemas.openxmlformats.org/drawingml/2006/main">
              <a:ext uri="{FF2B5EF4-FFF2-40B4-BE49-F238E27FC236}">
                <a16:creationId xmlns:a16="http://schemas.microsoft.com/office/drawing/2014/main" id="{5E673B55-5081-4A7A-BFF2-C7B7CB85FFE5}"/>
              </a:ext>
            </a:extLst>
          </p:cNvPr>
          <p:cNvSpPr>
            <a:spLocks xmlns:a="http://schemas.openxmlformats.org/drawingml/2006/main" noGrp="1"/>
          </p:cNvSpPr>
          <p:nvPr/>
        </p:nvSpPr>
        <p:spPr>
          <a:xfrm xmlns:a="http://schemas.openxmlformats.org/drawingml/2006/main">
            <a:off x="8334375" y="4572000"/>
            <a:ext cx="3143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878A"/>
                </a:solidFill>
                <a:latin typeface="Helvetica Neue"/>
                <a:ea typeface="Helvetica Neue"/>
                <a:cs typeface="Helvetica Neue"/>
              </a:defRPr>
            </a:pPr>
            <a:r>
              <a:rPr sz="1950" b="0">
                <a:solidFill>
                  <a:srgbClr val="16878A"/>
                </a:solidFill>
                <a:latin typeface="Helvetica Neue"/>
                <a:ea typeface="Helvetica Neue"/>
                <a:cs typeface="Helvetica Neue"/>
              </a:rPr>
              <a:t>Overall satisfaction does not remove specific heat or access problems.</a:t>
            </a:r>
          </a:p>
        </p:txBody>
      </p:sp>
      <p:sp>
        <p:nvSpPr>
          <p:cNvPr id="9" name="">
            <a:extLst xmlns:a="http://schemas.openxmlformats.org/drawingml/2006/main">
              <a:ext uri="{FF2B5EF4-FFF2-40B4-BE49-F238E27FC236}">
                <a16:creationId xmlns:a16="http://schemas.microsoft.com/office/drawing/2014/main" id="{FD5914CD-01C7-4319-BB13-3B0EB999C604}"/>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BMS report, Figures 1–3. Overlapping responses. Chart-derived mean corrects the report’s 2/5 claim.</a:t>
            </a:r>
          </a:p>
        </p:txBody>
      </p:sp>
    </p:spTree>
    <p:extLst>
      <p:ext uri="{BB962C8B-B14F-4D97-AF65-F5344CB8AC3E}">
        <p14:creationId xmlns:p14="http://schemas.microsoft.com/office/powerpoint/2010/main" val="1294461021"/>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2CAA6A-0078-4CC1-A4ED-D7BB8A7E65F6}"/>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00E399C4-0595-4786-B8A3-6DBBF8DF5BB7}"/>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Symptoms, causes and capability gaps</a:t>
            </a:r>
          </a:p>
        </p:txBody>
      </p:sp>
      <p:sp>
        <p:nvSpPr>
          <p:cNvPr id="3" name="">
            <a:extLst xmlns:a="http://schemas.openxmlformats.org/drawingml/2006/main">
              <a:ext uri="{FF2B5EF4-FFF2-40B4-BE49-F238E27FC236}">
                <a16:creationId xmlns:a16="http://schemas.microsoft.com/office/drawing/2014/main" id="{B8028156-3DCC-4E5B-AA0A-919E63BDC3D8}"/>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process explanations below are hypotheses to test against the reported journeys.</a:t>
            </a:r>
          </a:p>
        </p:txBody>
      </p:sp>
      <p:sp>
        <p:nvSpPr>
          <p:cNvPr id="4" name="">
            <a:extLst xmlns:a="http://schemas.openxmlformats.org/drawingml/2006/main">
              <a:ext uri="{FF2B5EF4-FFF2-40B4-BE49-F238E27FC236}">
                <a16:creationId xmlns:a16="http://schemas.microsoft.com/office/drawing/2014/main" id="{04F8BA3C-D351-47FD-B9EE-CE6334458D3D}"/>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238375"/>
                <a:gridCol w="4438650"/>
                <a:gridCol w="4448175"/>
              </a:tblGrid>
              <a:tr h="495300">
                <a:tc>
                  <a:txBody>
                    <a:bodyPr/>
                    <a:lstStyle/>
                    <a:p>
                      <a:r>
                        <a:rPr sz="1650" b="1">
                          <a:solidFill>
                            <a:srgbClr val="FFFFFF"/>
                          </a:solidFill>
                          <a:latin typeface="Helvetica Neue"/>
                          <a:ea typeface="Helvetica Neue"/>
                          <a:cs typeface="Helvetica Neue"/>
                        </a:rPr>
                        <a:t>Diagnostic step</a:t>
                      </a:r>
                    </a:p>
                  </a:txBody>
                  <a:tcPr marL="91440" marR="91440" marT="45720" marB="45720">
                    <a:solidFill>
                      <a:srgbClr val="183449"/>
                    </a:solidFill>
                  </a:tcPr>
                </a:tc>
                <a:tc>
                  <a:txBody>
                    <a:bodyPr/>
                    <a:lstStyle/>
                    <a:p>
                      <a:r>
                        <a:rPr sz="1650" b="1">
                          <a:solidFill>
                            <a:srgbClr val="FFFFFF"/>
                          </a:solidFill>
                          <a:latin typeface="Helvetica Neue"/>
                          <a:ea typeface="Helvetica Neue"/>
                          <a:cs typeface="Helvetica Neue"/>
                        </a:rPr>
                        <a:t>CSE course registration</a:t>
                      </a:r>
                    </a:p>
                  </a:txBody>
                  <a:tcPr marL="91440" marR="91440" marT="45720" marB="45720">
                    <a:solidFill>
                      <a:srgbClr val="183449"/>
                    </a:solidFill>
                  </a:tcPr>
                </a:tc>
                <a:tc>
                  <a:txBody>
                    <a:bodyPr/>
                    <a:lstStyle/>
                    <a:p>
                      <a:r>
                        <a:rPr sz="1650" b="1">
                          <a:solidFill>
                            <a:srgbClr val="FFFFFF"/>
                          </a:solidFill>
                          <a:latin typeface="Helvetica Neue"/>
                          <a:ea typeface="Helvetica Neue"/>
                          <a:cs typeface="Helvetica Neue"/>
                        </a:rPr>
                        <a:t>BMS lab access</a:t>
                      </a:r>
                    </a:p>
                  </a:txBody>
                  <a:tcPr marL="91440" marR="91440" marT="45720" marB="45720">
                    <a:solidFill>
                      <a:srgbClr val="183449"/>
                    </a:solidFill>
                  </a:tcPr>
                </a:tc>
              </a:tr>
              <a:tr h="596265">
                <a:tc>
                  <a:txBody>
                    <a:bodyPr/>
                    <a:lstStyle/>
                    <a:p>
                      <a:r>
                        <a:rPr sz="1650" b="1">
                          <a:solidFill>
                            <a:srgbClr val="233746"/>
                          </a:solidFill>
                          <a:latin typeface="Helvetica Neue"/>
                          <a:ea typeface="Helvetica Neue"/>
                          <a:cs typeface="Helvetica Neue"/>
                        </a:rPr>
                        <a:t>Observed symptom</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Uncertainty that registration succeeded</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Insufficient practical time reported by 4/8</a:t>
                      </a:r>
                    </a:p>
                  </a:txBody>
                  <a:tcPr marL="91440" marR="91440" marT="45720" marB="45720">
                    <a:solidFill>
                      <a:srgbClr val="FFFFFF"/>
                    </a:solidFill>
                  </a:tcPr>
                </a:tc>
              </a:tr>
              <a:tr h="596265">
                <a:tc>
                  <a:txBody>
                    <a:bodyPr/>
                    <a:lstStyle/>
                    <a:p>
                      <a:r>
                        <a:rPr sz="1650" b="1">
                          <a:solidFill>
                            <a:srgbClr val="233746"/>
                          </a:solidFill>
                          <a:latin typeface="Helvetica Neue"/>
                          <a:ea typeface="Helvetica Neue"/>
                          <a:cs typeface="Helvetica Neue"/>
                        </a:rPr>
                        <a:t>Reported process</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Select courses, submit, check, email staff if unclear</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Request equipment/access, obtain approval, use lab</a:t>
                      </a:r>
                    </a:p>
                  </a:txBody>
                  <a:tcPr marL="91440" marR="91440" marT="45720" marB="45720">
                    <a:solidFill>
                      <a:srgbClr val="EDF3F4"/>
                    </a:solidFill>
                  </a:tcPr>
                </a:tc>
              </a:tr>
              <a:tr h="596265">
                <a:tc>
                  <a:txBody>
                    <a:bodyPr/>
                    <a:lstStyle/>
                    <a:p>
                      <a:r>
                        <a:rPr sz="1650" b="1">
                          <a:solidFill>
                            <a:srgbClr val="233746"/>
                          </a:solidFill>
                          <a:latin typeface="Helvetica Neue"/>
                          <a:ea typeface="Helvetica Neue"/>
                          <a:cs typeface="Helvetica Neue"/>
                        </a:rPr>
                        <a:t>Cause to test</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Unclear confirmation and slow exception handling</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Approval friction, session capacity or supervision gaps</a:t>
                      </a:r>
                    </a:p>
                  </a:txBody>
                  <a:tcPr marL="91440" marR="91440" marT="45720" marB="45720">
                    <a:solidFill>
                      <a:srgbClr val="FFFFFF"/>
                    </a:solidFill>
                  </a:tcPr>
                </a:tc>
              </a:tr>
              <a:tr h="596265">
                <a:tc>
                  <a:txBody>
                    <a:bodyPr/>
                    <a:lstStyle/>
                    <a:p>
                      <a:r>
                        <a:rPr sz="1650" b="1">
                          <a:solidFill>
                            <a:srgbClr val="233746"/>
                          </a:solidFill>
                          <a:latin typeface="Helvetica Neue"/>
                          <a:ea typeface="Helvetica Neue"/>
                          <a:cs typeface="Helvetica Neue"/>
                        </a:rPr>
                        <a:t>Capability gap to test</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Reliable status, clear rules and exception ownership</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Availability data, coverage and clear access rules</a:t>
                      </a:r>
                    </a:p>
                  </a:txBody>
                  <a:tcPr marL="91440" marR="91440" marT="45720" marB="45720">
                    <a:solidFill>
                      <a:srgbClr val="EDF3F4"/>
                    </a:solidFill>
                  </a:tcPr>
                </a:tc>
              </a:tr>
              <a:tr h="596265">
                <a:tc>
                  <a:txBody>
                    <a:bodyPr/>
                    <a:lstStyle/>
                    <a:p>
                      <a:r>
                        <a:rPr sz="1650" b="1">
                          <a:solidFill>
                            <a:srgbClr val="233746"/>
                          </a:solidFill>
                          <a:latin typeface="Helvetica Neue"/>
                          <a:ea typeface="Helvetica Neue"/>
                          <a:cs typeface="Helvetica Neue"/>
                        </a:rPr>
                        <a:t>Potential impact</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Repeated contact and registration rework</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Less practice or rushed sessions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1B562D7-858C-4EE7-B86C-5746CC5E81EC}"/>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Reported processes are simplified reconstructions. Root causes and impact magnitude remain unverified.</a:t>
            </a:r>
          </a:p>
        </p:txBody>
      </p:sp>
    </p:spTree>
    <p:extLst>
      <p:ext uri="{BB962C8B-B14F-4D97-AF65-F5344CB8AC3E}">
        <p14:creationId xmlns:p14="http://schemas.microsoft.com/office/powerpoint/2010/main" val="681821032"/>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E2451F-7B1E-49EA-97EB-12A594AA830D}"/>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3D556DCA-3F37-4E86-8D2C-9EC2B26F91DE}"/>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Eight end-to-end domains</a:t>
            </a:r>
          </a:p>
        </p:txBody>
      </p:sp>
      <p:sp>
        <p:nvSpPr>
          <p:cNvPr id="3" name="">
            <a:extLst xmlns:a="http://schemas.openxmlformats.org/drawingml/2006/main">
              <a:ext uri="{FF2B5EF4-FFF2-40B4-BE49-F238E27FC236}">
                <a16:creationId xmlns:a16="http://schemas.microsoft.com/office/drawing/2014/main" id="{1BFC11B6-D8E0-4B73-AD24-C89EABBAA3A6}"/>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Three candidates are shortlisted for capability analysis, without ranking value or feasibility.</a:t>
            </a:r>
          </a:p>
        </p:txBody>
      </p:sp>
      <p:sp>
        <p:nvSpPr>
          <p:cNvPr id="4" name="">
            <a:extLst xmlns:a="http://schemas.openxmlformats.org/drawingml/2006/main">
              <a:ext uri="{FF2B5EF4-FFF2-40B4-BE49-F238E27FC236}">
                <a16:creationId xmlns:a16="http://schemas.microsoft.com/office/drawing/2014/main" id="{652A4E25-F850-4C00-9C92-2E0596FA323C}"/>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05</a:t>
            </a:r>
          </a:p>
        </p:txBody>
      </p:sp>
      <p:graphicFrame>
        <p:nvGraphicFramePr>
          <p:cNvPr id="11" name=""/>
          <p:cNvGraphicFramePr/>
          <p:nvPr/>
        </p:nvGraphicFramePr>
        <p:xfrm>
          <a:off xmlns:a="http://schemas.openxmlformats.org/drawingml/2006/main" x="533400" y="2428875"/>
          <a:ext xmlns:a="http://schemas.openxmlformats.org/drawingml/2006/main" cx="11125200" cy="3667125"/>
        </p:xfrm>
        <a:graphic xmlns:a="http://schemas.openxmlformats.org/drawingml/2006/main">
          <a:graphicData uri="http://schemas.openxmlformats.org/drawingml/2006/table">
            <a:tbl>
              <a:tblPr/>
              <a:tblGrid>
                <a:gridCol w="3857625"/>
                <a:gridCol w="4524375"/>
                <a:gridCol w="2743200"/>
              </a:tblGrid>
              <a:tr h="495300">
                <a:tc>
                  <a:txBody>
                    <a:bodyPr/>
                    <a:lstStyle/>
                    <a:p>
                      <a:r>
                        <a:rPr sz="1500" b="1">
                          <a:solidFill>
                            <a:srgbClr val="FFFFFF"/>
                          </a:solidFill>
                          <a:latin typeface="Helvetica Neue"/>
                          <a:ea typeface="Helvetica Neue"/>
                          <a:cs typeface="Helvetica Neue"/>
                        </a:rPr>
                        <a:t>Domain</a:t>
                      </a:r>
                    </a:p>
                  </a:txBody>
                  <a:tcPr marL="91440" marR="91440" marT="45720" marB="45720">
                    <a:solidFill>
                      <a:srgbClr val="183449"/>
                    </a:solidFill>
                  </a:tcPr>
                </a:tc>
                <a:tc>
                  <a:txBody>
                    <a:bodyPr/>
                    <a:lstStyle/>
                    <a:p>
                      <a:r>
                        <a:rPr sz="1500" b="1">
                          <a:solidFill>
                            <a:srgbClr val="FFFFFF"/>
                          </a:solidFill>
                          <a:latin typeface="Helvetica Neue"/>
                          <a:ea typeface="Helvetica Neue"/>
                          <a:cs typeface="Helvetica Neue"/>
                        </a:rPr>
                        <a:t>Completion outcome</a:t>
                      </a:r>
                    </a:p>
                  </a:txBody>
                  <a:tcPr marL="91440" marR="91440" marT="45720" marB="45720">
                    <a:solidFill>
                      <a:srgbClr val="183449"/>
                    </a:solidFill>
                  </a:tcPr>
                </a:tc>
                <a:tc>
                  <a:txBody>
                    <a:bodyPr/>
                    <a:lstStyle/>
                    <a:p>
                      <a:r>
                        <a:rPr sz="1500" b="1">
                          <a:solidFill>
                            <a:srgbClr val="FFFFFF"/>
                          </a:solidFill>
                          <a:latin typeface="Helvetica Neue"/>
                          <a:ea typeface="Helvetica Neue"/>
                          <a:cs typeface="Helvetica Neue"/>
                        </a:rPr>
                        <a:t>Evidence / shortlist</a:t>
                      </a:r>
                    </a:p>
                  </a:txBody>
                  <a:tcPr marL="91440" marR="91440" marT="45720" marB="45720">
                    <a:solidFill>
                      <a:srgbClr val="183449"/>
                    </a:solidFill>
                  </a:tcPr>
                </a:tc>
              </a:tr>
              <a:tr h="396478">
                <a:tc>
                  <a:txBody>
                    <a:bodyPr/>
                    <a:lstStyle/>
                    <a:p>
                      <a:r>
                        <a:rPr sz="1500" b="1">
                          <a:solidFill>
                            <a:srgbClr val="233746"/>
                          </a:solidFill>
                          <a:latin typeface="Helvetica Neue"/>
                          <a:ea typeface="Helvetica Neue"/>
                          <a:cs typeface="Helvetica Neue"/>
                        </a:rPr>
                        <a:t>Course planning and registration</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Valid course selection confirmed</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CSE  /  Candidate A</a:t>
                      </a:r>
                    </a:p>
                  </a:txBody>
                  <a:tcPr marL="91440" marR="91440" marT="45720" marB="45720">
                    <a:solidFill>
                      <a:srgbClr val="FFFFFF"/>
                    </a:solidFill>
                  </a:tcPr>
                </a:tc>
              </a:tr>
              <a:tr h="396478">
                <a:tc>
                  <a:txBody>
                    <a:bodyPr/>
                    <a:lstStyle/>
                    <a:p>
                      <a:r>
                        <a:rPr sz="1500" b="1">
                          <a:solidFill>
                            <a:srgbClr val="233746"/>
                          </a:solidFill>
                          <a:latin typeface="Helvetica Neue"/>
                          <a:ea typeface="Helvetica Neue"/>
                          <a:cs typeface="Helvetica Neue"/>
                        </a:rPr>
                        <a:t>Practical lab access</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Approved practical session completed</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BMS  /  Candidate B</a:t>
                      </a:r>
                    </a:p>
                  </a:txBody>
                  <a:tcPr marL="91440" marR="91440" marT="45720" marB="45720">
                    <a:solidFill>
                      <a:srgbClr val="EDF3F4"/>
                    </a:solidFill>
                  </a:tcPr>
                </a:tc>
              </a:tr>
              <a:tr h="396478">
                <a:tc>
                  <a:txBody>
                    <a:bodyPr/>
                    <a:lstStyle/>
                    <a:p>
                      <a:r>
                        <a:rPr sz="1500" b="1">
                          <a:solidFill>
                            <a:srgbClr val="233746"/>
                          </a:solidFill>
                          <a:latin typeface="Helvetica Neue"/>
                          <a:ea typeface="Helvetica Neue"/>
                          <a:cs typeface="Helvetica Neue"/>
                        </a:rPr>
                        <a:t>Academic advising</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Answer or referral confirmed</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CSE + BMS  /  Candidate C</a:t>
                      </a:r>
                    </a:p>
                  </a:txBody>
                  <a:tcPr marL="91440" marR="91440" marT="45720" marB="45720">
                    <a:solidFill>
                      <a:srgbClr val="FFFFFF"/>
                    </a:solidFill>
                  </a:tcPr>
                </a:tc>
              </a:tr>
              <a:tr h="396478">
                <a:tc>
                  <a:txBody>
                    <a:bodyPr/>
                    <a:lstStyle/>
                    <a:p>
                      <a:r>
                        <a:rPr sz="1500" b="1">
                          <a:solidFill>
                            <a:srgbClr val="233746"/>
                          </a:solidFill>
                          <a:latin typeface="Helvetica Neue"/>
                          <a:ea typeface="Helvetica Neue"/>
                          <a:cs typeface="Helvetica Neue"/>
                        </a:rPr>
                        <a:t>Thesis registration and supervision</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Agreed supervision milestones completed</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CSE</a:t>
                      </a:r>
                    </a:p>
                  </a:txBody>
                  <a:tcPr marL="91440" marR="91440" marT="45720" marB="45720">
                    <a:solidFill>
                      <a:srgbClr val="EDF3F4"/>
                    </a:solidFill>
                  </a:tcPr>
                </a:tc>
              </a:tr>
              <a:tr h="396478">
                <a:tc>
                  <a:txBody>
                    <a:bodyPr/>
                    <a:lstStyle/>
                    <a:p>
                      <a:r>
                        <a:rPr sz="1500" b="1">
                          <a:solidFill>
                            <a:srgbClr val="233746"/>
                          </a:solidFill>
                          <a:latin typeface="Helvetica Neue"/>
                          <a:ea typeface="Helvetica Neue"/>
                          <a:cs typeface="Helvetica Neue"/>
                        </a:rPr>
                        <a:t>Graduation clearance</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Eligibility and exceptions resolved</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CSE</a:t>
                      </a:r>
                    </a:p>
                  </a:txBody>
                  <a:tcPr marL="91440" marR="91440" marT="45720" marB="45720">
                    <a:solidFill>
                      <a:srgbClr val="FFFFFF"/>
                    </a:solidFill>
                  </a:tcPr>
                </a:tc>
              </a:tr>
              <a:tr h="396478">
                <a:tc>
                  <a:txBody>
                    <a:bodyPr/>
                    <a:lstStyle/>
                    <a:p>
                      <a:r>
                        <a:rPr sz="1500" b="1">
                          <a:solidFill>
                            <a:srgbClr val="233746"/>
                          </a:solidFill>
                          <a:latin typeface="Helvetica Neue"/>
                          <a:ea typeface="Helvetica Neue"/>
                          <a:cs typeface="Helvetica Neue"/>
                        </a:rPr>
                        <a:t>Facility maintenance</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Reported condition restored and checked</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BMS + CSE</a:t>
                      </a:r>
                    </a:p>
                  </a:txBody>
                  <a:tcPr marL="91440" marR="91440" marT="45720" marB="45720">
                    <a:solidFill>
                      <a:srgbClr val="EDF3F4"/>
                    </a:solidFill>
                  </a:tcPr>
                </a:tc>
              </a:tr>
              <a:tr h="396478">
                <a:tc>
                  <a:txBody>
                    <a:bodyPr/>
                    <a:lstStyle/>
                    <a:p>
                      <a:r>
                        <a:rPr sz="1500" b="1">
                          <a:solidFill>
                            <a:srgbClr val="233746"/>
                          </a:solidFill>
                          <a:latin typeface="Helvetica Neue"/>
                          <a:ea typeface="Helvetica Neue"/>
                          <a:cs typeface="Helvetica Neue"/>
                        </a:rPr>
                        <a:t>Learning support</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Support delivered and understanding reassessed</a:t>
                      </a:r>
                    </a:p>
                  </a:txBody>
                  <a:tcPr marL="91440" marR="91440" marT="45720" marB="45720">
                    <a:solidFill>
                      <a:srgbClr val="FFFFFF"/>
                    </a:solidFill>
                  </a:tcPr>
                </a:tc>
                <a:tc>
                  <a:txBody>
                    <a:bodyPr/>
                    <a:lstStyle/>
                    <a:p>
                      <a:r>
                        <a:rPr sz="1500" b="0">
                          <a:solidFill>
                            <a:srgbClr val="233746"/>
                          </a:solidFill>
                          <a:latin typeface="Helvetica Neue"/>
                          <a:ea typeface="Helvetica Neue"/>
                          <a:cs typeface="Helvetica Neue"/>
                        </a:rPr>
                        <a:t>BMS + CSE</a:t>
                      </a:r>
                    </a:p>
                  </a:txBody>
                  <a:tcPr marL="91440" marR="91440" marT="45720" marB="45720">
                    <a:solidFill>
                      <a:srgbClr val="FFFFFF"/>
                    </a:solidFill>
                  </a:tcPr>
                </a:tc>
              </a:tr>
              <a:tr h="396478">
                <a:tc>
                  <a:txBody>
                    <a:bodyPr/>
                    <a:lstStyle/>
                    <a:p>
                      <a:r>
                        <a:rPr sz="1500" b="1">
                          <a:solidFill>
                            <a:srgbClr val="233746"/>
                          </a:solidFill>
                          <a:latin typeface="Helvetica Neue"/>
                          <a:ea typeface="Helvetica Neue"/>
                          <a:cs typeface="Helvetica Neue"/>
                        </a:rPr>
                        <a:t>Career and research opportunities</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Guidance, application or referral completed</a:t>
                      </a:r>
                    </a:p>
                  </a:txBody>
                  <a:tcPr marL="91440" marR="91440" marT="45720" marB="45720">
                    <a:solidFill>
                      <a:srgbClr val="EDF3F4"/>
                    </a:solidFill>
                  </a:tcPr>
                </a:tc>
                <a:tc>
                  <a:txBody>
                    <a:bodyPr/>
                    <a:lstStyle/>
                    <a:p>
                      <a:r>
                        <a:rPr sz="1500" b="0">
                          <a:solidFill>
                            <a:srgbClr val="233746"/>
                          </a:solidFill>
                          <a:latin typeface="Helvetica Neue"/>
                          <a:ea typeface="Helvetica Neue"/>
                          <a:cs typeface="Helvetica Neue"/>
                        </a:rPr>
                        <a:t>Mainly CSE</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056F582C-82FF-4AC0-B541-AE805B544899}"/>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A and B have specific process evidence. C tests whether a shared support domain warrants deeper investigation.</a:t>
            </a:r>
          </a:p>
        </p:txBody>
      </p:sp>
    </p:spTree>
    <p:extLst>
      <p:ext uri="{BB962C8B-B14F-4D97-AF65-F5344CB8AC3E}">
        <p14:creationId xmlns:p14="http://schemas.microsoft.com/office/powerpoint/2010/main" val="32023240"/>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373A83-3894-4855-AEBF-06D176105287}"/>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2B36AB0E-BD2C-4D43-9CEF-F34DA18C3A06}"/>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A. Course planning and registration</a:t>
            </a:r>
          </a:p>
        </p:txBody>
      </p:sp>
      <p:sp>
        <p:nvSpPr>
          <p:cNvPr id="3" name="">
            <a:extLst xmlns:a="http://schemas.openxmlformats.org/drawingml/2006/main">
              <a:ext uri="{FF2B5EF4-FFF2-40B4-BE49-F238E27FC236}">
                <a16:creationId xmlns:a16="http://schemas.microsoft.com/office/drawing/2014/main" id="{99B1F1BA-0FE0-4104-A626-2FB3CDDD2788}"/>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CSE candidate: preparation for registration to a valid, confirmed course selection.</a:t>
            </a:r>
          </a:p>
        </p:txBody>
      </p:sp>
      <p:sp>
        <p:nvSpPr>
          <p:cNvPr id="4" name="">
            <a:extLst xmlns:a="http://schemas.openxmlformats.org/drawingml/2006/main">
              <a:ext uri="{FF2B5EF4-FFF2-40B4-BE49-F238E27FC236}">
                <a16:creationId xmlns:a16="http://schemas.microsoft.com/office/drawing/2014/main" id="{F198B9AA-C419-45BD-81AA-F7A7390977DB}"/>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06</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800"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800"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CSE students and academic administrators</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Registration preparation begins / valid selection is confirmed</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Review rules, select modules, confirm registration, resolve exceptions</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Teaching delivery, curriculum redesign and a full portal replacement</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Confirmation time, correction rate, use of the official confirmation route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E048390-CB52-491C-BC14-9DD22A74EF9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Candidate A is a domain for analysis, not an approved intervention. Measures have no verified baseline yet.</a:t>
            </a:r>
          </a:p>
        </p:txBody>
      </p:sp>
    </p:spTree>
    <p:extLst>
      <p:ext uri="{BB962C8B-B14F-4D97-AF65-F5344CB8AC3E}">
        <p14:creationId xmlns:p14="http://schemas.microsoft.com/office/powerpoint/2010/main" val="30367825"/>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C755D4-CF5B-4EAA-B3B9-7D6CB462F7CF}"/>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A202087B-AED3-41F5-97F2-36511F4EB7EF}"/>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 Practical lab access and session delivery</a:t>
            </a:r>
          </a:p>
        </p:txBody>
      </p:sp>
      <p:sp>
        <p:nvSpPr>
          <p:cNvPr id="3" name="">
            <a:extLst xmlns:a="http://schemas.openxmlformats.org/drawingml/2006/main">
              <a:ext uri="{FF2B5EF4-FFF2-40B4-BE49-F238E27FC236}">
                <a16:creationId xmlns:a16="http://schemas.microsoft.com/office/drawing/2014/main" id="{76021962-E4CF-45C6-8AE4-7125E6445D87}"/>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BMS candidate: a practical-learning need to a completed, appropriately supervised session.</a:t>
            </a:r>
          </a:p>
        </p:txBody>
      </p:sp>
      <p:sp>
        <p:nvSpPr>
          <p:cNvPr id="4" name="">
            <a:extLst xmlns:a="http://schemas.openxmlformats.org/drawingml/2006/main">
              <a:ext uri="{FF2B5EF4-FFF2-40B4-BE49-F238E27FC236}">
                <a16:creationId xmlns:a16="http://schemas.microsoft.com/office/drawing/2014/main" id="{BC4832C7-CFF3-4E1F-97AA-3AFC65A345BB}"/>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07</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800"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800"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BMS students, lecturers and laboratory staff</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Student needs practical access / approved practical session is completed</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Check resources, approve access, schedule supervision, use and return equipment</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Major facility upgrades, curriculum redesign and research-funding allocation</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Request-to-session time, unfulfilled demand, completed hours, route adoption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1906C2E-1630-421F-B7EF-E856C007DC5B}"/>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Candidate B is a domain for analysis, not an approved intervention. Measures have no verified baseline yet.</a:t>
            </a:r>
          </a:p>
        </p:txBody>
      </p:sp>
    </p:spTree>
    <p:extLst>
      <p:ext uri="{BB962C8B-B14F-4D97-AF65-F5344CB8AC3E}">
        <p14:creationId xmlns:p14="http://schemas.microsoft.com/office/powerpoint/2010/main" val="954524273"/>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A868EA-7D08-4EE8-8BF4-67C9115D9A19}"/>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B453CB99-C260-4AC0-ACBD-3E19D5B367D5}"/>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C. Academic advising and enquiry resolution</a:t>
            </a:r>
          </a:p>
        </p:txBody>
      </p:sp>
      <p:sp>
        <p:nvSpPr>
          <p:cNvPr id="3" name="">
            <a:extLst xmlns:a="http://schemas.openxmlformats.org/drawingml/2006/main">
              <a:ext uri="{FF2B5EF4-FFF2-40B4-BE49-F238E27FC236}">
                <a16:creationId xmlns:a16="http://schemas.microsoft.com/office/drawing/2014/main" id="{49E24E7A-A7DA-4B61-BB61-D6A68FAD53D9}"/>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Shared candidate: a student question to a confirmed answer or completed referral.</a:t>
            </a:r>
          </a:p>
        </p:txBody>
      </p:sp>
      <p:sp>
        <p:nvSpPr>
          <p:cNvPr id="4" name="">
            <a:extLst xmlns:a="http://schemas.openxmlformats.org/drawingml/2006/main">
              <a:ext uri="{FF2B5EF4-FFF2-40B4-BE49-F238E27FC236}">
                <a16:creationId xmlns:a16="http://schemas.microsoft.com/office/drawing/2014/main" id="{BF11B55C-51B7-4F2A-8956-4D5DC82CB95D}"/>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800"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800"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BMS and CSE students, advisors and support staff</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Student raises a question / answer or referral is confirmed</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Find the contact, route the enquiry, respond, escalate and confirm resolution</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Clinical counselling, thesis allocation and making academic decisions</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Response/resolution time, repeated contacts, unresolved cases, route adoption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2163E8-C6A1-40DB-914A-7B9BB23A718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Candidate C is a domain for analysis, not an approved intervention. Measures have no verified baseline yet.</a:t>
            </a:r>
          </a:p>
        </p:txBody>
      </p:sp>
    </p:spTree>
    <p:extLst>
      <p:ext uri="{BB962C8B-B14F-4D97-AF65-F5344CB8AC3E}">
        <p14:creationId xmlns:p14="http://schemas.microsoft.com/office/powerpoint/2010/main" val="2065938819"/>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DC8B68-570C-45AE-97D9-E37665F347F8}"/>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8D794C19-D643-45DA-B6C2-406FD8085CD1}"/>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Ownership, talent and operating model</a:t>
            </a:r>
          </a:p>
        </p:txBody>
      </p:sp>
      <p:sp>
        <p:nvSpPr>
          <p:cNvPr id="3" name="">
            <a:extLst xmlns:a="http://schemas.openxmlformats.org/drawingml/2006/main">
              <a:ext uri="{FF2B5EF4-FFF2-40B4-BE49-F238E27FC236}">
                <a16:creationId xmlns:a16="http://schemas.microsoft.com/office/drawing/2014/main" id="{1386EE81-E294-42B4-B590-BF4B52DDF2C3}"/>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Ratings are relative to each candidate: Partial = mixed evidence; Gap = reported shortfall; Unknown = not evidenced.</a:t>
            </a:r>
          </a:p>
        </p:txBody>
      </p:sp>
      <p:sp>
        <p:nvSpPr>
          <p:cNvPr id="4" name="">
            <a:extLst xmlns:a="http://schemas.openxmlformats.org/drawingml/2006/main">
              <a:ext uri="{FF2B5EF4-FFF2-40B4-BE49-F238E27FC236}">
                <a16:creationId xmlns:a16="http://schemas.microsoft.com/office/drawing/2014/main" id="{E8871B53-2090-430B-AAAB-FD318472ECEA}"/>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09</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1952625"/>
                <a:gridCol w="3057525"/>
                <a:gridCol w="3057525"/>
                <a:gridCol w="3057525"/>
              </a:tblGrid>
              <a:tr h="495300">
                <a:tc>
                  <a:txBody>
                    <a:bodyPr/>
                    <a:lstStyle/>
                    <a:p>
                      <a:r>
                        <a:rPr sz="1725"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A  Course registration</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B  BMS lab access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C  Advising</a:t>
                      </a:r>
                    </a:p>
                  </a:txBody>
                  <a:tcPr marL="91440" marR="91440" marT="45720" marB="45720">
                    <a:solidFill>
                      <a:srgbClr val="183449"/>
                    </a:solidFill>
                  </a:tcPr>
                </a:tc>
              </a:tr>
              <a:tr h="946150">
                <a:tc>
                  <a:txBody>
                    <a:bodyPr/>
                    <a:lstStyle/>
                    <a:p>
                      <a:r>
                        <a:rPr sz="1725" b="1">
                          <a:solidFill>
                            <a:srgbClr val="233746"/>
                          </a:solidFill>
                          <a:latin typeface="Helvetica Neue"/>
                          <a:ea typeface="Helvetica Neue"/>
                          <a:cs typeface="Helvetica Neue"/>
                        </a:rPr>
                        <a:t>Roadmap</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No committed owner or target evidenced</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No approved access-improvement plan</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No shared service owner confirmed</a:t>
                      </a:r>
                    </a:p>
                  </a:txBody>
                  <a:tcPr marL="91440" marR="91440" marT="45720" marB="45720">
                    <a:solidFill>
                      <a:srgbClr val="FFFFFF"/>
                    </a:solidFill>
                  </a:tcPr>
                </a:tc>
              </a:tr>
              <a:tr h="946150">
                <a:tc>
                  <a:txBody>
                    <a:bodyPr/>
                    <a:lstStyle/>
                    <a:p>
                      <a:r>
                        <a:rPr sz="1725" b="1">
                          <a:solidFill>
                            <a:srgbClr val="233746"/>
                          </a:solidFill>
                          <a:latin typeface="Helvetica Neue"/>
                          <a:ea typeface="Helvetica Neue"/>
                          <a:cs typeface="Helvetica Neue"/>
                        </a:rPr>
                        <a:t>Talent</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Academic roles exist; IT time unknown</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Staff roles described; coverage unverified</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Expertise exists; response capacity varies</a:t>
                      </a:r>
                    </a:p>
                  </a:txBody>
                  <a:tcPr marL="91440" marR="91440" marT="45720" marB="45720">
                    <a:solidFill>
                      <a:srgbClr val="EDF3F4"/>
                    </a:solidFill>
                  </a:tcPr>
                </a:tc>
              </a:tr>
              <a:tr h="946150">
                <a:tc>
                  <a:txBody>
                    <a:bodyPr/>
                    <a:lstStyle/>
                    <a:p>
                      <a:r>
                        <a:rPr sz="1725" b="1">
                          <a:solidFill>
                            <a:srgbClr val="233746"/>
                          </a:solidFill>
                          <a:latin typeface="Helvetica Neue"/>
                          <a:ea typeface="Helvetica Neue"/>
                          <a:cs typeface="Helvetica Neue"/>
                        </a:rPr>
                        <a:t>Operating model</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Gap</a:t>
                      </a:r>
                    </a:p>
                    <a:p>
                      <a:r>
                        <a:rPr sz="1725" b="0">
                          <a:solidFill>
                            <a:srgbClr val="233746"/>
                          </a:solidFill>
                          <a:latin typeface="Helvetica Neue"/>
                          <a:ea typeface="Helvetica Neue"/>
                          <a:cs typeface="Helvetica Neue"/>
                        </a:rPr>
                        <a:t>Unclear confirmation and exception route</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Gap</a:t>
                      </a:r>
                    </a:p>
                    <a:p>
                      <a:r>
                        <a:rPr sz="1725" b="0">
                          <a:solidFill>
                            <a:srgbClr val="233746"/>
                          </a:solidFill>
                          <a:latin typeface="Helvetica Neue"/>
                          <a:ea typeface="Helvetica Neue"/>
                          <a:cs typeface="Helvetica Neue"/>
                        </a:rPr>
                        <a:t>Borrowing friction and guidance gaps reported</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Gap</a:t>
                      </a:r>
                    </a:p>
                    <a:p>
                      <a:r>
                        <a:rPr sz="1725" b="0">
                          <a:solidFill>
                            <a:srgbClr val="233746"/>
                          </a:solidFill>
                          <a:latin typeface="Helvetica Neue"/>
                          <a:ea typeface="Helvetica Neue"/>
                          <a:cs typeface="Helvetica Neue"/>
                        </a:rPr>
                        <a:t>Routing and responsiveness vary</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3AC233F-46DC-4653-A2DF-447E9909239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Sources: CSE interviews; BMS report. A reported gap identifies a constraint, not its scale or implementation cost.</a:t>
            </a:r>
          </a:p>
        </p:txBody>
      </p:sp>
    </p:spTree>
    <p:extLst>
      <p:ext uri="{BB962C8B-B14F-4D97-AF65-F5344CB8AC3E}">
        <p14:creationId xmlns:p14="http://schemas.microsoft.com/office/powerpoint/2010/main" val="568182979"/>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787652-BF34-4F67-B0FA-B6F5E5DAD79C}"/>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523C40C6-2C4D-44CB-A0B5-3B25460B710A}"/>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Tools alone do not establish readiness</a:t>
            </a:r>
          </a:p>
        </p:txBody>
      </p:sp>
      <p:sp>
        <p:nvSpPr>
          <p:cNvPr id="3" name="">
            <a:extLst xmlns:a="http://schemas.openxmlformats.org/drawingml/2006/main">
              <a:ext uri="{FF2B5EF4-FFF2-40B4-BE49-F238E27FC236}">
                <a16:creationId xmlns:a16="http://schemas.microsoft.com/office/drawing/2014/main" id="{F09B1117-7B96-47B4-B8F3-1E7826C54BD3}"/>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required data and behaviours differ across the three candidate domains.</a:t>
            </a:r>
          </a:p>
        </p:txBody>
      </p:sp>
      <p:sp>
        <p:nvSpPr>
          <p:cNvPr id="4" name="">
            <a:extLst xmlns:a="http://schemas.openxmlformats.org/drawingml/2006/main">
              <a:ext uri="{FF2B5EF4-FFF2-40B4-BE49-F238E27FC236}">
                <a16:creationId xmlns:a16="http://schemas.microsoft.com/office/drawing/2014/main" id="{E1E9518D-DE60-40E0-BF3D-5876E0038B59}"/>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1952625"/>
                <a:gridCol w="3057525"/>
                <a:gridCol w="3057525"/>
                <a:gridCol w="3057525"/>
              </a:tblGrid>
              <a:tr h="495300">
                <a:tc>
                  <a:txBody>
                    <a:bodyPr/>
                    <a:lstStyle/>
                    <a:p>
                      <a:r>
                        <a:rPr sz="1725"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A  Course registration</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B  BMS lab access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C  Advising</a:t>
                      </a:r>
                    </a:p>
                  </a:txBody>
                  <a:tcPr marL="91440" marR="91440" marT="45720" marB="45720">
                    <a:solidFill>
                      <a:srgbClr val="183449"/>
                    </a:solidFill>
                  </a:tcPr>
                </a:tc>
              </a:tr>
              <a:tr h="946150">
                <a:tc>
                  <a:txBody>
                    <a:bodyPr/>
                    <a:lstStyle/>
                    <a:p>
                      <a:r>
                        <a:rPr sz="1725" b="1">
                          <a:solidFill>
                            <a:srgbClr val="233746"/>
                          </a:solidFill>
                          <a:latin typeface="Helvetica Neue"/>
                          <a:ea typeface="Helvetica Neue"/>
                          <a:cs typeface="Helvetica Neue"/>
                        </a:rPr>
                        <a:t>Technology</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Portal exists; lag and confirmation issues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Booking platform is only proposed</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Communication channels exist; case tracking unclear</a:t>
                      </a:r>
                    </a:p>
                  </a:txBody>
                  <a:tcPr marL="91440" marR="91440" marT="45720" marB="45720">
                    <a:solidFill>
                      <a:srgbClr val="FFFFFF"/>
                    </a:solidFill>
                  </a:tcPr>
                </a:tc>
              </a:tr>
              <a:tr h="946150">
                <a:tc>
                  <a:txBody>
                    <a:bodyPr/>
                    <a:lstStyle/>
                    <a:p>
                      <a:r>
                        <a:rPr sz="1725" b="1">
                          <a:solidFill>
                            <a:srgbClr val="233746"/>
                          </a:solidFill>
                          <a:latin typeface="Helvetica Neue"/>
                          <a:ea typeface="Helvetica Neue"/>
                          <a:cs typeface="Helvetica Neue"/>
                        </a:rPr>
                        <a:t>Data</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Course lists exist; rule/status quality uncertain</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No verified inventory, capacity or usage data</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Gap</a:t>
                      </a:r>
                    </a:p>
                    <a:p>
                      <a:r>
                        <a:rPr sz="1725" b="0">
                          <a:solidFill>
                            <a:srgbClr val="233746"/>
                          </a:solidFill>
                          <a:latin typeface="Helvetica Neue"/>
                          <a:ea typeface="Helvetica Neue"/>
                          <a:cs typeface="Helvetica Neue"/>
                        </a:rPr>
                        <a:t>Guidance and feedback remain fragmented</a:t>
                      </a:r>
                    </a:p>
                  </a:txBody>
                  <a:tcPr marL="91440" marR="91440" marT="45720" marB="45720">
                    <a:solidFill>
                      <a:srgbClr val="EDF3F4"/>
                    </a:solidFill>
                  </a:tcPr>
                </a:tc>
              </a:tr>
              <a:tr h="946150">
                <a:tc>
                  <a:txBody>
                    <a:bodyPr/>
                    <a:lstStyle/>
                    <a:p>
                      <a:r>
                        <a:rPr sz="1725" b="1">
                          <a:solidFill>
                            <a:srgbClr val="233746"/>
                          </a:solidFill>
                          <a:latin typeface="Helvetica Neue"/>
                          <a:ea typeface="Helvetica Neue"/>
                          <a:cs typeface="Helvetica Neue"/>
                        </a:rPr>
                        <a:t>Adoption</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Students use portal and seek workarounds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Unknown</a:t>
                      </a:r>
                    </a:p>
                    <a:p>
                      <a:r>
                        <a:rPr sz="1725" b="0">
                          <a:solidFill>
                            <a:srgbClr val="233746"/>
                          </a:solidFill>
                          <a:latin typeface="Helvetica Neue"/>
                          <a:ea typeface="Helvetica Neue"/>
                          <a:cs typeface="Helvetica Neue"/>
                        </a:rPr>
                        <a:t>No evidence of a shared access workflow</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Partial</a:t>
                      </a:r>
                    </a:p>
                    <a:p>
                      <a:r>
                        <a:rPr sz="1725" b="0">
                          <a:solidFill>
                            <a:srgbClr val="233746"/>
                          </a:solidFill>
                          <a:latin typeface="Helvetica Neue"/>
                          <a:ea typeface="Helvetica Neue"/>
                          <a:cs typeface="Helvetica Neue"/>
                        </a:rPr>
                        <a:t>Use of support varies across students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E48925A-52AF-441A-B609-A6A6FD74C46C}"/>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Sources: CSE interviews; BMS report. These are evidence-based judgments, with unknowns preserved.</a:t>
            </a:r>
          </a:p>
        </p:txBody>
      </p:sp>
    </p:spTree>
    <p:extLst>
      <p:ext uri="{BB962C8B-B14F-4D97-AF65-F5344CB8AC3E}">
        <p14:creationId xmlns:p14="http://schemas.microsoft.com/office/powerpoint/2010/main" val="1532239106"/>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2867947-BD51-4C7C-8A07-D06CD2950FBB}"/>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510DF2E0-BDAD-43E8-882F-E18FE28AD32F}"/>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What the diagnosis establishes</a:t>
            </a:r>
          </a:p>
        </p:txBody>
      </p:sp>
      <p:sp>
        <p:nvSpPr>
          <p:cNvPr id="3" name="">
            <a:extLst xmlns:a="http://schemas.openxmlformats.org/drawingml/2006/main">
              <a:ext uri="{FF2B5EF4-FFF2-40B4-BE49-F238E27FC236}">
                <a16:creationId xmlns:a16="http://schemas.microsoft.com/office/drawing/2014/main" id="{16E90A91-CF6D-4603-999F-F35EBDB3F212}"/>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Both departments have documented needs. Capability sufficiency remains conditional.</a:t>
            </a:r>
          </a:p>
        </p:txBody>
      </p:sp>
      <p:sp>
        <p:nvSpPr>
          <p:cNvPr id="4" name="">
            <a:extLst xmlns:a="http://schemas.openxmlformats.org/drawingml/2006/main">
              <a:ext uri="{FF2B5EF4-FFF2-40B4-BE49-F238E27FC236}">
                <a16:creationId xmlns:a16="http://schemas.microsoft.com/office/drawing/2014/main" id="{7AB46C66-2BF3-447F-9810-9CF29B7EC91E}"/>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B9631005-3922-4D04-8010-3E0709CEE13E}"/>
              </a:ext>
            </a:extLst>
          </p:cNvPr>
          <p:cNvSpPr>
            <a:spLocks xmlns:a="http://schemas.openxmlformats.org/drawingml/2006/main" noGrp="1"/>
          </p:cNvSpPr>
          <p:nvPr/>
        </p:nvSpPr>
        <p:spPr>
          <a:xfrm xmlns:a="http://schemas.openxmlformats.org/drawingml/2006/main">
            <a:off x="533400" y="26003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878A"/>
                </a:solidFill>
                <a:latin typeface="Helvetica Neue"/>
                <a:ea typeface="Helvetica Neue"/>
                <a:cs typeface="Helvetica Neue"/>
              </a:defRPr>
            </a:pPr>
            <a:r>
              <a:rPr sz="2325" b="1">
                <a:solidFill>
                  <a:srgbClr val="16878A"/>
                </a:solidFill>
                <a:latin typeface="Helvetica Neue"/>
                <a:ea typeface="Helvetica Neue"/>
                <a:cs typeface="Helvetica Neue"/>
              </a:rPr>
              <a:t>Established</a:t>
            </a:r>
          </a:p>
        </p:txBody>
      </p:sp>
      <p:sp>
        <p:nvSpPr>
          <p:cNvPr id="6" name="">
            <a:extLst xmlns:a="http://schemas.openxmlformats.org/drawingml/2006/main">
              <a:ext uri="{FF2B5EF4-FFF2-40B4-BE49-F238E27FC236}">
                <a16:creationId xmlns:a16="http://schemas.microsoft.com/office/drawing/2014/main" id="{ED1F4F5D-8F62-43DD-8C63-724D87348CEB}"/>
              </a:ext>
            </a:extLst>
          </p:cNvPr>
          <p:cNvSpPr>
            <a:spLocks xmlns:a="http://schemas.openxmlformats.org/drawingml/2006/main" noGrp="1"/>
          </p:cNvSpPr>
          <p:nvPr/>
        </p:nvSpPr>
        <p:spPr>
          <a:xfrm xmlns:a="http://schemas.openxmlformats.org/drawingml/2006/main">
            <a:off x="533400" y="3209925"/>
            <a:ext cx="5095875"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CSE support is valuable but uneven.</a:t>
            </a:r>
          </a:p>
          <a:p xmlns:a="http://schemas.openxmlformats.org/drawingml/2006/main">
            <a:r>
              <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BMS students report heat, workload and practical-access constraints.</a:t>
            </a:r>
          </a:p>
          <a:p xmlns:a="http://schemas.openxmlformats.org/drawingml/2006/main">
            <a:r>
              <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Existing tools and academic expertise provide a starting point.</a:t>
            </a:r>
          </a:p>
        </p:txBody>
      </p:sp>
      <p:sp>
        <p:nvSpPr>
          <p:cNvPr id="7" name="">
            <a:extLst xmlns:a="http://schemas.openxmlformats.org/drawingml/2006/main">
              <a:ext uri="{FF2B5EF4-FFF2-40B4-BE49-F238E27FC236}">
                <a16:creationId xmlns:a16="http://schemas.microsoft.com/office/drawing/2014/main" id="{A9C3B0F7-37BD-49C3-8655-E41DBB5A9BA8}"/>
              </a:ext>
            </a:extLst>
          </p:cNvPr>
          <p:cNvSpPr>
            <a:spLocks xmlns:a="http://schemas.openxmlformats.org/drawingml/2006/main" noGrp="1"/>
          </p:cNvSpPr>
          <p:nvPr/>
        </p:nvSpPr>
        <p:spPr>
          <a:xfrm xmlns:a="http://schemas.openxmlformats.org/drawingml/2006/main">
            <a:off x="6429375" y="26003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878A"/>
                </a:solidFill>
                <a:latin typeface="Helvetica Neue"/>
                <a:ea typeface="Helvetica Neue"/>
                <a:cs typeface="Helvetica Neue"/>
              </a:defRPr>
            </a:pPr>
            <a:r>
              <a:rPr sz="2325" b="1">
                <a:solidFill>
                  <a:srgbClr val="16878A"/>
                </a:solidFill>
                <a:latin typeface="Helvetica Neue"/>
                <a:ea typeface="Helvetica Neue"/>
                <a:cs typeface="Helvetica Neue"/>
              </a:rPr>
              <a:t>Still needed for each candidate</a:t>
            </a:r>
          </a:p>
        </p:txBody>
      </p:sp>
      <p:sp>
        <p:nvSpPr>
          <p:cNvPr id="8" name="">
            <a:extLst xmlns:a="http://schemas.openxmlformats.org/drawingml/2006/main">
              <a:ext uri="{FF2B5EF4-FFF2-40B4-BE49-F238E27FC236}">
                <a16:creationId xmlns:a16="http://schemas.microsoft.com/office/drawing/2014/main" id="{1059C3E5-E704-49E9-B3B3-0293D007C5C1}"/>
              </a:ext>
            </a:extLst>
          </p:cNvPr>
          <p:cNvSpPr>
            <a:spLocks xmlns:a="http://schemas.openxmlformats.org/drawingml/2006/main" noGrp="1"/>
          </p:cNvSpPr>
          <p:nvPr/>
        </p:nvSpPr>
        <p:spPr>
          <a:xfrm xmlns:a="http://schemas.openxmlformats.org/drawingml/2006/main">
            <a:off x="6429375" y="3209925"/>
            <a:ext cx="5191125"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An accountable process owner</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Available staff time and permissions</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Trusted rules, records or capacity data</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A measurable service baseline</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Evidence that users will follow the process</a:t>
            </a:r>
          </a:p>
        </p:txBody>
      </p:sp>
      <p:sp>
        <p:nvSpPr>
          <p:cNvPr id="9" name="">
            <a:extLst xmlns:a="http://schemas.openxmlformats.org/drawingml/2006/main">
              <a:ext uri="{FF2B5EF4-FFF2-40B4-BE49-F238E27FC236}">
                <a16:creationId xmlns:a16="http://schemas.microsoft.com/office/drawing/2014/main" id="{3B9B295A-53A7-4CC4-9AB1-033DB907740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Next workshop stage: compare candidates only after these capability assumptions are made explicit.</a:t>
            </a:r>
          </a:p>
        </p:txBody>
      </p:sp>
    </p:spTree>
    <p:extLst>
      <p:ext uri="{BB962C8B-B14F-4D97-AF65-F5344CB8AC3E}">
        <p14:creationId xmlns:p14="http://schemas.microsoft.com/office/powerpoint/2010/main" val="8801888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2026-09-22T14:12:55.0500000Z</dcterms:created>
  <dcterms:modified xsi:type="dcterms:W3CDTF">2026-09-22T14:12:55.0510000Z</dcterms:modified>
</coreProperties>
</file>