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slides/charts/chart1.xml" ContentType="application/vnd.openxmlformats-officedocument.drawingml.chart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slides/charts/chart2.xml" ContentType="application/vnd.openxmlformats-officedocument.drawingml.chart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slides/charts/chart3.xml" ContentType="application/vnd.openxmlformats-officedocument.drawingml.chart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7065ffa14e644d6b" /><Relationship Type="http://schemas.openxmlformats.org/officeDocument/2006/relationships/extended-properties" Target="/docProps/app.xml" Id="R24fc04043e21469c" /><Relationship Type="http://schemas.openxmlformats.org/officeDocument/2006/relationships/officeDocument" Target="/ppt/presentation.xml" Id="Re20764cdadd04dee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e177ae007d554ad7"/>
  </p:sldMasterIdLst>
  <p:notesMasterIdLst>
    <p:notesMasterId xmlns:r="http://schemas.openxmlformats.org/officeDocument/2006/relationships" r:id="R15d79778214a491a"/>
  </p:notesMasterIdLst>
  <p:sldIdLst>
    <p:sldId xmlns:r="http://schemas.openxmlformats.org/officeDocument/2006/relationships" id="256" r:id="R9e4ff30f0e424e87"/>
    <p:sldId xmlns:r="http://schemas.openxmlformats.org/officeDocument/2006/relationships" id="257" r:id="R717b0f75b1bd40d9"/>
    <p:sldId xmlns:r="http://schemas.openxmlformats.org/officeDocument/2006/relationships" id="258" r:id="Ra12776728ea84b51"/>
    <p:sldId xmlns:r="http://schemas.openxmlformats.org/officeDocument/2006/relationships" id="259" r:id="R7a81785780154a4b"/>
    <p:sldId xmlns:r="http://schemas.openxmlformats.org/officeDocument/2006/relationships" id="260" r:id="R1c41c0beba384243"/>
    <p:sldId xmlns:r="http://schemas.openxmlformats.org/officeDocument/2006/relationships" id="261" r:id="R322e3412ccb541cc"/>
    <p:sldId xmlns:r="http://schemas.openxmlformats.org/officeDocument/2006/relationships" id="262" r:id="R358397b16eae4719"/>
    <p:sldId xmlns:r="http://schemas.openxmlformats.org/officeDocument/2006/relationships" id="263" r:id="R7fbed3015f2542bc"/>
    <p:sldId xmlns:r="http://schemas.openxmlformats.org/officeDocument/2006/relationships" id="264" r:id="R8c37cc47ac444b4a"/>
    <p:sldId xmlns:r="http://schemas.openxmlformats.org/officeDocument/2006/relationships" id="265" r:id="R493db0eba8534815"/>
    <p:sldId xmlns:r="http://schemas.openxmlformats.org/officeDocument/2006/relationships" id="266" r:id="Rf9d5c2c4c495493c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0238d7759d8b4fb3" /><Relationship Type="http://schemas.openxmlformats.org/officeDocument/2006/relationships/slideMaster" Target="/ppt/slideMasters/slideMaster1.xml" Id="Re177ae007d554ad7" /><Relationship Type="http://schemas.openxmlformats.org/officeDocument/2006/relationships/notesMaster" Target="/ppt/notesMasters/notesMaster1.xml" Id="R15d79778214a491a" /><Relationship Type="http://schemas.openxmlformats.org/officeDocument/2006/relationships/presProps" Target="/ppt/presProps.xml" Id="R75f1bf7fb2c9462c" /><Relationship Type="http://schemas.openxmlformats.org/officeDocument/2006/relationships/tableStyles" Target="/ppt/tableStyles.xml" Id="Rce83bed51a504c13" /><Relationship Type="http://schemas.openxmlformats.org/officeDocument/2006/relationships/slide" Target="/ppt/slides/slide1.xml" Id="R9e4ff30f0e424e87" /><Relationship Type="http://schemas.openxmlformats.org/officeDocument/2006/relationships/slide" Target="/ppt/slides/slide2.xml" Id="R717b0f75b1bd40d9" /><Relationship Type="http://schemas.openxmlformats.org/officeDocument/2006/relationships/slide" Target="/ppt/slides/slide3.xml" Id="Ra12776728ea84b51" /><Relationship Type="http://schemas.openxmlformats.org/officeDocument/2006/relationships/slide" Target="/ppt/slides/slide4.xml" Id="R7a81785780154a4b" /><Relationship Type="http://schemas.openxmlformats.org/officeDocument/2006/relationships/slide" Target="/ppt/slides/slide5.xml" Id="R1c41c0beba384243" /><Relationship Type="http://schemas.openxmlformats.org/officeDocument/2006/relationships/slide" Target="/ppt/slides/slide6.xml" Id="R322e3412ccb541cc" /><Relationship Type="http://schemas.openxmlformats.org/officeDocument/2006/relationships/slide" Target="/ppt/slides/slide7.xml" Id="R358397b16eae4719" /><Relationship Type="http://schemas.openxmlformats.org/officeDocument/2006/relationships/slide" Target="/ppt/slides/slide8.xml" Id="R7fbed3015f2542bc" /><Relationship Type="http://schemas.openxmlformats.org/officeDocument/2006/relationships/slide" Target="/ppt/slides/slide9.xml" Id="R8c37cc47ac444b4a" /><Relationship Type="http://schemas.openxmlformats.org/officeDocument/2006/relationships/slide" Target="/ppt/slides/slide10.xml" Id="R493db0eba8534815" /><Relationship Type="http://schemas.openxmlformats.org/officeDocument/2006/relationships/slide" Target="/ppt/slides/slide11.xml" Id="Rf9d5c2c4c495493c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d32b9e59cc0e44dd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80dae99ff7ad46fd" /><Relationship Type="http://schemas.openxmlformats.org/officeDocument/2006/relationships/notesMaster" Target="/ppt/notesMasters/notesMaster1.xml" Id="Rf6c8a63fb2b84591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4b7da290858d4aa6" /><Relationship Type="http://schemas.openxmlformats.org/officeDocument/2006/relationships/notesMaster" Target="/ppt/notesMasters/notesMaster1.xml" Id="Rcb1b246e3ffe4109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481a0670582c4bb4" /><Relationship Type="http://schemas.openxmlformats.org/officeDocument/2006/relationships/notesMaster" Target="/ppt/notesMasters/notesMaster1.xml" Id="R0520d1250f5b4c75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b14e71ad7c974dc1" /><Relationship Type="http://schemas.openxmlformats.org/officeDocument/2006/relationships/notesMaster" Target="/ppt/notesMasters/notesMaster1.xml" Id="R73e723dfa7184138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ac0a88996dbd4ac8" /><Relationship Type="http://schemas.openxmlformats.org/officeDocument/2006/relationships/notesMaster" Target="/ppt/notesMasters/notesMaster1.xml" Id="Read42601c6f34429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e30858cb0e174c50" /><Relationship Type="http://schemas.openxmlformats.org/officeDocument/2006/relationships/notesMaster" Target="/ppt/notesMasters/notesMaster1.xml" Id="R8303d39173f44273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fff37406951d4bed" /><Relationship Type="http://schemas.openxmlformats.org/officeDocument/2006/relationships/notesMaster" Target="/ppt/notesMasters/notesMaster1.xml" Id="Rc20d077e625c4ed0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dc6cfaaf90014eaa" /><Relationship Type="http://schemas.openxmlformats.org/officeDocument/2006/relationships/notesMaster" Target="/ppt/notesMasters/notesMaster1.xml" Id="Rb5d4d1891ea84a82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f4ccf914173f4665" /><Relationship Type="http://schemas.openxmlformats.org/officeDocument/2006/relationships/notesMaster" Target="/ppt/notesMasters/notesMaster1.xml" Id="R4478ec658f2e4625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bfd3571e8a8f4472" /><Relationship Type="http://schemas.openxmlformats.org/officeDocument/2006/relationships/notesMaster" Target="/ppt/notesMasters/notesMaster1.xml" Id="R7efdb63380054c43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334c454552bb4ea6" /><Relationship Type="http://schemas.openxmlformats.org/officeDocument/2006/relationships/notesMaster" Target="/ppt/notesMasters/notesMaster1.xml" Id="R7255971187b6440a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DBB43005 Session 5 Week 5 Agile Transformation and Digital Product Development; Group 1 Week 5 Evidence and Assumptions Log, updated 14 October 2026. Recorded research evidence, team estimates and proposed pilot targets are labelled separately.</a:t>
            </a:r>
          </a:p>
          <a:p xmlns:a="http://schemas.openxmlformats.org/drawingml/2006/main">
            <a:r>
              <a:t>Presenter notes: Introduce the Week 5 checkpoint. The long-term product serves all programmes, while the MVP uses a 30-student sample.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DBB43005 Session 5 Week 5 Agile Transformation and Digital Product Development; Group 1 Week 5 Evidence and Assumptions Log, updated 14 October 2026. Recorded research evidence, team estimates and proposed pilot targets are labelled separately.</a:t>
            </a:r>
          </a:p>
          <a:p xmlns:a="http://schemas.openxmlformats.org/drawingml/2006/main">
            <a:r>
              <a:t>Presenter notes: Explain that the product scope is university-wide, while the pilot remains deliberately small.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DBB43005 Session 5 Week 5 Agile Transformation and Digital Product Development; Group 1 Week 5 Evidence and Assumptions Log, updated 14 October 2026. Recorded research evidence, team estimates and proposed pilot targets are labelled separately.</a:t>
            </a:r>
          </a:p>
          <a:p xmlns:a="http://schemas.openxmlformats.org/drawingml/2006/main">
            <a:r>
              <a:t>Presenter notes: Contrast a temporary chatbot project with a continuing student-support product.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DBB43005 Session 5 Week 5 Agile Transformation and Digital Product Development; Group 1 Week 5 Evidence and Assumptions Log, updated 14 October 2026. Recorded research evidence, team estimates and proposed pilot targets are labelled separately.</a:t>
            </a:r>
          </a:p>
          <a:p xmlns:a="http://schemas.openxmlformats.org/drawingml/2006/main">
            <a:r>
              <a:t>Presenter notes: Read the goal once, then explain how the measures avoid treating launch as success.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DBB43005 Session 5 Week 5 Agile Transformation and Digital Product Development; Group 1 Week 5 Evidence and Assumptions Log, updated 14 October 2026. Recorded research evidence, team estimates and proposed pilot targets are labelled separately.</a:t>
            </a:r>
          </a:p>
          <a:p xmlns:a="http://schemas.openxmlformats.org/drawingml/2006/main">
            <a:r>
              <a:t>Presenter notes: Explain the riskiest assumption: VNUK can maintain reliable guidance and route requests consistently.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DBB43005 Session 5 Week 5 Agile Transformation and Digital Product Development; Group 1 Week 5 Evidence and Assumptions Log, updated 14 October 2026. Recorded research evidence, team estimates and proposed pilot targets are labelled separately.</a:t>
            </a:r>
          </a:p>
          <a:p xmlns:a="http://schemas.openxmlformats.org/drawingml/2006/main">
            <a:r>
              <a:t>Presenter notes: Show that the MVP produces evidence for a decision rather than a feature demonstration.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DBB43005 Session 5 Week 5 Agile Transformation and Digital Product Development; Group 1 Week 5 Evidence and Assumptions Log, updated 14 October 2026. Recorded research evidence, team estimates and proposed pilot targets are labelled separately.</a:t>
            </a:r>
          </a:p>
          <a:p xmlns:a="http://schemas.openxmlformats.org/drawingml/2006/main">
            <a:r>
              <a:t>Presenter notes: Explain the top five using value, risk, learning and dependency.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DBB43005 Session 5 Week 5 Agile Transformation and Digital Product Development; Group 1 Week 5 Evidence and Assumptions Log, updated 14 October 2026. Recorded research evidence, team estimates and proposed pilot targets are labelled separately.</a:t>
            </a:r>
          </a:p>
          <a:p xmlns:a="http://schemas.openxmlformats.org/drawingml/2006/main">
            <a:r>
              <a:t>Presenter notes: Use the four examples to show that the backlog is testable.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DBB43005 Session 5 Week 5 Agile Transformation and Digital Product Development; Group 1 Week 5 Evidence and Assumptions Log, updated 14 October 2026. Recorded research evidence, team estimates and proposed pilot targets are labelled separately.</a:t>
            </a:r>
          </a:p>
          <a:p xmlns:a="http://schemas.openxmlformats.org/drawingml/2006/main">
            <a:r>
              <a:t>Presenter notes: Explain what the team can finish with 160 hours and which dependencies could reduce the forecast.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DBB43005 Session 5 Week 5 Agile Transformation and Digital Product Development; Group 1 Week 5 Evidence and Assumptions Log, updated 14 October 2026. Recorded research evidence, team estimates and proposed pilot targets are labelled separately.</a:t>
            </a:r>
          </a:p>
          <a:p xmlns:a="http://schemas.openxmlformats.org/drawingml/2006/main">
            <a:r>
              <a:t>Presenter notes: Explain that the allocation creates ownership but does not prevent collaboration.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DBB43005 Session 5 Week 5 Agile Transformation and Digital Product Development; Group 1 Week 5 Evidence and Assumptions Log, updated 14 October 2026. Recorded research evidence, team estimates and proposed pilot targets are labelled separately.</a:t>
            </a:r>
          </a:p>
          <a:p xmlns:a="http://schemas.openxmlformats.org/drawingml/2006/main">
            <a:r>
              <a:t>Presenter notes: Close by linking the five activities and asking for approval to validate the MVP.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4ca01495b1a45e2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0eb665dc9e34133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b2f698f460d4934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163f5db7eb8448a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cfc89fd45e34f98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09cb32720c24c71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455CFA2E-C89D-4E33-9548-9AEBAB79B7A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A26124F9-8F5A-4977-B543-36D1CEE4C1F2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71D4446B-4F26-40DB-962B-5DEF2200C77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A98F964E-19BB-4211-8719-66F5F1E6295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371B8621-4187-4EF6-B3CB-DDDBE8F064E0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4C2D62AA-7B91-47E6-9AE6-2BE407B4E9C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D1399CB8-64B6-4A54-AC9D-6DFE7080106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B5576795-26CA-4682-A2C3-855CF84A6735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1EE9663B-75BF-41A0-839D-EC08A577E6B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A9F0FD19-838C-4068-8BC9-E726B079A196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033c9e2c844a41ca" /><Relationship Type="http://schemas.openxmlformats.org/officeDocument/2006/relationships/slideLayout" Target="/ppt/slideLayouts/slideLayout1.xml" Id="R02ff253ed3264528" /><Relationship Type="http://schemas.openxmlformats.org/officeDocument/2006/relationships/slideLayout" Target="/ppt/slideLayouts/slideLayout2.xml" Id="R9a09a5846c1e4d42" /><Relationship Type="http://schemas.openxmlformats.org/officeDocument/2006/relationships/slideLayout" Target="/ppt/slideLayouts/slideLayout3.xml" Id="Ra2e73347c4b34f8d" /><Relationship Type="http://schemas.openxmlformats.org/officeDocument/2006/relationships/slideLayout" Target="/ppt/slideLayouts/slideLayout4.xml" Id="R901e1383920a402d" /><Relationship Type="http://schemas.openxmlformats.org/officeDocument/2006/relationships/slideLayout" Target="/ppt/slideLayouts/slideLayout5.xml" Id="R841573c170a144fa" /><Relationship Type="http://schemas.openxmlformats.org/officeDocument/2006/relationships/slideLayout" Target="/ppt/slideLayouts/slideLayout6.xml" Id="R76b2a7d3413f465c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2ff253ed3264528"/>
    <p:sldLayoutId xmlns:r="http://schemas.openxmlformats.org/officeDocument/2006/relationships" id="2147483650" r:id="R9a09a5846c1e4d42"/>
    <p:sldLayoutId xmlns:r="http://schemas.openxmlformats.org/officeDocument/2006/relationships" id="2147483651" r:id="Ra2e73347c4b34f8d"/>
    <p:sldLayoutId xmlns:r="http://schemas.openxmlformats.org/officeDocument/2006/relationships" id="2147483652" r:id="R901e1383920a402d"/>
    <p:sldLayoutId xmlns:r="http://schemas.openxmlformats.org/officeDocument/2006/relationships" id="2147483653" r:id="R841573c170a144fa"/>
    <p:sldLayoutId xmlns:r="http://schemas.openxmlformats.org/officeDocument/2006/relationships" id="2147483654" r:id="R76b2a7d3413f465c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079ee54f1fd4551" /><Relationship Type="http://schemas.openxmlformats.org/officeDocument/2006/relationships/notesSlide" Target="/ppt/notesSlides/notesSlide1.xml" Id="R9d9dbe967d14415d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6c2a88857864782" /><Relationship Type="http://schemas.openxmlformats.org/officeDocument/2006/relationships/chart" Target="/ppt/slides/charts/chart1.xml" Id="Rd60a833f986d446d" /><Relationship Type="http://schemas.openxmlformats.org/officeDocument/2006/relationships/notesSlide" Target="/ppt/notesSlides/notesSlide2.xml" Id="R7ddc31a5b66e4256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644d641392541cd" /><Relationship Type="http://schemas.openxmlformats.org/officeDocument/2006/relationships/notesSlide" Target="/ppt/notesSlides/notesSlide3.xml" Id="R7302fa0b4d2742be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69798978c754bb4" /><Relationship Type="http://schemas.openxmlformats.org/officeDocument/2006/relationships/notesSlide" Target="/ppt/notesSlides/notesSlide4.xml" Id="Rbccbc309f23f454e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fbce291e33f4b2a" /><Relationship Type="http://schemas.openxmlformats.org/officeDocument/2006/relationships/notesSlide" Target="/ppt/notesSlides/notesSlide5.xml" Id="R12db1d4762c94de8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dc44b2d68dd432c" /><Relationship Type="http://schemas.openxmlformats.org/officeDocument/2006/relationships/chart" Target="/ppt/slides/charts/chart2.xml" Id="Rd5bb68a8fc9a45c8" /><Relationship Type="http://schemas.openxmlformats.org/officeDocument/2006/relationships/notesSlide" Target="/ppt/notesSlides/notesSlide6.xml" Id="Rc8975712eb854cc9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efc3b4d0b3349fe" /><Relationship Type="http://schemas.openxmlformats.org/officeDocument/2006/relationships/notesSlide" Target="/ppt/notesSlides/notesSlide7.xml" Id="Rc399ac76b7bf44de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e443d09b4094fff" /><Relationship Type="http://schemas.openxmlformats.org/officeDocument/2006/relationships/notesSlide" Target="/ppt/notesSlides/notesSlide8.xml" Id="R321708efabdb46e8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8216b2bdd1b40ad" /><Relationship Type="http://schemas.openxmlformats.org/officeDocument/2006/relationships/notesSlide" Target="/ppt/notesSlides/notesSlide9.xml" Id="Rc2be3bf97b724ac5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4aada0252054608" /><Relationship Type="http://schemas.openxmlformats.org/officeDocument/2006/relationships/chart" Target="/ppt/slides/charts/chart3.xml" Id="Re14264fcd4134c44" /><Relationship Type="http://schemas.openxmlformats.org/officeDocument/2006/relationships/notesSlide" Target="/ppt/notesSlides/notesSlide10.xml" Id="R4e1fede0c3cf415b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149f30cff234930" /><Relationship Type="http://schemas.openxmlformats.org/officeDocument/2006/relationships/notesSlide" Target="/ppt/notesSlides/notesSlide11.xml" Id="Rbb6c497d6e564ce9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_rels/chart2.xml.rels><Relationships xmlns="http://schemas.openxmlformats.org/package/2006/relationships"><Relationship Id="rIdChartSnapshot1" Type="http://schemas.openxmlformats.org/officeDocument/2006/relationships/package" Target="../../embeddings/chart-data-snapshot-002.xlsx"/></Relationships>
</file>

<file path=ppt/slides/charts/_rels/chart3.xml.rels><Relationships xmlns="http://schemas.openxmlformats.org/package/2006/relationships"><Relationship Id="rIdChartSnapshot1" Type="http://schemas.openxmlformats.org/officeDocument/2006/relationships/package" Target="../../embeddings/chart-data-snapshot-003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Relative demand index</c:v>
          </c:tx>
          <c:spPr>
            <a:solidFill xmlns:a="http://schemas.openxmlformats.org/drawingml/2006/main">
              <a:srgbClr val="16878A"/>
            </a:solidFill>
          </c:spPr>
          <c:invertIfNegative val="0"/>
          <c:cat>
            <c:strRef>
              <c:f>'Chart Data'!$A$2:$A$3</c:f>
              <c:strCache>
                <c:ptCount val="2"/>
                <c:pt idx="0">
                  <c:v>Normal period</c:v>
                </c:pt>
                <c:pt idx="1">
                  <c:v>Peak period</c:v>
                </c:pt>
              </c:strCache>
            </c:strRef>
          </c:cat>
          <c:val>
            <c:numRef>
              <c:f>'Chart Data'!$B$2:$B$3</c:f>
              <c:numCache>
                <c:formatCode>General</c:formatCode>
                <c:ptCount val="2"/>
                <c:pt idx="0">
                  <c:v>100</c:v>
                </c:pt>
                <c:pt idx="1">
                  <c:v>175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200" b="1">
                  <a:solidFill>
                    <a:srgbClr val="183449"/>
                  </a:solidFill>
                  <a:latin typeface="Helvetica Neue"/>
                  <a:ea typeface="Helvetica Neue"/>
                  <a:cs typeface="Helvetica Neue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5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666666"/>
                </a:solidFill>
                <a:latin typeface="Helvetica Neue"/>
                <a:ea typeface="Helvetica Neue"/>
                <a:cs typeface="Helvetica Neue"/>
              </a:defRPr>
            </a:pPr>
          </a:p>
        </c:txPr>
        <c:crossAx val="48672768"/>
      </c:catAx>
      <c:valAx>
        <c:axId val="48672768"/>
        <c:scaling>
          <c:orientation val="minMax"/>
          <c:max val="200"/>
          <c:min val="0"/>
        </c:scaling>
        <c:delete val="0"/>
        <c:axPos val="l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666666"/>
                </a:solidFill>
                <a:latin typeface="Helvetica Neue"/>
                <a:ea typeface="Helvetica Neue"/>
                <a:cs typeface="Helvetica Neue"/>
              </a:defRPr>
            </a:pPr>
          </a:p>
        </c:txPr>
        <c:crossAx val="48650112"/>
        <c:crossBetween val="between"/>
        <c:majorUnit val="50"/>
      </c:valAx>
    </c:plotArea>
    <c:plotVisOnly val="1"/>
  </c:chart>
  <c:externalData r:id="rIdChartSnapshot1">
    <c:autoUpdate val="0"/>
  </c:externalData>
</c:chartSpace>
</file>

<file path=ppt/slides/charts/chart2.xml><?xml version="1.0" encoding="utf-8"?>
<c:chartSpace xmlns:c="http://schemas.openxmlformats.org/drawingml/2006/chart" xmlns:r="http://schemas.openxmlformats.org/officeDocument/2006/relationships">
  <c:lang val="en-US"/>
  <c:chart>
    <c:plotArea>
      <c:doughnutChart>
        <c:ser>
          <c:idx val="0"/>
          <c:order val="0"/>
          <c:tx>
            <c:v>Pilot students</c:v>
          </c:tx>
          <c:cat>
            <c:strRef>
              <c:f>'Chart Data'!$A$2:$A$4</c:f>
              <c:strCache>
                <c:ptCount val="3"/>
                <c:pt idx="0">
                  <c:v>CSE</c:v>
                </c:pt>
                <c:pt idx="1">
                  <c:v>IBM</c:v>
                </c:pt>
                <c:pt idx="2">
                  <c:v>BMS</c:v>
                </c:pt>
              </c:strCache>
            </c:strRef>
          </c:cat>
          <c:val>
            <c:numRef>
              <c:f>'Chart Data'!$B$2:$B$4</c:f>
              <c:numCache>
                <c:formatCode>General</c:formatCode>
                <c:ptCount val="3"/>
                <c:pt idx="0">
                  <c:v>10</c:v>
                </c:pt>
                <c:pt idx="1">
                  <c:v>10</c:v>
                </c:pt>
                <c:pt idx="2">
                  <c:v>10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200" b="1">
                  <a:solidFill>
                    <a:srgbClr val="183449"/>
                  </a:solidFill>
                  <a:latin typeface="Helvetica Neue"/>
                  <a:ea typeface="Helvetica Neue"/>
                  <a:cs typeface="Helvetica Neue"/>
                </a:defRPr>
              </a:pPr>
            </a:p>
          </c:txPr>
          <c:showLegendKey val="0"/>
          <c:showVal val="1"/>
          <c:showCatName val="1"/>
          <c:showSerName val="0"/>
          <c:showPercent val="0"/>
          <c:showBubbleSize val="0"/>
          <c:showLeaderLines val="0"/>
        </c:dLbls>
      </c:doughnutChart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200">
              <a:latin typeface="Helvetica Neue"/>
              <a:ea typeface="Helvetica Neue"/>
              <a:cs typeface="Helvetica Neue"/>
            </a:defRPr>
          </a:pPr>
        </a:p>
      </c:txPr>
    </c:legend>
    <c:plotVisOnly val="1"/>
  </c:chart>
  <c:externalData r:id="rIdChartSnapshot1">
    <c:autoUpdate val="0"/>
  </c:externalData>
</c:chartSpace>
</file>

<file path=ppt/slides/charts/chart3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bar"/>
        <c:grouping val="clustered"/>
        <c:varyColors val="0"/>
        <c:ser>
          <c:idx val="0"/>
          <c:order val="0"/>
          <c:tx>
            <c:v>Hours</c:v>
          </c:tx>
          <c:spPr>
            <a:solidFill xmlns:a="http://schemas.openxmlformats.org/drawingml/2006/main">
              <a:srgbClr val="16878A"/>
            </a:solidFill>
          </c:spPr>
          <c:invertIfNegative val="0"/>
          <c:cat>
            <c:strRef>
              <c:f>'Chart Data'!$A$2:$A$5</c:f>
              <c:strCache>
                <c:ptCount val="4"/>
                <c:pt idx="0">
                  <c:v>Analytics and audit</c:v>
                </c:pt>
                <c:pt idx="1">
                  <c:v>Development</c:v>
                </c:pt>
                <c:pt idx="2">
                  <c:v>QA and user improvement</c:v>
                </c:pt>
                <c:pt idx="3">
                  <c:v>Content and learning</c:v>
                </c:pt>
              </c:strCache>
            </c:strRef>
          </c:cat>
          <c:val>
            <c:numRef>
              <c:f>'Chart Data'!$B$2:$B$5</c:f>
              <c:numCache>
                <c:formatCode>General</c:formatCode>
                <c:ptCount val="4"/>
                <c:pt idx="0">
                  <c:v>40</c:v>
                </c:pt>
                <c:pt idx="1">
                  <c:v>40</c:v>
                </c:pt>
                <c:pt idx="2">
                  <c:v>40</c:v>
                </c:pt>
                <c:pt idx="3">
                  <c:v>40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275" b="1">
                  <a:solidFill>
                    <a:srgbClr val="183449"/>
                  </a:solidFill>
                  <a:latin typeface="Helvetica Neue"/>
                  <a:ea typeface="Helvetica Neue"/>
                  <a:cs typeface="Helvetica Neue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5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666666"/>
                </a:solidFill>
                <a:latin typeface="Helvetica Neue"/>
                <a:ea typeface="Helvetica Neue"/>
                <a:cs typeface="Helvetica Neue"/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666666"/>
                </a:solidFill>
                <a:latin typeface="Helvetica Neue"/>
                <a:ea typeface="Helvetica Neue"/>
                <a:cs typeface="Helvetica Neue"/>
              </a:defRPr>
            </a:pPr>
          </a:p>
        </c:txPr>
        <c:crossAx val="48650112"/>
        <c:crossBetween val="between"/>
      </c:valAx>
    </c:plotArea>
    <c:plotVisOnly val="1"/>
  </c:chart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6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77A0EDA-0D3F-421B-966D-663C6C7541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E1537"/>
          </a:solidFill>
          <a:ln xmlns:a="http://schemas.openxmlformats.org/drawingml/2006/main" w="9525">
            <a:solidFill>
              <a:srgbClr val="8E1537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9660A50-EB2C-44A8-A4B0-722AB72F08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90550"/>
            <a:ext cx="857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200" b="1">
                <a:solidFill>
                  <a:srgbClr val="16878A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16878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16878A"/>
                </a:solidFill>
                <a:latin typeface="Helvetica Neue"/>
                <a:ea typeface="Helvetica Neue"/>
                <a:cs typeface="Helvetica Neue"/>
              </a:rPr>
              <a:t>DBB43005  DIGITAL INNOVATION AND TRANSFORMATION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FF5A43A-FFB8-430C-8102-802B9ECC0B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352550"/>
            <a:ext cx="9810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3600" b="1">
                <a:solidFill>
                  <a:srgbClr val="183449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3600" b="1">
                <a:solidFill>
                  <a:srgbClr val="183449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>
                <a:solidFill>
                  <a:srgbClr val="183449"/>
                </a:solidFill>
                <a:latin typeface="Helvetica Neue"/>
                <a:ea typeface="Helvetica Neue"/>
                <a:cs typeface="Helvetica Neue"/>
              </a:rPr>
              <a:t>Agile Product Development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D52FEBE-4FFF-4FFD-B2A6-00887479ED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05025"/>
            <a:ext cx="9334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875" b="0">
                <a:solidFill>
                  <a:srgbClr val="61718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61718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617180"/>
                </a:solidFill>
                <a:latin typeface="Helvetica Neue"/>
                <a:ea typeface="Helvetica Neue"/>
                <a:cs typeface="Helvetica Neue"/>
              </a:rPr>
              <a:t>Week 5 activities applied to the VNUK Student Support Hub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EC25FA5-0AC8-444C-A283-B49622C8A7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838450"/>
            <a:ext cx="17145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878A"/>
          </a:solidFill>
          <a:ln xmlns:a="http://schemas.openxmlformats.org/drawingml/2006/main" w="9525">
            <a:solidFill>
              <a:srgbClr val="16878A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78648E8-0A48-4B2F-8ACD-B9F10AAC7F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352800"/>
            <a:ext cx="3143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350" b="1">
                <a:solidFill>
                  <a:srgbClr val="8E1537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350" b="1">
                <a:solidFill>
                  <a:srgbClr val="8E153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8E1537"/>
                </a:solidFill>
                <a:latin typeface="Helvetica Neue"/>
                <a:ea typeface="Helvetica Neue"/>
                <a:cs typeface="Helvetica Neue"/>
              </a:rPr>
              <a:t>ACTIVITIES 1-5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28B41E1-5253-48B0-A2F5-F00558206A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781425"/>
            <a:ext cx="4762500" cy="1866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175" b="1">
                <a:solidFill>
                  <a:srgbClr val="233746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2175" b="1">
                <a:solidFill>
                  <a:srgbClr val="233746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1">
                <a:solidFill>
                  <a:srgbClr val="233746"/>
                </a:solidFill>
                <a:latin typeface="Helvetica Neue"/>
                <a:ea typeface="Helvetica Neue"/>
                <a:cs typeface="Helvetica Neue"/>
              </a:rPr>
              <a:t>Product definition</a:t>
            </a:r>
          </a:p>
          <a:p xmlns:a="http://schemas.openxmlformats.org/drawingml/2006/main">
            <a:pPr>
              <a:defRPr sz="2175" b="1">
                <a:solidFill>
                  <a:srgbClr val="233746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1">
                <a:solidFill>
                  <a:srgbClr val="233746"/>
                </a:solidFill>
                <a:latin typeface="Helvetica Neue"/>
                <a:ea typeface="Helvetica Neue"/>
                <a:cs typeface="Helvetica Neue"/>
              </a:rPr>
              <a:t>Product Goal</a:t>
            </a:r>
          </a:p>
          <a:p xmlns:a="http://schemas.openxmlformats.org/drawingml/2006/main">
            <a:pPr>
              <a:defRPr sz="2175" b="1">
                <a:solidFill>
                  <a:srgbClr val="233746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1">
                <a:solidFill>
                  <a:srgbClr val="233746"/>
                </a:solidFill>
                <a:latin typeface="Helvetica Neue"/>
                <a:ea typeface="Helvetica Neue"/>
                <a:cs typeface="Helvetica Neue"/>
              </a:rPr>
              <a:t>MVP</a:t>
            </a:r>
          </a:p>
          <a:p xmlns:a="http://schemas.openxmlformats.org/drawingml/2006/main">
            <a:pPr>
              <a:defRPr sz="2175" b="1">
                <a:solidFill>
                  <a:srgbClr val="233746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1">
                <a:solidFill>
                  <a:srgbClr val="233746"/>
                </a:solidFill>
                <a:latin typeface="Helvetica Neue"/>
                <a:ea typeface="Helvetica Neue"/>
                <a:cs typeface="Helvetica Neue"/>
              </a:rPr>
              <a:t>Product Backlog</a:t>
            </a:r>
          </a:p>
          <a:p xmlns:a="http://schemas.openxmlformats.org/drawingml/2006/main">
            <a:pPr>
              <a:defRPr sz="2175" b="1">
                <a:solidFill>
                  <a:srgbClr val="233746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1">
                <a:solidFill>
                  <a:srgbClr val="233746"/>
                </a:solidFill>
                <a:latin typeface="Helvetica Neue"/>
                <a:ea typeface="Helvetica Neue"/>
                <a:cs typeface="Helvetica Neue"/>
              </a:rPr>
              <a:t>Sprint Planning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071C1B0-F039-42AE-A635-D9640BBA34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3571875"/>
            <a:ext cx="2000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3450" b="1">
                <a:solidFill>
                  <a:srgbClr val="16878A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3450" b="1">
                <a:solidFill>
                  <a:srgbClr val="16878A"/>
                </a:solidFill>
                <a:latin typeface="Helvetica Neue"/>
                <a:ea typeface="Helvetica Neue"/>
                <a:cs typeface="Helvetica Neue"/>
              </a:defRPr>
            </a:pPr>
            <a:r>
              <a:rPr sz="3450" b="1">
                <a:solidFill>
                  <a:srgbClr val="16878A"/>
                </a:solidFill>
                <a:latin typeface="Helvetica Neue"/>
                <a:ea typeface="Helvetica Neue"/>
                <a:cs typeface="Helvetica Neue"/>
              </a:rPr>
              <a:t>1,200+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2E9C09C-5D6D-44BF-A152-6C9E942B5F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4191000"/>
            <a:ext cx="21431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275" b="0">
                <a:solidFill>
                  <a:srgbClr val="61718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61718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617180"/>
                </a:solidFill>
                <a:latin typeface="Helvetica Neue"/>
                <a:ea typeface="Helvetica Neue"/>
                <a:cs typeface="Helvetica Neue"/>
              </a:rPr>
              <a:t>VNUK students in the long-term product scope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D4EE159-DCD4-409A-BFC8-9D6FBE32FB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3571875"/>
            <a:ext cx="2000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3450" b="1">
                <a:solidFill>
                  <a:srgbClr val="35458B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3450" b="1">
                <a:solidFill>
                  <a:srgbClr val="3545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3450" b="1">
                <a:solidFill>
                  <a:srgbClr val="35458B"/>
                </a:solidFill>
                <a:latin typeface="Helvetica Neue"/>
                <a:ea typeface="Helvetica Neue"/>
                <a:cs typeface="Helvetica Neue"/>
              </a:rPr>
              <a:t>30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8D4B2B9-B580-4956-AFE8-E9D189ABA2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4191000"/>
            <a:ext cx="21431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275" b="0">
                <a:solidFill>
                  <a:srgbClr val="61718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61718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617180"/>
                </a:solidFill>
                <a:latin typeface="Helvetica Neue"/>
                <a:ea typeface="Helvetica Neue"/>
                <a:cs typeface="Helvetica Neue"/>
              </a:rPr>
              <a:t>students in the proposed MVP sample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2BB2210-B8B6-4106-B7C8-56176C041A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13410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125" b="1">
                <a:solidFill>
                  <a:srgbClr val="61718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125" b="1">
                <a:solidFill>
                  <a:srgbClr val="61718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617180"/>
                </a:solidFill>
                <a:latin typeface="Helvetica Neue"/>
                <a:ea typeface="Helvetica Neue"/>
                <a:cs typeface="Helvetica Neue"/>
              </a:rPr>
              <a:t>GROUP 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8EE591F-7A4C-4E56-B4AD-066FAD3882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2125" y="6115050"/>
            <a:ext cx="876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125" b="0">
                <a:solidFill>
                  <a:srgbClr val="61718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61718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617180"/>
                </a:solidFill>
                <a:latin typeface="Helvetica Neue"/>
                <a:ea typeface="Helvetica Neue"/>
                <a:cs typeface="Helvetica Neue"/>
              </a:rPr>
              <a:t>Liu Yu Han, Le Nguyen Thanh Hang, Tamás Pieskó, Zsombi Mester</a:t>
            </a:r>
          </a:p>
        </p:txBody>
      </p:sp>
    </p:spTree>
    <p:extLst>
      <p:ext uri="{BB962C8B-B14F-4D97-AF65-F5344CB8AC3E}">
        <p14:creationId xmlns:p14="http://schemas.microsoft.com/office/powerpoint/2010/main" val="23050451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6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AD170B6E-D0F0-4653-AF4A-4C26940187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28600"/>
            <a:ext cx="476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050" b="1">
                <a:solidFill>
                  <a:srgbClr val="16878A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050" b="1">
                <a:solidFill>
                  <a:srgbClr val="16878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16878A"/>
                </a:solidFill>
                <a:latin typeface="Helvetica Neue"/>
                <a:ea typeface="Helvetica Neue"/>
                <a:cs typeface="Helvetica Neue"/>
              </a:rPr>
              <a:t>EVIDENCE AND SCOPE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AF05078-5482-4318-BFC4-5F7D4AC369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42925"/>
            <a:ext cx="1109662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850" b="1">
                <a:solidFill>
                  <a:srgbClr val="183449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2850" b="1">
                <a:solidFill>
                  <a:srgbClr val="183449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>
                <a:solidFill>
                  <a:srgbClr val="183449"/>
                </a:solidFill>
                <a:latin typeface="Helvetica Neue"/>
                <a:ea typeface="Helvetica Neue"/>
                <a:cs typeface="Helvetica Neue"/>
              </a:rPr>
              <a:t>One university-wide product, tested with a small sample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2E4D34B-68D1-4CBF-BA34-4FF9254D93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90625"/>
            <a:ext cx="110966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425" b="0">
                <a:solidFill>
                  <a:srgbClr val="61718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425" b="0">
                <a:solidFill>
                  <a:srgbClr val="61718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617180"/>
                </a:solidFill>
                <a:latin typeface="Helvetica Neue"/>
                <a:ea typeface="Helvetica Neue"/>
                <a:cs typeface="Helvetica Neue"/>
              </a:rPr>
              <a:t>Recorded evidence and team estimates define the first learning cycle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9B64E3C-6FE8-42C0-86D0-12F6AACA49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10325"/>
            <a:ext cx="11125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E7"/>
          </a:solidFill>
          <a:ln xmlns:a="http://schemas.openxmlformats.org/drawingml/2006/main" w="9525">
            <a:solidFill>
              <a:srgbClr val="D8E1E7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A0BDD02-EC9A-41DA-A8C6-20320A2A73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477000"/>
            <a:ext cx="47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900" b="0">
                <a:solidFill>
                  <a:srgbClr val="61718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900" b="0">
                <a:solidFill>
                  <a:srgbClr val="617180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617180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8E9004E-7408-4F36-AE32-B247117CA9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905000"/>
            <a:ext cx="2000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3450" b="1">
                <a:solidFill>
                  <a:srgbClr val="183449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3450" b="1">
                <a:solidFill>
                  <a:srgbClr val="183449"/>
                </a:solidFill>
                <a:latin typeface="Helvetica Neue"/>
                <a:ea typeface="Helvetica Neue"/>
                <a:cs typeface="Helvetica Neue"/>
              </a:defRPr>
            </a:pPr>
            <a:r>
              <a:rPr sz="3450" b="1">
                <a:solidFill>
                  <a:srgbClr val="183449"/>
                </a:solidFill>
                <a:latin typeface="Helvetica Neue"/>
                <a:ea typeface="Helvetica Neue"/>
                <a:cs typeface="Helvetica Neue"/>
              </a:rPr>
              <a:t>1,200+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7AD027C-00A4-4E65-A322-F23EAEEFE2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524125"/>
            <a:ext cx="21431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275" b="0">
                <a:solidFill>
                  <a:srgbClr val="61718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61718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617180"/>
                </a:solidFill>
                <a:latin typeface="Helvetica Neue"/>
                <a:ea typeface="Helvetica Neue"/>
                <a:cs typeface="Helvetica Neue"/>
              </a:rPr>
              <a:t>students across IBM, BMS and CSE</a:t>
            </a:r>
          </a:p>
          <a:p xmlns:a="http://schemas.openxmlformats.org/drawingml/2006/main">
            <a:pPr>
              <a:defRPr sz="1275" b="0">
                <a:solidFill>
                  <a:srgbClr val="61718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617180"/>
                </a:solidFill>
                <a:latin typeface="Helvetica Neue"/>
                <a:ea typeface="Helvetica Neue"/>
                <a:cs typeface="Helvetica Neue"/>
              </a:rPr>
              <a:t>Team estimate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264A934-1914-4763-B381-A2D61583C0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5125" y="1905000"/>
            <a:ext cx="2000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3450" b="1">
                <a:solidFill>
                  <a:srgbClr val="8E1537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3450" b="1">
                <a:solidFill>
                  <a:srgbClr val="8E1537"/>
                </a:solidFill>
                <a:latin typeface="Helvetica Neue"/>
                <a:ea typeface="Helvetica Neue"/>
                <a:cs typeface="Helvetica Neue"/>
              </a:defRPr>
            </a:pPr>
            <a:r>
              <a:rPr sz="3450" b="1">
                <a:solidFill>
                  <a:srgbClr val="8E1537"/>
                </a:solidFill>
                <a:latin typeface="Helvetica Neue"/>
                <a:ea typeface="Helvetica Neue"/>
                <a:cs typeface="Helvetica Neue"/>
              </a:rPr>
              <a:t>70-80%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15936B8-8587-4DA7-8567-E48CCA87DE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5125" y="2524125"/>
            <a:ext cx="21431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275" b="0">
                <a:solidFill>
                  <a:srgbClr val="61718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61718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617180"/>
                </a:solidFill>
                <a:latin typeface="Helvetica Neue"/>
                <a:ea typeface="Helvetica Neue"/>
                <a:cs typeface="Helvetica Neue"/>
              </a:rPr>
              <a:t>estimated rise in enquiries during peak periods</a:t>
            </a:r>
          </a:p>
          <a:p xmlns:a="http://schemas.openxmlformats.org/drawingml/2006/main">
            <a:pPr>
              <a:defRPr sz="1275" b="0">
                <a:solidFill>
                  <a:srgbClr val="61718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617180"/>
                </a:solidFill>
                <a:latin typeface="Helvetica Neue"/>
                <a:ea typeface="Helvetica Neue"/>
                <a:cs typeface="Helvetica Neue"/>
              </a:rPr>
              <a:t>Team estimate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3E60670-8DF3-4DC7-BBA2-EE2579255C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81625" y="1905000"/>
            <a:ext cx="2000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3450" b="1">
                <a:solidFill>
                  <a:srgbClr val="16878A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3450" b="1">
                <a:solidFill>
                  <a:srgbClr val="16878A"/>
                </a:solidFill>
                <a:latin typeface="Helvetica Neue"/>
                <a:ea typeface="Helvetica Neue"/>
                <a:cs typeface="Helvetica Neue"/>
              </a:defRPr>
            </a:pPr>
            <a:r>
              <a:rPr sz="3450" b="1">
                <a:solidFill>
                  <a:srgbClr val="16878A"/>
                </a:solidFill>
                <a:latin typeface="Helvetica Neue"/>
                <a:ea typeface="Helvetica Neue"/>
                <a:cs typeface="Helvetica Neue"/>
              </a:rPr>
              <a:t>1 day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0563D40-F248-499B-9E66-7F7534F171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81625" y="2524125"/>
            <a:ext cx="21431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275" b="0">
                <a:solidFill>
                  <a:srgbClr val="61718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61718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617180"/>
                </a:solidFill>
                <a:latin typeface="Helvetica Neue"/>
                <a:ea typeface="Helvetica Neue"/>
                <a:cs typeface="Helvetica Neue"/>
              </a:rPr>
              <a:t>usual administrative response expectation</a:t>
            </a:r>
          </a:p>
          <a:p xmlns:a="http://schemas.openxmlformats.org/drawingml/2006/main">
            <a:pPr>
              <a:defRPr sz="1275" b="0">
                <a:solidFill>
                  <a:srgbClr val="61718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617180"/>
                </a:solidFill>
                <a:latin typeface="Helvetica Neue"/>
                <a:ea typeface="Helvetica Neue"/>
                <a:cs typeface="Helvetica Neue"/>
              </a:rPr>
              <a:t>Team estimate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50B9CF6-8258-4267-A0C7-FB3FB94F91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1905000"/>
            <a:ext cx="2000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3450" b="1">
                <a:solidFill>
                  <a:srgbClr val="C37A25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3450" b="1">
                <a:solidFill>
                  <a:srgbClr val="C37A25"/>
                </a:solidFill>
                <a:latin typeface="Helvetica Neue"/>
                <a:ea typeface="Helvetica Neue"/>
                <a:cs typeface="Helvetica Neue"/>
              </a:defRPr>
            </a:pPr>
            <a:r>
              <a:rPr sz="3450" b="1">
                <a:solidFill>
                  <a:srgbClr val="C37A25"/>
                </a:solidFill>
                <a:latin typeface="Helvetica Neue"/>
                <a:ea typeface="Helvetica Neue"/>
                <a:cs typeface="Helvetica Neue"/>
              </a:rPr>
              <a:t>&gt;5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59139F5-C465-4581-BDB2-E19E6FE75D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2524125"/>
            <a:ext cx="21431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275" b="0">
                <a:solidFill>
                  <a:srgbClr val="61718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61718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617180"/>
                </a:solidFill>
                <a:latin typeface="Helvetica Neue"/>
                <a:ea typeface="Helvetica Neue"/>
                <a:cs typeface="Helvetica Neue"/>
              </a:rPr>
              <a:t>follow-up emails in some complex credit cases</a:t>
            </a:r>
          </a:p>
          <a:p xmlns:a="http://schemas.openxmlformats.org/drawingml/2006/main">
            <a:pPr>
              <a:defRPr sz="1275" b="0">
                <a:solidFill>
                  <a:srgbClr val="61718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617180"/>
                </a:solidFill>
                <a:latin typeface="Helvetica Neue"/>
                <a:ea typeface="Helvetica Neue"/>
                <a:cs typeface="Helvetica Neue"/>
              </a:rPr>
              <a:t>Team estimate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7B3BE6E-ECFE-4AC8-9EE6-9380042E74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1905000"/>
            <a:ext cx="2000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3450" b="1">
                <a:solidFill>
                  <a:srgbClr val="35458B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3450" b="1">
                <a:solidFill>
                  <a:srgbClr val="3545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3450" b="1">
                <a:solidFill>
                  <a:srgbClr val="35458B"/>
                </a:solidFill>
                <a:latin typeface="Helvetica Neue"/>
                <a:ea typeface="Helvetica Neue"/>
                <a:cs typeface="Helvetica Neue"/>
              </a:rPr>
              <a:t>30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161516E-86AE-4C0E-9AA8-87F0FF0BFD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2524125"/>
            <a:ext cx="21431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275" b="0">
                <a:solidFill>
                  <a:srgbClr val="61718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61718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617180"/>
                </a:solidFill>
                <a:latin typeface="Helvetica Neue"/>
                <a:ea typeface="Helvetica Neue"/>
                <a:cs typeface="Helvetica Neue"/>
              </a:rPr>
              <a:t>pilot students: 10 per programme</a:t>
            </a:r>
          </a:p>
          <a:p xmlns:a="http://schemas.openxmlformats.org/drawingml/2006/main">
            <a:pPr>
              <a:defRPr sz="1275" b="0">
                <a:solidFill>
                  <a:srgbClr val="61718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617180"/>
                </a:solidFill>
                <a:latin typeface="Helvetica Neue"/>
                <a:ea typeface="Helvetica Neue"/>
                <a:cs typeface="Helvetica Neue"/>
              </a:rPr>
              <a:t>Product decision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A797A26-285E-48D8-9194-2ABC96B106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714750"/>
            <a:ext cx="2571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650" b="1">
                <a:solidFill>
                  <a:srgbClr val="183449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650" b="1">
                <a:solidFill>
                  <a:srgbClr val="18344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183449"/>
                </a:solidFill>
                <a:latin typeface="Helvetica Neue"/>
                <a:ea typeface="Helvetica Neue"/>
                <a:cs typeface="Helvetica Neue"/>
              </a:rPr>
              <a:t>Demand pattern</a:t>
            </a:r>
          </a:p>
        </p:txBody>
      </p:sp>
      <p:graphicFrame>
        <p:nvGraphicFramePr>
          <p:cNvPr id="17" name="Chart">
            <a:extLst xmlns:a="http://schemas.openxmlformats.org/drawingml/2006/main">
              <a:ext uri="{FF2B5EF4-FFF2-40B4-BE49-F238E27FC236}">
                <a16:creationId xmlns:a16="http://schemas.microsoft.com/office/drawing/2014/main" id="{35EF6031-DACD-47E5-8CED-C2F0AF0D833B}"/>
              </a:ext>
            </a:extLst>
          </p:cNvPr>
          <p:cNvGraphicFramePr/>
          <p:nvPr/>
        </p:nvGraphicFramePr>
        <p:xfrm>
          <a:off xmlns:a="http://schemas.openxmlformats.org/drawingml/2006/main" x="533400" y="4095750"/>
          <a:ext xmlns:a="http://schemas.openxmlformats.org/drawingml/2006/main" cx="5334000" cy="18097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d60a833f986d446d"/>
          </a:graphicData>
        </a:graphic>
      </p:graphicFrame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75270A0-2E6F-4530-A1AC-1A382A730A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943600"/>
            <a:ext cx="5334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975" b="0">
                <a:solidFill>
                  <a:srgbClr val="61718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975" b="0">
                <a:solidFill>
                  <a:srgbClr val="617180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617180"/>
                </a:solidFill>
                <a:latin typeface="Helvetica Neue"/>
                <a:ea typeface="Helvetica Neue"/>
                <a:cs typeface="Helvetica Neue"/>
              </a:rPr>
              <a:t>Index uses the midpoint of the estimated 70-80% uplift.</a:t>
            </a:r>
          </a:p>
          <a:p xmlns:a="http://schemas.openxmlformats.org/drawingml/2006/main">
            <a:pPr>
              <a:defRPr sz="975" b="0">
                <a:solidFill>
                  <a:srgbClr val="617180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617180"/>
                </a:solidFill>
                <a:latin typeface="Helvetica Neue"/>
                <a:ea typeface="Helvetica Neue"/>
                <a:cs typeface="Helvetica Neue"/>
              </a:rPr>
              <a:t>Absolute enquiries per week remain to be measured.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7A8B9CE-CE49-4E6D-9FC0-3083552C64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714750"/>
            <a:ext cx="447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650" b="1">
                <a:solidFill>
                  <a:srgbClr val="183449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650" b="1">
                <a:solidFill>
                  <a:srgbClr val="18344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183449"/>
                </a:solidFill>
                <a:latin typeface="Helvetica Neue"/>
                <a:ea typeface="Helvetica Neue"/>
                <a:cs typeface="Helvetica Neue"/>
              </a:rPr>
              <a:t>Priority request categories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427DB1C-CAEA-4B66-91FB-4E11153033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114800"/>
            <a:ext cx="4000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050" b="1">
                <a:solidFill>
                  <a:srgbClr val="16878A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050" b="1">
                <a:solidFill>
                  <a:srgbClr val="16878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16878A"/>
                </a:solidFill>
                <a:latin typeface="Helvetica Neue"/>
                <a:ea typeface="Helvetica Neue"/>
                <a:cs typeface="Helvetica Neue"/>
              </a:rPr>
              <a:t>01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02C8C02-291F-47B1-99A1-383B4CCD15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4095750"/>
            <a:ext cx="4381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275" b="0">
                <a:solidFill>
                  <a:srgbClr val="233746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23374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233746"/>
                </a:solidFill>
                <a:latin typeface="Helvetica Neue"/>
                <a:ea typeface="Helvetica Neue"/>
                <a:cs typeface="Helvetica Neue"/>
              </a:rPr>
              <a:t>Credit registration and class changes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106AEC0-826E-43EF-8688-261416A492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4438650"/>
            <a:ext cx="4095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E7"/>
          </a:solidFill>
          <a:ln xmlns:a="http://schemas.openxmlformats.org/drawingml/2006/main" w="9525">
            <a:solidFill>
              <a:srgbClr val="D8E1E7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B07F1EB-3537-43F8-9C93-F1605733D5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495800"/>
            <a:ext cx="4000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050" b="1">
                <a:solidFill>
                  <a:srgbClr val="16878A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050" b="1">
                <a:solidFill>
                  <a:srgbClr val="16878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16878A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797C058-5342-441C-9705-1979862951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4476750"/>
            <a:ext cx="4381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275" b="0">
                <a:solidFill>
                  <a:srgbClr val="233746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23374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233746"/>
                </a:solidFill>
                <a:latin typeface="Helvetica Neue"/>
                <a:ea typeface="Helvetica Neue"/>
                <a:cs typeface="Helvetica Neue"/>
              </a:rPr>
              <a:t>Graduation and scholarship processes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4F854C5-9B39-4C49-8798-FBED668862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4819650"/>
            <a:ext cx="4095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E7"/>
          </a:solidFill>
          <a:ln xmlns:a="http://schemas.openxmlformats.org/drawingml/2006/main" w="9525">
            <a:solidFill>
              <a:srgbClr val="D8E1E7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A1852E7-1327-4D2C-9E2F-220B05C69F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876800"/>
            <a:ext cx="4000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050" b="1">
                <a:solidFill>
                  <a:srgbClr val="16878A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050" b="1">
                <a:solidFill>
                  <a:srgbClr val="16878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16878A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2C1F8A5-2A56-4D5B-AA58-0EC2851C95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4857750"/>
            <a:ext cx="4381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275" b="0">
                <a:solidFill>
                  <a:srgbClr val="233746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23374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233746"/>
                </a:solidFill>
                <a:latin typeface="Helvetica Neue"/>
                <a:ea typeface="Helvetica Neue"/>
                <a:cs typeface="Helvetica Neue"/>
              </a:rPr>
              <a:t>Tuition, admission and enrolment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7FBAB67-7D20-44A2-B8FF-84C141F21C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5200650"/>
            <a:ext cx="4095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E7"/>
          </a:solidFill>
          <a:ln xmlns:a="http://schemas.openxmlformats.org/drawingml/2006/main" w="9525">
            <a:solidFill>
              <a:srgbClr val="D8E1E7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8071936-3B2D-43FE-ADC7-EA4614A42A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5257800"/>
            <a:ext cx="4000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050" b="1">
                <a:solidFill>
                  <a:srgbClr val="16878A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050" b="1">
                <a:solidFill>
                  <a:srgbClr val="16878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16878A"/>
                </a:solidFill>
                <a:latin typeface="Helvetica Neue"/>
                <a:ea typeface="Helvetica Neue"/>
                <a:cs typeface="Helvetica Neue"/>
              </a:rPr>
              <a:t>04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56B8D23-4FBD-4176-8963-306B4916B1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5238750"/>
            <a:ext cx="4381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275" b="0">
                <a:solidFill>
                  <a:srgbClr val="233746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23374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233746"/>
                </a:solidFill>
                <a:latin typeface="Helvetica Neue"/>
                <a:ea typeface="Helvetica Neue"/>
                <a:cs typeface="Helvetica Neue"/>
              </a:rPr>
              <a:t>CSE project topics and supervisors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D802EA5-F1C9-4194-B3C8-5AD5B88678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5581650"/>
            <a:ext cx="4095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E7"/>
          </a:solidFill>
          <a:ln xmlns:a="http://schemas.openxmlformats.org/drawingml/2006/main" w="9525">
            <a:solidFill>
              <a:srgbClr val="D8E1E7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A8FA9DB-B95D-4391-8690-0058511DCF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5638800"/>
            <a:ext cx="4000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050" b="1">
                <a:solidFill>
                  <a:srgbClr val="16878A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050" b="1">
                <a:solidFill>
                  <a:srgbClr val="16878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16878A"/>
                </a:solidFill>
                <a:latin typeface="Helvetica Neue"/>
                <a:ea typeface="Helvetica Neue"/>
                <a:cs typeface="Helvetica Neue"/>
              </a:rPr>
              <a:t>05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451B37C6-33D1-4D98-941F-BA0333D065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5619750"/>
            <a:ext cx="4381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275" b="0">
                <a:solidFill>
                  <a:srgbClr val="233746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23374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233746"/>
                </a:solidFill>
                <a:latin typeface="Helvetica Neue"/>
                <a:ea typeface="Helvetica Neue"/>
                <a:cs typeface="Helvetica Neue"/>
              </a:rPr>
              <a:t>Correct department and contact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B976CF03-144C-4D03-ABB0-413C048924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5962650"/>
            <a:ext cx="4095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E7"/>
          </a:solidFill>
          <a:ln xmlns:a="http://schemas.openxmlformats.org/drawingml/2006/main" w="9525">
            <a:solidFill>
              <a:srgbClr val="D8E1E7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35051171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6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953FE3B1-FCE2-4D50-94D0-307F3157DD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28600"/>
            <a:ext cx="476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050" b="1">
                <a:solidFill>
                  <a:srgbClr val="16878A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050" b="1">
                <a:solidFill>
                  <a:srgbClr val="16878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16878A"/>
                </a:solidFill>
                <a:latin typeface="Helvetica Neue"/>
                <a:ea typeface="Helvetica Neue"/>
                <a:cs typeface="Helvetica Neue"/>
              </a:rPr>
              <a:t>ACTIVITY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FC671B9-7EB3-4399-8C78-3D8D5979D4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42925"/>
            <a:ext cx="1109662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850" b="1">
                <a:solidFill>
                  <a:srgbClr val="183449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2850" b="1">
                <a:solidFill>
                  <a:srgbClr val="183449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>
                <a:solidFill>
                  <a:srgbClr val="183449"/>
                </a:solidFill>
                <a:latin typeface="Helvetica Neue"/>
                <a:ea typeface="Helvetica Neue"/>
                <a:cs typeface="Helvetica Neue"/>
              </a:rPr>
              <a:t>The Student Support Hub as a digital product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26F5A2C-93F6-45DD-885E-1F892F9264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90625"/>
            <a:ext cx="110966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425" b="0">
                <a:solidFill>
                  <a:srgbClr val="61718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425" b="0">
                <a:solidFill>
                  <a:srgbClr val="61718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617180"/>
                </a:solidFill>
                <a:latin typeface="Helvetica Neue"/>
                <a:ea typeface="Helvetica Neue"/>
                <a:cs typeface="Helvetica Neue"/>
              </a:rPr>
              <a:t>Success depends on student outcomes and continuous ownership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2522437-241E-43E9-83A5-995E22E2D0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10325"/>
            <a:ext cx="11125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E7"/>
          </a:solidFill>
          <a:ln xmlns:a="http://schemas.openxmlformats.org/drawingml/2006/main" w="9525">
            <a:solidFill>
              <a:srgbClr val="D8E1E7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65F9CBB-C75F-43D1-856C-3A00B45E36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477000"/>
            <a:ext cx="47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900" b="0">
                <a:solidFill>
                  <a:srgbClr val="61718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900" b="0">
                <a:solidFill>
                  <a:srgbClr val="617180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617180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A42BF2D-E012-4FA7-90DA-52594C4ED0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809750"/>
            <a:ext cx="2190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350" b="1">
                <a:solidFill>
                  <a:srgbClr val="8E1537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350" b="1">
                <a:solidFill>
                  <a:srgbClr val="8E153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8E1537"/>
                </a:solidFill>
                <a:latin typeface="Helvetica Neue"/>
                <a:ea typeface="Helvetica Neue"/>
                <a:cs typeface="Helvetica Neue"/>
              </a:rPr>
              <a:t>PROJECT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7B19311-48D5-4AA0-A461-F16ED0825F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1809750"/>
            <a:ext cx="2190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350" b="1">
                <a:solidFill>
                  <a:srgbClr val="16878A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350" b="1">
                <a:solidFill>
                  <a:srgbClr val="16878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16878A"/>
                </a:solidFill>
                <a:latin typeface="Helvetica Neue"/>
                <a:ea typeface="Helvetica Neue"/>
                <a:cs typeface="Helvetica Neue"/>
              </a:rPr>
              <a:t>PRODUCT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56B80A4-4AE4-4D67-B82A-30FCD28671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333625"/>
            <a:ext cx="3143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500" b="0">
                <a:solidFill>
                  <a:srgbClr val="233746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23374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233746"/>
                </a:solidFill>
                <a:latin typeface="Helvetica Neue"/>
                <a:ea typeface="Helvetica Neue"/>
                <a:cs typeface="Helvetica Neue"/>
              </a:rPr>
              <a:t>Build an HTML portal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D663CB4-8C8B-4EDD-8508-6D0D6BFACD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771775"/>
            <a:ext cx="304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E7"/>
          </a:solidFill>
          <a:ln xmlns:a="http://schemas.openxmlformats.org/drawingml/2006/main" w="9525">
            <a:solidFill>
              <a:srgbClr val="D8E1E7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26CD981-AE9E-42AD-8BAC-A8A5A150AE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886075"/>
            <a:ext cx="3143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500" b="0">
                <a:solidFill>
                  <a:srgbClr val="233746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23374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233746"/>
                </a:solidFill>
                <a:latin typeface="Helvetica Neue"/>
                <a:ea typeface="Helvetica Neue"/>
                <a:cs typeface="Helvetica Neue"/>
              </a:rPr>
              <a:t>Deliver a fixed feature list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3C62CDF-682D-4FC5-974F-5D15D7ED8D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324225"/>
            <a:ext cx="304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E7"/>
          </a:solidFill>
          <a:ln xmlns:a="http://schemas.openxmlformats.org/drawingml/2006/main" w="9525">
            <a:solidFill>
              <a:srgbClr val="D8E1E7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4CFE268-EAA5-4D2F-AE0B-1D70C8F96B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438525"/>
            <a:ext cx="3143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500" b="0">
                <a:solidFill>
                  <a:srgbClr val="233746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23374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233746"/>
                </a:solidFill>
                <a:latin typeface="Helvetica Neue"/>
                <a:ea typeface="Helvetica Neue"/>
                <a:cs typeface="Helvetica Neue"/>
              </a:rPr>
              <a:t>Close after acceptance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7834121-A637-4144-93A0-6072030E5D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876675"/>
            <a:ext cx="304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E7"/>
          </a:solidFill>
          <a:ln xmlns:a="http://schemas.openxmlformats.org/drawingml/2006/main" w="9525">
            <a:solidFill>
              <a:srgbClr val="D8E1E7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A13E53E-3968-4C74-B05E-DB47D5B26E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990975"/>
            <a:ext cx="3143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500" b="0">
                <a:solidFill>
                  <a:srgbClr val="233746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23374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233746"/>
                </a:solidFill>
                <a:latin typeface="Helvetica Neue"/>
                <a:ea typeface="Helvetica Neue"/>
                <a:cs typeface="Helvetica Neue"/>
              </a:rPr>
              <a:t>Measure time and budget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BA6A70B-0324-41D2-9D35-11B6403BA2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429125"/>
            <a:ext cx="304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E7"/>
          </a:solidFill>
          <a:ln xmlns:a="http://schemas.openxmlformats.org/drawingml/2006/main" w="9525">
            <a:solidFill>
              <a:srgbClr val="D8E1E7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4A60032-730D-49C0-9B8A-B08294BB89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2333625"/>
            <a:ext cx="3143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500" b="0">
                <a:solidFill>
                  <a:srgbClr val="233746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23374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233746"/>
                </a:solidFill>
                <a:latin typeface="Helvetica Neue"/>
                <a:ea typeface="Helvetica Neue"/>
                <a:cs typeface="Helvetica Neue"/>
              </a:rPr>
              <a:t>Improve task completion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587B3EE-1CD7-4FA9-A8C0-5B738D1A65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2771775"/>
            <a:ext cx="304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E7"/>
          </a:solidFill>
          <a:ln xmlns:a="http://schemas.openxmlformats.org/drawingml/2006/main" w="9525">
            <a:solidFill>
              <a:srgbClr val="D8E1E7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2F280D1-C876-4E06-807C-AE3AA838F7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2886075"/>
            <a:ext cx="3143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500" b="0">
                <a:solidFill>
                  <a:srgbClr val="233746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23374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233746"/>
                </a:solidFill>
                <a:latin typeface="Helvetica Neue"/>
                <a:ea typeface="Helvetica Neue"/>
                <a:cs typeface="Helvetica Neue"/>
              </a:rPr>
              <a:t>Adapt the backlog with evidence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BC8A6AD-E077-44FA-BECB-2FC02BF65D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3324225"/>
            <a:ext cx="304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E7"/>
          </a:solidFill>
          <a:ln xmlns:a="http://schemas.openxmlformats.org/drawingml/2006/main" w="9525">
            <a:solidFill>
              <a:srgbClr val="D8E1E7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3196A04-0FF9-498E-94E3-C096FE4DA8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3438525"/>
            <a:ext cx="3143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500" b="0">
                <a:solidFill>
                  <a:srgbClr val="233746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23374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233746"/>
                </a:solidFill>
                <a:latin typeface="Helvetica Neue"/>
                <a:ea typeface="Helvetica Neue"/>
                <a:cs typeface="Helvetica Neue"/>
              </a:rPr>
              <a:t>Continue while the need exists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896DE39-22EA-4519-8778-EB79260965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3876675"/>
            <a:ext cx="304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E7"/>
          </a:solidFill>
          <a:ln xmlns:a="http://schemas.openxmlformats.org/drawingml/2006/main" w="9525">
            <a:solidFill>
              <a:srgbClr val="D8E1E7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48312F1-B18C-439E-8A90-6306BFE2A8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3990975"/>
            <a:ext cx="3143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500" b="0">
                <a:solidFill>
                  <a:srgbClr val="233746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23374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233746"/>
                </a:solidFill>
                <a:latin typeface="Helvetica Neue"/>
                <a:ea typeface="Helvetica Neue"/>
                <a:cs typeface="Helvetica Neue"/>
              </a:rPr>
              <a:t>Measure adoption and service outcomes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9CF201C-9189-472E-A127-4CF91297DA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4429125"/>
            <a:ext cx="304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E7"/>
          </a:solidFill>
          <a:ln xmlns:a="http://schemas.openxmlformats.org/drawingml/2006/main" w="9525">
            <a:solidFill>
              <a:srgbClr val="D8E1E7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22E51BE-A554-4BBA-862C-25E357C9D3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095500"/>
            <a:ext cx="4000500" cy="2619375"/>
          </a:xfrm>
          <a:prstGeom xmlns:a="http://schemas.openxmlformats.org/drawingml/2006/main" prst="roundRect">
            <a:avLst>
              <a:gd name="adj" fmla="val 2909"/>
            </a:avLst>
          </a:prstGeom>
          <a:solidFill xmlns:a="http://schemas.openxmlformats.org/drawingml/2006/main">
            <a:srgbClr val="EAF2F3"/>
          </a:solidFill>
          <a:ln xmlns:a="http://schemas.openxmlformats.org/drawingml/2006/main" w="9525">
            <a:solidFill>
              <a:srgbClr val="16878A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D055C36-5580-417F-A1D4-75C4EFC0CC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2324100"/>
            <a:ext cx="3524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125" b="1">
                <a:solidFill>
                  <a:srgbClr val="16878A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125" b="1">
                <a:solidFill>
                  <a:srgbClr val="16878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16878A"/>
                </a:solidFill>
                <a:latin typeface="Helvetica Neue"/>
                <a:ea typeface="Helvetica Neue"/>
                <a:cs typeface="Helvetica Neue"/>
              </a:rPr>
              <a:t>PRODUCT DEFINITION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B189074-FE0E-4750-94DE-66906D15D2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2800350"/>
            <a:ext cx="3333750" cy="1504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875" b="1">
                <a:solidFill>
                  <a:srgbClr val="183449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875" b="1">
                <a:solidFill>
                  <a:srgbClr val="18344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183449"/>
                </a:solidFill>
                <a:latin typeface="Helvetica Neue"/>
                <a:ea typeface="Helvetica Neue"/>
                <a:cs typeface="Helvetica Neue"/>
              </a:rPr>
              <a:t>A continuing VNUK service that helps students find the correct procedure, prepare a complete request and reach the responsible department.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EDDFA8A-A002-4CDE-B933-6B4CD81887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7625" y="5095875"/>
            <a:ext cx="1000125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16878A"/>
          </a:solidFill>
          <a:ln xmlns:a="http://schemas.openxmlformats.org/drawingml/2006/main" w="9525">
            <a:solidFill>
              <a:srgbClr val="16878A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894333B-1960-484D-94FD-A1B58C87C5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3825" y="5114925"/>
            <a:ext cx="8477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0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0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User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8551141-0CA6-47F9-9C79-B75761D05B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5476875"/>
            <a:ext cx="1524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125" b="0">
                <a:solidFill>
                  <a:srgbClr val="233746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23374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233746"/>
                </a:solidFill>
                <a:latin typeface="Helvetica Neue"/>
                <a:ea typeface="Helvetica Neue"/>
                <a:cs typeface="Helvetica Neue"/>
              </a:rPr>
              <a:t>IBM, BMS and CSE students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E50DA1A-66C6-4A61-AE29-44652713DF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5095875"/>
            <a:ext cx="1000125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16878A"/>
          </a:solidFill>
          <a:ln xmlns:a="http://schemas.openxmlformats.org/drawingml/2006/main" w="9525">
            <a:solidFill>
              <a:srgbClr val="16878A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FBE1606-6518-4238-9F18-AB6AE998C0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5114925"/>
            <a:ext cx="8477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0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0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Boundary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B6D7270-6BCA-4657-9E9D-E5366A539B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7375" y="5476875"/>
            <a:ext cx="1524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125" b="0">
                <a:solidFill>
                  <a:srgbClr val="233746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23374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233746"/>
                </a:solidFill>
                <a:latin typeface="Helvetica Neue"/>
                <a:ea typeface="Helvetica Neue"/>
                <a:cs typeface="Helvetica Neue"/>
              </a:rPr>
              <a:t>Guidance, routing and handoff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96D7BEA-2548-443E-962E-1050F4AB8A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5095875"/>
            <a:ext cx="1000125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35458B"/>
          </a:solidFill>
          <a:ln xmlns:a="http://schemas.openxmlformats.org/drawingml/2006/main" w="9525">
            <a:solidFill>
              <a:srgbClr val="35458B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5F0ABFFC-6697-49C8-B9F2-9A857C288A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9575" y="5114925"/>
            <a:ext cx="8477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0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0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Owner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E1885D38-AEE4-48F7-B21B-4E9E1771CF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5476875"/>
            <a:ext cx="1524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125" b="0">
                <a:solidFill>
                  <a:srgbClr val="233746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23374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233746"/>
                </a:solidFill>
                <a:latin typeface="Helvetica Neue"/>
                <a:ea typeface="Helvetica Neue"/>
                <a:cs typeface="Helvetica Neue"/>
              </a:rPr>
              <a:t>Administration with IT support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F2DB0FE5-5CF8-4458-8ED3-F737D81730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5095875"/>
            <a:ext cx="1000125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16878A"/>
          </a:solidFill>
          <a:ln xmlns:a="http://schemas.openxmlformats.org/drawingml/2006/main" w="9525">
            <a:solidFill>
              <a:srgbClr val="16878A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6B461119-E32E-49BA-A5BF-C52F6453B5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77450" y="5114925"/>
            <a:ext cx="8477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0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0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Success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74C8F8CA-1278-4AF1-8993-8727FE0052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63125" y="5476875"/>
            <a:ext cx="1524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125" b="0">
                <a:solidFill>
                  <a:srgbClr val="233746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23374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233746"/>
                </a:solidFill>
                <a:latin typeface="Helvetica Neue"/>
                <a:ea typeface="Helvetica Neue"/>
                <a:cs typeface="Helvetica Neue"/>
              </a:rPr>
              <a:t>Correct completion with less follow-up</a:t>
            </a:r>
          </a:p>
        </p:txBody>
      </p:sp>
    </p:spTree>
    <p:extLst>
      <p:ext uri="{BB962C8B-B14F-4D97-AF65-F5344CB8AC3E}">
        <p14:creationId xmlns:p14="http://schemas.microsoft.com/office/powerpoint/2010/main" val="94954809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6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710DD9E-053D-4977-8E7F-73A76BF8AF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28600"/>
            <a:ext cx="476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050" b="1">
                <a:solidFill>
                  <a:srgbClr val="16878A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050" b="1">
                <a:solidFill>
                  <a:srgbClr val="16878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16878A"/>
                </a:solidFill>
                <a:latin typeface="Helvetica Neue"/>
                <a:ea typeface="Helvetica Neue"/>
                <a:cs typeface="Helvetica Neue"/>
              </a:rPr>
              <a:t>ACTIVITY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4AE26EC-9C37-4DE3-9DC6-ED6FC3CB9C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42925"/>
            <a:ext cx="1109662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850" b="1">
                <a:solidFill>
                  <a:srgbClr val="183449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2850" b="1">
                <a:solidFill>
                  <a:srgbClr val="183449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>
                <a:solidFill>
                  <a:srgbClr val="183449"/>
                </a:solidFill>
                <a:latin typeface="Helvetica Neue"/>
                <a:ea typeface="Helvetica Neue"/>
                <a:cs typeface="Helvetica Neue"/>
              </a:rPr>
              <a:t>Product Goal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720473E-5BBC-4CA0-91BD-848EDFAADA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90625"/>
            <a:ext cx="110966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425" b="0">
                <a:solidFill>
                  <a:srgbClr val="61718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425" b="0">
                <a:solidFill>
                  <a:srgbClr val="61718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617180"/>
                </a:solidFill>
                <a:latin typeface="Helvetica Neue"/>
                <a:ea typeface="Helvetica Neue"/>
                <a:cs typeface="Helvetica Neue"/>
              </a:rPr>
              <a:t>A four-part goal connects the user need to measurable pilot evidence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9847006-3DFC-4FB4-9CFD-E0CAF44C76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10325"/>
            <a:ext cx="11125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E7"/>
          </a:solidFill>
          <a:ln xmlns:a="http://schemas.openxmlformats.org/drawingml/2006/main" w="9525">
            <a:solidFill>
              <a:srgbClr val="D8E1E7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38DEE83-D98E-4245-BFD5-6A668BBF0F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477000"/>
            <a:ext cx="47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900" b="0">
                <a:solidFill>
                  <a:srgbClr val="61718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900" b="0">
                <a:solidFill>
                  <a:srgbClr val="617180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617180"/>
                </a:solidFill>
                <a:latin typeface="Helvetica Neue"/>
                <a:ea typeface="Helvetica Neue"/>
                <a:cs typeface="Helvetica Neue"/>
              </a:rPr>
              <a:t>04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B903A40-5932-4B93-9C6C-4675E43577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857375"/>
            <a:ext cx="238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125" b="1">
                <a:solidFill>
                  <a:srgbClr val="16878A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125" b="1">
                <a:solidFill>
                  <a:srgbClr val="16878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16878A"/>
                </a:solidFill>
                <a:latin typeface="Helvetica Neue"/>
                <a:ea typeface="Helvetica Neue"/>
                <a:cs typeface="Helvetica Neue"/>
              </a:rPr>
              <a:t>FOR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730F5F0-4AB7-4C30-9EA8-992C2B173B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209800"/>
            <a:ext cx="23812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878A"/>
          </a:solidFill>
          <a:ln xmlns:a="http://schemas.openxmlformats.org/drawingml/2006/main" w="9525">
            <a:solidFill>
              <a:srgbClr val="16878A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E8A8E7D-0C70-4898-8578-22F531B859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409825"/>
            <a:ext cx="238125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650" b="1">
                <a:solidFill>
                  <a:srgbClr val="183449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650" b="1">
                <a:solidFill>
                  <a:srgbClr val="18344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183449"/>
                </a:solidFill>
                <a:latin typeface="Helvetica Neue"/>
                <a:ea typeface="Helvetica Neue"/>
                <a:cs typeface="Helvetica Neue"/>
              </a:rPr>
              <a:t>VNUK students</a:t>
            </a:r>
          </a:p>
          <a:p xmlns:a="http://schemas.openxmlformats.org/drawingml/2006/main">
            <a:pPr>
              <a:defRPr sz="1650" b="1">
                <a:solidFill>
                  <a:srgbClr val="18344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183449"/>
                </a:solidFill>
                <a:latin typeface="Helvetica Neue"/>
                <a:ea typeface="Helvetica Neue"/>
                <a:cs typeface="Helvetica Neue"/>
              </a:rPr>
              <a:t>across IBM, BMS and CSE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BDB51CF-3928-4031-9641-2DA836BC95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1857375"/>
            <a:ext cx="238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125" b="1">
                <a:solidFill>
                  <a:srgbClr val="35458B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125" b="1">
                <a:solidFill>
                  <a:srgbClr val="3545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35458B"/>
                </a:solidFill>
                <a:latin typeface="Helvetica Neue"/>
                <a:ea typeface="Helvetica Neue"/>
                <a:cs typeface="Helvetica Neue"/>
              </a:rPr>
              <a:t>IMPROVE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86451F5-CC6F-4E8A-A054-BA385B1413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2209800"/>
            <a:ext cx="23812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458B"/>
          </a:solidFill>
          <a:ln xmlns:a="http://schemas.openxmlformats.org/drawingml/2006/main" w="9525">
            <a:solidFill>
              <a:srgbClr val="35458B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E0A859D-A61B-47D7-A572-6948A0D5E5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2409825"/>
            <a:ext cx="238125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650" b="1">
                <a:solidFill>
                  <a:srgbClr val="183449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650" b="1">
                <a:solidFill>
                  <a:srgbClr val="18344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183449"/>
                </a:solidFill>
                <a:latin typeface="Helvetica Neue"/>
                <a:ea typeface="Helvetica Neue"/>
                <a:cs typeface="Helvetica Neue"/>
              </a:rPr>
              <a:t>Access to correct procedures</a:t>
            </a:r>
          </a:p>
          <a:p xmlns:a="http://schemas.openxmlformats.org/drawingml/2006/main">
            <a:pPr>
              <a:defRPr sz="1650" b="1">
                <a:solidFill>
                  <a:srgbClr val="18344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183449"/>
                </a:solidFill>
                <a:latin typeface="Helvetica Neue"/>
                <a:ea typeface="Helvetica Neue"/>
                <a:cs typeface="Helvetica Neue"/>
              </a:rPr>
              <a:t>and responsible contacts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76322DC-9DC9-414F-A50C-DAB574EE03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857375"/>
            <a:ext cx="238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125" b="1">
                <a:solidFill>
                  <a:srgbClr val="C37A25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125" b="1">
                <a:solidFill>
                  <a:srgbClr val="C37A2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C37A25"/>
                </a:solidFill>
                <a:latin typeface="Helvetica Neue"/>
                <a:ea typeface="Helvetica Neue"/>
                <a:cs typeface="Helvetica Neue"/>
              </a:rPr>
              <a:t>BY ENABLING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8A13120-1EA4-4728-AF9B-FF0F6ADAB7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209800"/>
            <a:ext cx="23812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37A25"/>
          </a:solidFill>
          <a:ln xmlns:a="http://schemas.openxmlformats.org/drawingml/2006/main" w="9525">
            <a:solidFill>
              <a:srgbClr val="C37A25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0F2C865-DFA0-4DFF-9DB8-EB7FF1D84E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409825"/>
            <a:ext cx="238125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650" b="1">
                <a:solidFill>
                  <a:srgbClr val="183449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650" b="1">
                <a:solidFill>
                  <a:srgbClr val="18344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183449"/>
                </a:solidFill>
                <a:latin typeface="Helvetica Neue"/>
                <a:ea typeface="Helvetica Neue"/>
                <a:cs typeface="Helvetica Neue"/>
              </a:rPr>
              <a:t>Central guidance, checklists</a:t>
            </a:r>
          </a:p>
          <a:p xmlns:a="http://schemas.openxmlformats.org/drawingml/2006/main">
            <a:pPr>
              <a:defRPr sz="1650" b="1">
                <a:solidFill>
                  <a:srgbClr val="18344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183449"/>
                </a:solidFill>
                <a:latin typeface="Helvetica Neue"/>
                <a:ea typeface="Helvetica Neue"/>
                <a:cs typeface="Helvetica Neue"/>
              </a:rPr>
              <a:t>and structured handoff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3B03736-FB2C-4B24-8585-CF78E3C074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1857375"/>
            <a:ext cx="238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125" b="1">
                <a:solidFill>
                  <a:srgbClr val="8E1537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125" b="1">
                <a:solidFill>
                  <a:srgbClr val="8E153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8E1537"/>
                </a:solidFill>
                <a:latin typeface="Helvetica Neue"/>
                <a:ea typeface="Helvetica Neue"/>
                <a:cs typeface="Helvetica Neue"/>
              </a:rPr>
              <a:t>DURING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8C6890C-E415-410F-979A-B5CCE62DA1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2209800"/>
            <a:ext cx="23812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E1537"/>
          </a:solidFill>
          <a:ln xmlns:a="http://schemas.openxmlformats.org/drawingml/2006/main" w="9525">
            <a:solidFill>
              <a:srgbClr val="8E1537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7A4D88F-4A7D-4AAA-8307-571761EEB9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2409825"/>
            <a:ext cx="238125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650" b="1">
                <a:solidFill>
                  <a:srgbClr val="183449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650" b="1">
                <a:solidFill>
                  <a:srgbClr val="18344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183449"/>
                </a:solidFill>
                <a:latin typeface="Helvetica Neue"/>
                <a:ea typeface="Helvetica Neue"/>
                <a:cs typeface="Helvetica Neue"/>
              </a:rPr>
              <a:t>A three-month pilot</a:t>
            </a:r>
          </a:p>
          <a:p xmlns:a="http://schemas.openxmlformats.org/drawingml/2006/main">
            <a:pPr>
              <a:defRPr sz="1650" b="1">
                <a:solidFill>
                  <a:srgbClr val="18344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183449"/>
                </a:solidFill>
                <a:latin typeface="Helvetica Neue"/>
                <a:ea typeface="Helvetica Neue"/>
                <a:cs typeface="Helvetica Neue"/>
              </a:rPr>
              <a:t>with 30 students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350A829-C851-4EC3-A418-51FE98FA9A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67125"/>
            <a:ext cx="11125200" cy="981075"/>
          </a:xfrm>
          <a:prstGeom xmlns:a="http://schemas.openxmlformats.org/drawingml/2006/main" prst="roundRect">
            <a:avLst>
              <a:gd name="adj" fmla="val 77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7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6BD0458-6D12-4CD7-B5FE-42FA5B5C04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829050"/>
            <a:ext cx="1619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125" b="1">
                <a:solidFill>
                  <a:srgbClr val="16878A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125" b="1">
                <a:solidFill>
                  <a:srgbClr val="16878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16878A"/>
                </a:solidFill>
                <a:latin typeface="Helvetica Neue"/>
                <a:ea typeface="Helvetica Neue"/>
                <a:cs typeface="Helvetica Neue"/>
              </a:rPr>
              <a:t>Product Goal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6CB06FF-DA5C-4848-BD14-049086082F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095750"/>
            <a:ext cx="105727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800" b="1">
                <a:solidFill>
                  <a:srgbClr val="183449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800" b="1">
                <a:solidFill>
                  <a:srgbClr val="18344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183449"/>
                </a:solidFill>
                <a:latin typeface="Helvetica Neue"/>
                <a:ea typeface="Helvetica Neue"/>
                <a:cs typeface="Helvetica Neue"/>
              </a:rPr>
              <a:t>Improve students’ ability to identify the correct procedure and complete the next action, while reducing avoidable follow-up and keeping staff effort sustainable.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567870F-A31B-4049-9E17-8EE19C3FA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029200"/>
            <a:ext cx="19526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625" b="1">
                <a:solidFill>
                  <a:srgbClr val="16878A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2625" b="1">
                <a:solidFill>
                  <a:srgbClr val="16878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625" b="1">
                <a:solidFill>
                  <a:srgbClr val="16878A"/>
                </a:solidFill>
                <a:latin typeface="Helvetica Neue"/>
                <a:ea typeface="Helvetica Neue"/>
                <a:cs typeface="Helvetica Neue"/>
              </a:rPr>
              <a:t>≥95%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FB36466-2789-4859-AFE0-B9438C56CF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534025"/>
            <a:ext cx="19526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125" b="0">
                <a:solidFill>
                  <a:srgbClr val="61718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61718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617180"/>
                </a:solidFill>
                <a:latin typeface="Helvetica Neue"/>
                <a:ea typeface="Helvetica Neue"/>
                <a:cs typeface="Helvetica Neue"/>
              </a:rPr>
              <a:t>correct guidance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D488840-D633-4BF5-8F7B-DE852C57EB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5029200"/>
            <a:ext cx="19526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625" b="1">
                <a:solidFill>
                  <a:srgbClr val="8E1537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2625" b="1">
                <a:solidFill>
                  <a:srgbClr val="8E1537"/>
                </a:solidFill>
                <a:latin typeface="Helvetica Neue"/>
                <a:ea typeface="Helvetica Neue"/>
                <a:cs typeface="Helvetica Neue"/>
              </a:defRPr>
            </a:pPr>
            <a:r>
              <a:rPr sz="2625" b="1">
                <a:solidFill>
                  <a:srgbClr val="8E1537"/>
                </a:solidFill>
                <a:latin typeface="Helvetica Neue"/>
                <a:ea typeface="Helvetica Neue"/>
                <a:cs typeface="Helvetica Neue"/>
              </a:rPr>
              <a:t>0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D0B9E0D-B2FD-405D-BDC9-574C81E096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5534025"/>
            <a:ext cx="19526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125" b="0">
                <a:solidFill>
                  <a:srgbClr val="61718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61718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617180"/>
                </a:solidFill>
                <a:latin typeface="Helvetica Neue"/>
                <a:ea typeface="Helvetica Neue"/>
                <a:cs typeface="Helvetica Neue"/>
              </a:rPr>
              <a:t>critical wrong decisions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2B41905-BB4B-45D8-A97C-9BF185A810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5029200"/>
            <a:ext cx="19526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625" b="1">
                <a:solidFill>
                  <a:srgbClr val="35458B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2625" b="1">
                <a:solidFill>
                  <a:srgbClr val="3545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2625" b="1">
                <a:solidFill>
                  <a:srgbClr val="35458B"/>
                </a:solidFill>
                <a:latin typeface="Helvetica Neue"/>
                <a:ea typeface="Helvetica Neue"/>
                <a:cs typeface="Helvetica Neue"/>
              </a:rPr>
              <a:t>≥80%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7ABC761-A886-4B26-944A-9535D57BE7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5534025"/>
            <a:ext cx="19526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125" b="0">
                <a:solidFill>
                  <a:srgbClr val="61718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61718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617180"/>
                </a:solidFill>
                <a:latin typeface="Helvetica Neue"/>
                <a:ea typeface="Helvetica Neue"/>
                <a:cs typeface="Helvetica Neue"/>
              </a:rPr>
              <a:t>correct routing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AD1A9CB-2D29-4527-8FBF-C390CEF4AD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5029200"/>
            <a:ext cx="19526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625" b="1">
                <a:solidFill>
                  <a:srgbClr val="C37A25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2625" b="1">
                <a:solidFill>
                  <a:srgbClr val="C37A25"/>
                </a:solidFill>
                <a:latin typeface="Helvetica Neue"/>
                <a:ea typeface="Helvetica Neue"/>
                <a:cs typeface="Helvetica Neue"/>
              </a:defRPr>
            </a:pPr>
            <a:r>
              <a:rPr sz="2625" b="1">
                <a:solidFill>
                  <a:srgbClr val="C37A25"/>
                </a:solidFill>
                <a:latin typeface="Helvetica Neue"/>
                <a:ea typeface="Helvetica Neue"/>
                <a:cs typeface="Helvetica Neue"/>
              </a:rPr>
              <a:t>-20%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E5770E8-26C4-4229-96AC-A8AB1B83C4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5534025"/>
            <a:ext cx="19526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125" b="0">
                <a:solidFill>
                  <a:srgbClr val="61718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61718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617180"/>
                </a:solidFill>
                <a:latin typeface="Helvetica Neue"/>
                <a:ea typeface="Helvetica Neue"/>
                <a:cs typeface="Helvetica Neue"/>
              </a:rPr>
              <a:t>repeat contacts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C5DCCE8-B0C6-4F2E-8DBC-30FCF2FADC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5029200"/>
            <a:ext cx="19526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625" b="1">
                <a:solidFill>
                  <a:srgbClr val="569C81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2625" b="1">
                <a:solidFill>
                  <a:srgbClr val="569C81"/>
                </a:solidFill>
                <a:latin typeface="Helvetica Neue"/>
                <a:ea typeface="Helvetica Neue"/>
                <a:cs typeface="Helvetica Neue"/>
              </a:defRPr>
            </a:pPr>
            <a:r>
              <a:rPr sz="2625" b="1">
                <a:solidFill>
                  <a:srgbClr val="569C81"/>
                </a:solidFill>
                <a:latin typeface="Helvetica Neue"/>
                <a:ea typeface="Helvetica Neue"/>
                <a:cs typeface="Helvetica Neue"/>
              </a:rPr>
              <a:t>100%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D0B5D00-3BAC-460D-BC2E-2DE384FC3A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5534025"/>
            <a:ext cx="19526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125" b="0">
                <a:solidFill>
                  <a:srgbClr val="61718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61718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617180"/>
                </a:solidFill>
                <a:latin typeface="Helvetica Neue"/>
                <a:ea typeface="Helvetica Neue"/>
                <a:cs typeface="Helvetica Neue"/>
              </a:rPr>
              <a:t>content with owner and review date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243CBD7-7806-48EB-8903-DAA54C5E27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096000"/>
            <a:ext cx="102393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975" b="0">
                <a:solidFill>
                  <a:srgbClr val="61718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975" b="0">
                <a:solidFill>
                  <a:srgbClr val="617180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617180"/>
                </a:solidFill>
                <a:latin typeface="Helvetica Neue"/>
                <a:ea typeface="Helvetica Neue"/>
                <a:cs typeface="Helvetica Neue"/>
              </a:rPr>
              <a:t>Targets require institutional agreement. Current repeat-contact and routing baselines remain to be measured.</a:t>
            </a:r>
          </a:p>
        </p:txBody>
      </p:sp>
    </p:spTree>
    <p:extLst>
      <p:ext uri="{BB962C8B-B14F-4D97-AF65-F5344CB8AC3E}">
        <p14:creationId xmlns:p14="http://schemas.microsoft.com/office/powerpoint/2010/main" val="935128909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6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ED7C8C1-EFEC-482B-BD80-25FF8A0475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28600"/>
            <a:ext cx="476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050" b="1">
                <a:solidFill>
                  <a:srgbClr val="16878A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050" b="1">
                <a:solidFill>
                  <a:srgbClr val="16878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16878A"/>
                </a:solidFill>
                <a:latin typeface="Helvetica Neue"/>
                <a:ea typeface="Helvetica Neue"/>
                <a:cs typeface="Helvetica Neue"/>
              </a:rPr>
              <a:t>ACTIVITY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75A4898-0001-4A69-BE72-565D5F6625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42925"/>
            <a:ext cx="1109662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850" b="1">
                <a:solidFill>
                  <a:srgbClr val="183449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2850" b="1">
                <a:solidFill>
                  <a:srgbClr val="183449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>
                <a:solidFill>
                  <a:srgbClr val="183449"/>
                </a:solidFill>
                <a:latin typeface="Helvetica Neue"/>
                <a:ea typeface="Helvetica Neue"/>
                <a:cs typeface="Helvetica Neue"/>
              </a:rPr>
              <a:t>MVP scope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6C7189F-F6BF-44B0-A6B9-9B22AC0C18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90625"/>
            <a:ext cx="110966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425" b="0">
                <a:solidFill>
                  <a:srgbClr val="61718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425" b="0">
                <a:solidFill>
                  <a:srgbClr val="61718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617180"/>
                </a:solidFill>
                <a:latin typeface="Helvetica Neue"/>
                <a:ea typeface="Helvetica Neue"/>
                <a:cs typeface="Helvetica Neue"/>
              </a:rPr>
              <a:t>The first test focuses on guidance and routing, with no live record changes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9AD243E-E561-4EBE-8671-1C0C7E7C8F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10325"/>
            <a:ext cx="11125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E7"/>
          </a:solidFill>
          <a:ln xmlns:a="http://schemas.openxmlformats.org/drawingml/2006/main" w="9525">
            <a:solidFill>
              <a:srgbClr val="D8E1E7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7DC54E7-DE5A-4F06-9257-EBFF0F8519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477000"/>
            <a:ext cx="47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900" b="0">
                <a:solidFill>
                  <a:srgbClr val="61718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900" b="0">
                <a:solidFill>
                  <a:srgbClr val="617180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617180"/>
                </a:solidFill>
                <a:latin typeface="Helvetica Neue"/>
                <a:ea typeface="Helvetica Neue"/>
                <a:cs typeface="Helvetica Neue"/>
              </a:rPr>
              <a:t>05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79BC15E-666B-4344-838F-890F66EFBF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71450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050" b="1">
                <a:solidFill>
                  <a:srgbClr val="8E1537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050" b="1">
                <a:solidFill>
                  <a:srgbClr val="8E153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8E1537"/>
                </a:solidFill>
                <a:latin typeface="Helvetica Neue"/>
                <a:ea typeface="Helvetica Neue"/>
                <a:cs typeface="Helvetica Neue"/>
              </a:rPr>
              <a:t>RISKIEST ASSUMPTION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E09DD86-F766-4042-A997-12AB563CC8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057400"/>
            <a:ext cx="11049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025" b="1">
                <a:solidFill>
                  <a:srgbClr val="183449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2025" b="1">
                <a:solidFill>
                  <a:srgbClr val="183449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183449"/>
                </a:solidFill>
                <a:latin typeface="Helvetica Neue"/>
                <a:ea typeface="Helvetica Neue"/>
                <a:cs typeface="Helvetica Neue"/>
              </a:rPr>
              <a:t>VNUK can turn dispersed email knowledge into approved guidance that staff can maintain.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855A74A-8665-474E-AFC9-B09FA8DDBE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857500"/>
            <a:ext cx="180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975" b="1">
                <a:solidFill>
                  <a:srgbClr val="16878A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975" b="1">
                <a:solidFill>
                  <a:srgbClr val="16878A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16878A"/>
                </a:solidFill>
                <a:latin typeface="Helvetica Neue"/>
                <a:ea typeface="Helvetica Neue"/>
                <a:cs typeface="Helvetica Neue"/>
              </a:rPr>
              <a:t>TARGET USERS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2F42DE0-846A-4EC6-B60C-891E345C69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114675"/>
            <a:ext cx="5048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350" b="0">
                <a:solidFill>
                  <a:srgbClr val="233746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23374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233746"/>
                </a:solidFill>
                <a:latin typeface="Helvetica Neue"/>
                <a:ea typeface="Helvetica Neue"/>
                <a:cs typeface="Helvetica Neue"/>
              </a:rPr>
              <a:t>10 CSE, 10 IBM and 10 BMS students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AAEFB43-08D6-43C1-A9FE-6CB6F69B52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724275"/>
            <a:ext cx="5048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E7"/>
          </a:solidFill>
          <a:ln xmlns:a="http://schemas.openxmlformats.org/drawingml/2006/main" w="9525">
            <a:solidFill>
              <a:srgbClr val="D8E1E7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D1F39B7-D7E2-4954-A56D-A3DD46E921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857500"/>
            <a:ext cx="180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975" b="1">
                <a:solidFill>
                  <a:srgbClr val="35458B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975" b="1">
                <a:solidFill>
                  <a:srgbClr val="3545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35458B"/>
                </a:solidFill>
                <a:latin typeface="Helvetica Neue"/>
                <a:ea typeface="Helvetica Neue"/>
                <a:cs typeface="Helvetica Neue"/>
              </a:rPr>
              <a:t>JOURNEY SLICE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54F17FC-D9A0-4876-B142-631B18FE39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114675"/>
            <a:ext cx="5048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350" b="0">
                <a:solidFill>
                  <a:srgbClr val="233746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23374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233746"/>
                </a:solidFill>
                <a:latin typeface="Helvetica Neue"/>
                <a:ea typeface="Helvetica Neue"/>
                <a:cs typeface="Helvetica Neue"/>
              </a:rPr>
              <a:t>Select request, see procedure, prepare request, reach the right unit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0E4C016-2613-4A39-92B7-6C645C5354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724275"/>
            <a:ext cx="5048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E7"/>
          </a:solidFill>
          <a:ln xmlns:a="http://schemas.openxmlformats.org/drawingml/2006/main" w="9525">
            <a:solidFill>
              <a:srgbClr val="D8E1E7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47B2C06-E61D-488B-8D79-C0149EFA81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829050"/>
            <a:ext cx="180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975" b="1">
                <a:solidFill>
                  <a:srgbClr val="C37A25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975" b="1">
                <a:solidFill>
                  <a:srgbClr val="C37A25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C37A25"/>
                </a:solidFill>
                <a:latin typeface="Helvetica Neue"/>
                <a:ea typeface="Helvetica Neue"/>
                <a:cs typeface="Helvetica Neue"/>
              </a:rPr>
              <a:t>MVP PATTERN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5C51249-2955-4E40-96D1-8379A179B0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086225"/>
            <a:ext cx="5048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350" b="0">
                <a:solidFill>
                  <a:srgbClr val="233746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23374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233746"/>
                </a:solidFill>
                <a:latin typeface="Helvetica Neue"/>
                <a:ea typeface="Helvetica Neue"/>
                <a:cs typeface="Helvetica Neue"/>
              </a:rPr>
              <a:t>HTML Wizard of Oz plus a process pilot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CF4A998-198A-4CA6-8616-C20A297D0C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695825"/>
            <a:ext cx="5048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E7"/>
          </a:solidFill>
          <a:ln xmlns:a="http://schemas.openxmlformats.org/drawingml/2006/main" w="9525">
            <a:solidFill>
              <a:srgbClr val="D8E1E7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107D7B2-3AAA-4936-94A8-40E4CC9F1E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829050"/>
            <a:ext cx="180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975" b="1">
                <a:solidFill>
                  <a:srgbClr val="569C81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975" b="1">
                <a:solidFill>
                  <a:srgbClr val="569C81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569C81"/>
                </a:solidFill>
                <a:latin typeface="Helvetica Neue"/>
                <a:ea typeface="Helvetica Neue"/>
                <a:cs typeface="Helvetica Neue"/>
              </a:rPr>
              <a:t>MINIMUM SCOPE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12A34EC-A55E-4D3E-BA78-F142D6D9D5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086225"/>
            <a:ext cx="5048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350" b="0">
                <a:solidFill>
                  <a:srgbClr val="233746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23374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233746"/>
                </a:solidFill>
                <a:latin typeface="Helvetica Neue"/>
                <a:ea typeface="Helvetica Neue"/>
                <a:cs typeface="Helvetica Neue"/>
              </a:rPr>
              <a:t>Request categories, checklists, contacts, escalation and basic analytics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5A44BF8-CA2A-4CF5-BA43-6A719781AD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695825"/>
            <a:ext cx="5048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E7"/>
          </a:solidFill>
          <a:ln xmlns:a="http://schemas.openxmlformats.org/drawingml/2006/main" w="9525">
            <a:solidFill>
              <a:srgbClr val="D8E1E7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6E93FFB-9439-4CCC-97E2-1D2E7DACCA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800600"/>
            <a:ext cx="180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975" b="1">
                <a:solidFill>
                  <a:srgbClr val="8E1537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975" b="1">
                <a:solidFill>
                  <a:srgbClr val="8E1537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8E1537"/>
                </a:solidFill>
                <a:latin typeface="Helvetica Neue"/>
                <a:ea typeface="Helvetica Neue"/>
                <a:cs typeface="Helvetica Neue"/>
              </a:rPr>
              <a:t>EVIDENCE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586DBD3-09A4-403C-9D1A-B5762675B9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057775"/>
            <a:ext cx="5048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350" b="0">
                <a:solidFill>
                  <a:srgbClr val="233746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23374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233746"/>
                </a:solidFill>
                <a:latin typeface="Helvetica Neue"/>
                <a:ea typeface="Helvetica Neue"/>
                <a:cs typeface="Helvetica Neue"/>
              </a:rPr>
              <a:t>Accuracy, routing, follow-up, task completion and staff effort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9467B2C-6594-4814-AE19-12F66DB432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667375"/>
            <a:ext cx="5048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E7"/>
          </a:solidFill>
          <a:ln xmlns:a="http://schemas.openxmlformats.org/drawingml/2006/main" w="9525">
            <a:solidFill>
              <a:srgbClr val="D8E1E7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1416AFC-B350-49D1-A064-F8C96D3CED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800600"/>
            <a:ext cx="180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975" b="1">
                <a:solidFill>
                  <a:srgbClr val="61718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975" b="1">
                <a:solidFill>
                  <a:srgbClr val="617180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617180"/>
                </a:solidFill>
                <a:latin typeface="Helvetica Neue"/>
                <a:ea typeface="Helvetica Neue"/>
                <a:cs typeface="Helvetica Neue"/>
              </a:rPr>
              <a:t>EXCLUSIONS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D88A0C1-4582-4D64-BB2A-10CF3C8533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5057775"/>
            <a:ext cx="5048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350" b="0">
                <a:solidFill>
                  <a:srgbClr val="233746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23374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233746"/>
                </a:solidFill>
                <a:latin typeface="Helvetica Neue"/>
                <a:ea typeface="Helvetica Neue"/>
                <a:cs typeface="Helvetica Neue"/>
              </a:rPr>
              <a:t>Live EMS changes, grades, tuition calculation and automated eligibility decisions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DA3A79C-0D54-4B63-A675-3085A9358F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5667375"/>
            <a:ext cx="5048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E7"/>
          </a:solidFill>
          <a:ln xmlns:a="http://schemas.openxmlformats.org/drawingml/2006/main" w="9525">
            <a:solidFill>
              <a:srgbClr val="D8E1E7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29385063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6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029C866-8972-4087-87DF-9D9C3E25B5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28600"/>
            <a:ext cx="476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050" b="1">
                <a:solidFill>
                  <a:srgbClr val="16878A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050" b="1">
                <a:solidFill>
                  <a:srgbClr val="16878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16878A"/>
                </a:solidFill>
                <a:latin typeface="Helvetica Neue"/>
                <a:ea typeface="Helvetica Neue"/>
                <a:cs typeface="Helvetica Neue"/>
              </a:rPr>
              <a:t>ACTIVITY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D46FF81-F57D-455F-8C3B-8FC998AA41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42925"/>
            <a:ext cx="1109662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850" b="1">
                <a:solidFill>
                  <a:srgbClr val="183449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2850" b="1">
                <a:solidFill>
                  <a:srgbClr val="183449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>
                <a:solidFill>
                  <a:srgbClr val="183449"/>
                </a:solidFill>
                <a:latin typeface="Helvetica Neue"/>
                <a:ea typeface="Helvetica Neue"/>
                <a:cs typeface="Helvetica Neue"/>
              </a:rPr>
              <a:t>MVP evidence plan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F24BCF9-FB4A-4821-90CB-3B12D8A099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90625"/>
            <a:ext cx="110966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425" b="0">
                <a:solidFill>
                  <a:srgbClr val="61718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425" b="0">
                <a:solidFill>
                  <a:srgbClr val="61718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617180"/>
                </a:solidFill>
                <a:latin typeface="Helvetica Neue"/>
                <a:ea typeface="Helvetica Neue"/>
                <a:cs typeface="Helvetica Neue"/>
              </a:rPr>
              <a:t>The pilot combines a balanced student sample with three decision gates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D6BEAE6-A251-4C30-8263-6356B4CCB8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10325"/>
            <a:ext cx="11125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E7"/>
          </a:solidFill>
          <a:ln xmlns:a="http://schemas.openxmlformats.org/drawingml/2006/main" w="9525">
            <a:solidFill>
              <a:srgbClr val="D8E1E7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C648CBB-1A86-4B97-97BC-C248520D79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477000"/>
            <a:ext cx="47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900" b="0">
                <a:solidFill>
                  <a:srgbClr val="61718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900" b="0">
                <a:solidFill>
                  <a:srgbClr val="617180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617180"/>
                </a:solidFill>
                <a:latin typeface="Helvetica Neue"/>
                <a:ea typeface="Helvetica Neue"/>
                <a:cs typeface="Helvetica Neue"/>
              </a:rPr>
              <a:t>06</a:t>
            </a:r>
          </a:p>
        </p:txBody>
      </p:sp>
      <p:graphicFrame>
        <p:nvGraphicFramePr>
          <p:cNvPr id="6" name="Chart">
            <a:extLst xmlns:a="http://schemas.openxmlformats.org/drawingml/2006/main">
              <a:ext uri="{FF2B5EF4-FFF2-40B4-BE49-F238E27FC236}">
                <a16:creationId xmlns:a16="http://schemas.microsoft.com/office/drawing/2014/main" id="{CEE2C421-9F58-485E-A24B-911DCBB5D605}"/>
              </a:ext>
            </a:extLst>
          </p:cNvPr>
          <p:cNvGraphicFramePr/>
          <p:nvPr/>
        </p:nvGraphicFramePr>
        <p:xfrm>
          <a:off xmlns:a="http://schemas.openxmlformats.org/drawingml/2006/main" x="476250" y="1714500"/>
          <a:ext xmlns:a="http://schemas.openxmlformats.org/drawingml/2006/main" cx="3714750" cy="347662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d5bb68a8fc9a45c8"/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367BFC6-826E-4B42-87C5-9C896A0F3E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5067300"/>
            <a:ext cx="2190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950" b="1">
                <a:solidFill>
                  <a:srgbClr val="183449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950" b="1">
                <a:solidFill>
                  <a:srgbClr val="18344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183449"/>
                </a:solidFill>
                <a:latin typeface="Helvetica Neue"/>
                <a:ea typeface="Helvetica Neue"/>
                <a:cs typeface="Helvetica Neue"/>
              </a:rPr>
              <a:t>30 students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C166D86-557B-448A-B69E-6B662E9AE2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952625"/>
            <a:ext cx="6477000" cy="1009650"/>
          </a:xfrm>
          <a:prstGeom xmlns:a="http://schemas.openxmlformats.org/drawingml/2006/main" prst="roundRect">
            <a:avLst>
              <a:gd name="adj" fmla="val 754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569C81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E12C4D0-B27D-4846-82B3-1B38CCEB2A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1125" y="2143125"/>
            <a:ext cx="1381125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569C81"/>
          </a:solidFill>
          <a:ln xmlns:a="http://schemas.openxmlformats.org/drawingml/2006/main" w="9525">
            <a:solidFill>
              <a:srgbClr val="569C81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153E567-0649-4CC6-8552-75517A4DE1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67325" y="2162175"/>
            <a:ext cx="12287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0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0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CONTINUE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30F783E-B850-4545-A8D8-93D7CA4843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124075"/>
            <a:ext cx="4286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575" b="1">
                <a:solidFill>
                  <a:srgbClr val="183449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575" b="1">
                <a:solidFill>
                  <a:srgbClr val="18344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183449"/>
                </a:solidFill>
                <a:latin typeface="Helvetica Neue"/>
                <a:ea typeface="Helvetica Neue"/>
                <a:cs typeface="Helvetica Neue"/>
              </a:rPr>
              <a:t>Targets met and staff can maintain the service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9050C02-7CF0-4C78-852E-C04E3E6274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3209925"/>
            <a:ext cx="6477000" cy="1009650"/>
          </a:xfrm>
          <a:prstGeom xmlns:a="http://schemas.openxmlformats.org/drawingml/2006/main" prst="roundRect">
            <a:avLst>
              <a:gd name="adj" fmla="val 754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37A25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4C57964-413D-4D39-8FC4-49AC46E702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1125" y="3400425"/>
            <a:ext cx="1381125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C37A25"/>
          </a:solidFill>
          <a:ln xmlns:a="http://schemas.openxmlformats.org/drawingml/2006/main" w="9525">
            <a:solidFill>
              <a:srgbClr val="C37A25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1EDA89B-ECF1-4329-9C3C-ECC0A6FE86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67325" y="3419475"/>
            <a:ext cx="12287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0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0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ADAPT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E5FDABB-162F-4FFF-91B3-DD1BB2ED1B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381375"/>
            <a:ext cx="4286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575" b="1">
                <a:solidFill>
                  <a:srgbClr val="183449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575" b="1">
                <a:solidFill>
                  <a:srgbClr val="18344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183449"/>
                </a:solidFill>
                <a:latin typeface="Helvetica Neue"/>
                <a:ea typeface="Helvetica Neue"/>
                <a:cs typeface="Helvetica Neue"/>
              </a:rPr>
              <a:t>Value appears, but workflow or quality needs work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3141406-28D5-4BD7-874A-279235CB30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4467225"/>
            <a:ext cx="6477000" cy="1009650"/>
          </a:xfrm>
          <a:prstGeom xmlns:a="http://schemas.openxmlformats.org/drawingml/2006/main" prst="roundRect">
            <a:avLst>
              <a:gd name="adj" fmla="val 754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8E1537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35DC875-434A-441C-B8B2-EFA667E301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1125" y="4657725"/>
            <a:ext cx="1381125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8E1537"/>
          </a:solidFill>
          <a:ln xmlns:a="http://schemas.openxmlformats.org/drawingml/2006/main" w="9525">
            <a:solidFill>
              <a:srgbClr val="8E1537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97F3AF3-32AA-4217-8F87-7528733C27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67325" y="4676775"/>
            <a:ext cx="12287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0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0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STOP AI LAYER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6A013F5-D5FB-4900-B23D-AACE572064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638675"/>
            <a:ext cx="4286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575" b="1">
                <a:solidFill>
                  <a:srgbClr val="183449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575" b="1">
                <a:solidFill>
                  <a:srgbClr val="18344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183449"/>
                </a:solidFill>
                <a:latin typeface="Helvetica Neue"/>
                <a:ea typeface="Helvetica Neue"/>
                <a:cs typeface="Helvetica Neue"/>
              </a:rPr>
              <a:t>A simpler hub performs as well with less risk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1CA3A71-BD56-4495-8032-DAF372BE38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5810250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350" b="1">
                <a:solidFill>
                  <a:srgbClr val="16878A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350" b="1">
                <a:solidFill>
                  <a:srgbClr val="16878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16878A"/>
                </a:solidFill>
                <a:latin typeface="Helvetica Neue"/>
                <a:ea typeface="Helvetica Neue"/>
                <a:cs typeface="Helvetica Neue"/>
              </a:rPr>
              <a:t>Three-month pilot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70D341B-73B4-42A5-83A2-7962539A0A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5943600"/>
            <a:ext cx="43815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878A"/>
          </a:solidFill>
          <a:ln xmlns:a="http://schemas.openxmlformats.org/drawingml/2006/main" w="9525">
            <a:solidFill>
              <a:srgbClr val="16878A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2B5C76A-C349-4D29-A396-6A2A46F5DB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6115050"/>
            <a:ext cx="6000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050" b="0">
                <a:solidFill>
                  <a:srgbClr val="61718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050" b="0">
                <a:solidFill>
                  <a:srgbClr val="61718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617180"/>
                </a:solidFill>
                <a:latin typeface="Helvetica Neue"/>
                <a:ea typeface="Helvetica Neue"/>
                <a:cs typeface="Helvetica Neue"/>
              </a:rPr>
              <a:t>Month 1  Baseline and content     Month 2  Guided use     Month 3  Compare outcomes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08FA9F3-A1D5-4B6F-B5B5-41910D7521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90500"/>
            <a:ext cx="114300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16878A"/>
          </a:solidFill>
          <a:ln xmlns:a="http://schemas.openxmlformats.org/drawingml/2006/main" w="9525">
            <a:solidFill>
              <a:srgbClr val="16878A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3BB0136-132A-4C15-AD65-170333926C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9550"/>
            <a:ext cx="990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0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0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ACTIVITY 3</a:t>
            </a:r>
          </a:p>
        </p:txBody>
      </p:sp>
    </p:spTree>
    <p:extLst>
      <p:ext uri="{BB962C8B-B14F-4D97-AF65-F5344CB8AC3E}">
        <p14:creationId xmlns:p14="http://schemas.microsoft.com/office/powerpoint/2010/main" val="1982738047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6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51440E7-6228-4778-A742-D8769F44F6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28600"/>
            <a:ext cx="476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050" b="1">
                <a:solidFill>
                  <a:srgbClr val="16878A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050" b="1">
                <a:solidFill>
                  <a:srgbClr val="16878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16878A"/>
                </a:solidFill>
                <a:latin typeface="Helvetica Neue"/>
                <a:ea typeface="Helvetica Neue"/>
                <a:cs typeface="Helvetica Neue"/>
              </a:rPr>
              <a:t>ACTIVITY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EED5912-8498-4FB1-82B7-70649B575A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42925"/>
            <a:ext cx="1109662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850" b="1">
                <a:solidFill>
                  <a:srgbClr val="183449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2850" b="1">
                <a:solidFill>
                  <a:srgbClr val="183449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>
                <a:solidFill>
                  <a:srgbClr val="183449"/>
                </a:solidFill>
                <a:latin typeface="Helvetica Neue"/>
                <a:ea typeface="Helvetica Neue"/>
                <a:cs typeface="Helvetica Neue"/>
              </a:rPr>
              <a:t>Ordered Product Backlog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CC988CC-4DAF-43FA-9431-74126FD821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90625"/>
            <a:ext cx="110966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425" b="0">
                <a:solidFill>
                  <a:srgbClr val="61718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425" b="0">
                <a:solidFill>
                  <a:srgbClr val="61718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617180"/>
                </a:solidFill>
                <a:latin typeface="Helvetica Neue"/>
                <a:ea typeface="Helvetica Neue"/>
                <a:cs typeface="Helvetica Neue"/>
              </a:rPr>
              <a:t>The first items establish trusted content before advanced automation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692F306-A9C5-4F08-862C-D0BD1C86A5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10325"/>
            <a:ext cx="11125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E7"/>
          </a:solidFill>
          <a:ln xmlns:a="http://schemas.openxmlformats.org/drawingml/2006/main" w="9525">
            <a:solidFill>
              <a:srgbClr val="D8E1E7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86BC1ED-C978-4338-8B01-8050397DB9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477000"/>
            <a:ext cx="47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900" b="0">
                <a:solidFill>
                  <a:srgbClr val="61718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900" b="0">
                <a:solidFill>
                  <a:srgbClr val="617180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617180"/>
                </a:solidFill>
                <a:latin typeface="Helvetica Neue"/>
                <a:ea typeface="Helvetica Neue"/>
                <a:cs typeface="Helvetica Neue"/>
              </a:rPr>
              <a:t>07</a:t>
            </a:r>
          </a:p>
        </p:txBody>
      </p:sp>
      <p:graphicFrame>
        <p:nvGraphicFrame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48880E9-923E-4815-BDDD-F14ED392952E}"/>
              </a:ext>
            </a:extLst>
          </p:cNvPr>
          <p:cNvGraphicFramePr/>
          <p:nvPr/>
        </p:nvGraphicFramePr>
        <p:xfrm>
          <a:off xmlns:a="http://schemas.openxmlformats.org/drawingml/2006/main" x="533400" y="1666875"/>
          <a:ext xmlns:a="http://schemas.openxmlformats.org/drawingml/2006/main" cx="11125200" cy="4476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762000"/>
                <a:gridCol w="5286375"/>
                <a:gridCol w="2000250"/>
                <a:gridCol w="3076575"/>
              </a:tblGrid>
              <a:tr h="41910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Rank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8E1E7"/>
                      </a:solidFill>
                      <a:prstDash val="solid"/>
                    </a:lnL>
                    <a:lnR w="9525">
                      <a:solidFill>
                        <a:srgbClr val="D8E1E7"/>
                      </a:solidFill>
                      <a:prstDash val="solid"/>
                    </a:lnR>
                    <a:lnT w="9525">
                      <a:solidFill>
                        <a:srgbClr val="D8E1E7"/>
                      </a:solidFill>
                      <a:prstDash val="solid"/>
                    </a:lnT>
                    <a:lnB w="9525">
                      <a:solidFill>
                        <a:srgbClr val="D8E1E7"/>
                      </a:solidFill>
                      <a:prstDash val="solid"/>
                    </a:lnB>
                    <a:solidFill>
                      <a:srgbClr val="18344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Backlog item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8E1E7"/>
                      </a:solidFill>
                      <a:prstDash val="solid"/>
                    </a:lnR>
                    <a:lnT w="9525">
                      <a:solidFill>
                        <a:srgbClr val="D8E1E7"/>
                      </a:solidFill>
                      <a:prstDash val="solid"/>
                    </a:lnT>
                    <a:lnB w="9525">
                      <a:solidFill>
                        <a:srgbClr val="D8E1E7"/>
                      </a:solidFill>
                      <a:prstDash val="solid"/>
                    </a:lnB>
                    <a:solidFill>
                      <a:srgbClr val="18344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Type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8E1E7"/>
                      </a:solidFill>
                      <a:prstDash val="solid"/>
                    </a:lnR>
                    <a:lnT w="9525">
                      <a:solidFill>
                        <a:srgbClr val="D8E1E7"/>
                      </a:solidFill>
                      <a:prstDash val="solid"/>
                    </a:lnT>
                    <a:lnB w="9525">
                      <a:solidFill>
                        <a:srgbClr val="D8E1E7"/>
                      </a:solidFill>
                      <a:prstDash val="solid"/>
                    </a:lnB>
                    <a:solidFill>
                      <a:srgbClr val="18344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Why now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8E1E7"/>
                      </a:solidFill>
                      <a:prstDash val="solid"/>
                    </a:lnR>
                    <a:lnT w="9525">
                      <a:solidFill>
                        <a:srgbClr val="D8E1E7"/>
                      </a:solidFill>
                      <a:prstDash val="solid"/>
                    </a:lnT>
                    <a:lnB w="9525">
                      <a:solidFill>
                        <a:srgbClr val="D8E1E7"/>
                      </a:solidFill>
                      <a:prstDash val="solid"/>
                    </a:lnB>
                    <a:solidFill>
                      <a:srgbClr val="183449"/>
                    </a:solidFill>
                  </a:tcPr>
                </a:tc>
              </a:tr>
              <a:tr h="338138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233746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1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8E1E7"/>
                      </a:solidFill>
                      <a:prstDash val="solid"/>
                    </a:lnL>
                    <a:lnR w="9525">
                      <a:solidFill>
                        <a:srgbClr val="D8E1E7"/>
                      </a:solidFill>
                      <a:prstDash val="solid"/>
                    </a:lnR>
                    <a:lnB w="9525">
                      <a:solidFill>
                        <a:srgbClr val="D8E1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33746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Approved content model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8E1E7"/>
                      </a:solidFill>
                      <a:prstDash val="solid"/>
                    </a:lnR>
                    <a:lnB w="9525">
                      <a:solidFill>
                        <a:srgbClr val="D8E1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33746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Control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8E1E7"/>
                      </a:solidFill>
                      <a:prstDash val="solid"/>
                    </a:lnR>
                    <a:lnB w="9525">
                      <a:solidFill>
                        <a:srgbClr val="D8E1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33746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Foundation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8E1E7"/>
                      </a:solidFill>
                      <a:prstDash val="solid"/>
                    </a:lnR>
                    <a:lnB w="9525">
                      <a:solidFill>
                        <a:srgbClr val="D8E1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38138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233746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2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8E1E7"/>
                      </a:solidFill>
                      <a:prstDash val="solid"/>
                    </a:lnL>
                    <a:lnR w="9525">
                      <a:solidFill>
                        <a:srgbClr val="D8E1E7"/>
                      </a:solidFill>
                      <a:prstDash val="solid"/>
                    </a:lnR>
                    <a:lnB w="9525">
                      <a:solidFill>
                        <a:srgbClr val="D8E1E7"/>
                      </a:solidFill>
                      <a:prstDash val="solid"/>
                    </a:lnB>
                    <a:solidFill>
                      <a:srgbClr val="EDF3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33746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Programme and request context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8E1E7"/>
                      </a:solidFill>
                      <a:prstDash val="solid"/>
                    </a:lnR>
                    <a:lnB w="9525">
                      <a:solidFill>
                        <a:srgbClr val="D8E1E7"/>
                      </a:solidFill>
                      <a:prstDash val="solid"/>
                    </a:lnB>
                    <a:solidFill>
                      <a:srgbClr val="EDF3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33746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User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8E1E7"/>
                      </a:solidFill>
                      <a:prstDash val="solid"/>
                    </a:lnR>
                    <a:lnB w="9525">
                      <a:solidFill>
                        <a:srgbClr val="D8E1E7"/>
                      </a:solidFill>
                      <a:prstDash val="solid"/>
                    </a:lnB>
                    <a:solidFill>
                      <a:srgbClr val="EDF3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33746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Relevance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8E1E7"/>
                      </a:solidFill>
                      <a:prstDash val="solid"/>
                    </a:lnR>
                    <a:lnB w="9525">
                      <a:solidFill>
                        <a:srgbClr val="D8E1E7"/>
                      </a:solidFill>
                      <a:prstDash val="solid"/>
                    </a:lnB>
                    <a:solidFill>
                      <a:srgbClr val="EDF3F4"/>
                    </a:solidFill>
                  </a:tcPr>
                </a:tc>
              </a:tr>
              <a:tr h="338138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233746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3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8E1E7"/>
                      </a:solidFill>
                      <a:prstDash val="solid"/>
                    </a:lnL>
                    <a:lnR w="9525">
                      <a:solidFill>
                        <a:srgbClr val="D8E1E7"/>
                      </a:solidFill>
                      <a:prstDash val="solid"/>
                    </a:lnR>
                    <a:lnB w="9525">
                      <a:solidFill>
                        <a:srgbClr val="D8E1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33746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Procedure and next-step checklist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8E1E7"/>
                      </a:solidFill>
                      <a:prstDash val="solid"/>
                    </a:lnR>
                    <a:lnB w="9525">
                      <a:solidFill>
                        <a:srgbClr val="D8E1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33746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User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8E1E7"/>
                      </a:solidFill>
                      <a:prstDash val="solid"/>
                    </a:lnR>
                    <a:lnB w="9525">
                      <a:solidFill>
                        <a:srgbClr val="D8E1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33746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Core value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8E1E7"/>
                      </a:solidFill>
                      <a:prstDash val="solid"/>
                    </a:lnR>
                    <a:lnB w="9525">
                      <a:solidFill>
                        <a:srgbClr val="D8E1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38138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233746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4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8E1E7"/>
                      </a:solidFill>
                      <a:prstDash val="solid"/>
                    </a:lnL>
                    <a:lnR w="9525">
                      <a:solidFill>
                        <a:srgbClr val="D8E1E7"/>
                      </a:solidFill>
                      <a:prstDash val="solid"/>
                    </a:lnR>
                    <a:lnB w="9525">
                      <a:solidFill>
                        <a:srgbClr val="D8E1E7"/>
                      </a:solidFill>
                      <a:prstDash val="solid"/>
                    </a:lnB>
                    <a:solidFill>
                      <a:srgbClr val="EDF3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33746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Correct department and contact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8E1E7"/>
                      </a:solidFill>
                      <a:prstDash val="solid"/>
                    </a:lnR>
                    <a:lnB w="9525">
                      <a:solidFill>
                        <a:srgbClr val="D8E1E7"/>
                      </a:solidFill>
                      <a:prstDash val="solid"/>
                    </a:lnB>
                    <a:solidFill>
                      <a:srgbClr val="EDF3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33746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User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8E1E7"/>
                      </a:solidFill>
                      <a:prstDash val="solid"/>
                    </a:lnR>
                    <a:lnB w="9525">
                      <a:solidFill>
                        <a:srgbClr val="D8E1E7"/>
                      </a:solidFill>
                      <a:prstDash val="solid"/>
                    </a:lnB>
                    <a:solidFill>
                      <a:srgbClr val="EDF3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33746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Routing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8E1E7"/>
                      </a:solidFill>
                      <a:prstDash val="solid"/>
                    </a:lnR>
                    <a:lnB w="9525">
                      <a:solidFill>
                        <a:srgbClr val="D8E1E7"/>
                      </a:solidFill>
                      <a:prstDash val="solid"/>
                    </a:lnB>
                    <a:solidFill>
                      <a:srgbClr val="EDF3F4"/>
                    </a:solidFill>
                  </a:tcPr>
                </a:tc>
              </a:tr>
              <a:tr h="338138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233746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5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8E1E7"/>
                      </a:solidFill>
                      <a:prstDash val="solid"/>
                    </a:lnL>
                    <a:lnR w="9525">
                      <a:solidFill>
                        <a:srgbClr val="D8E1E7"/>
                      </a:solidFill>
                      <a:prstDash val="solid"/>
                    </a:lnR>
                    <a:lnB w="9525">
                      <a:solidFill>
                        <a:srgbClr val="D8E1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33746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Safe escalation and case owner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8E1E7"/>
                      </a:solidFill>
                      <a:prstDash val="solid"/>
                    </a:lnR>
                    <a:lnB w="9525">
                      <a:solidFill>
                        <a:srgbClr val="D8E1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33746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Control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8E1E7"/>
                      </a:solidFill>
                      <a:prstDash val="solid"/>
                    </a:lnR>
                    <a:lnB w="9525">
                      <a:solidFill>
                        <a:srgbClr val="D8E1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33746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Risk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8E1E7"/>
                      </a:solidFill>
                      <a:prstDash val="solid"/>
                    </a:lnR>
                    <a:lnB w="9525">
                      <a:solidFill>
                        <a:srgbClr val="D8E1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38138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233746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6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8E1E7"/>
                      </a:solidFill>
                      <a:prstDash val="solid"/>
                    </a:lnL>
                    <a:lnR w="9525">
                      <a:solidFill>
                        <a:srgbClr val="D8E1E7"/>
                      </a:solidFill>
                      <a:prstDash val="solid"/>
                    </a:lnR>
                    <a:lnB w="9525">
                      <a:solidFill>
                        <a:srgbClr val="D8E1E7"/>
                      </a:solidFill>
                      <a:prstDash val="solid"/>
                    </a:lnB>
                    <a:solidFill>
                      <a:srgbClr val="EDF3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33746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Structured request template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8E1E7"/>
                      </a:solidFill>
                      <a:prstDash val="solid"/>
                    </a:lnR>
                    <a:lnB w="9525">
                      <a:solidFill>
                        <a:srgbClr val="D8E1E7"/>
                      </a:solidFill>
                      <a:prstDash val="solid"/>
                    </a:lnB>
                    <a:solidFill>
                      <a:srgbClr val="EDF3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33746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User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8E1E7"/>
                      </a:solidFill>
                      <a:prstDash val="solid"/>
                    </a:lnR>
                    <a:lnB w="9525">
                      <a:solidFill>
                        <a:srgbClr val="D8E1E7"/>
                      </a:solidFill>
                      <a:prstDash val="solid"/>
                    </a:lnB>
                    <a:solidFill>
                      <a:srgbClr val="EDF3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33746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Completion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8E1E7"/>
                      </a:solidFill>
                      <a:prstDash val="solid"/>
                    </a:lnR>
                    <a:lnB w="9525">
                      <a:solidFill>
                        <a:srgbClr val="D8E1E7"/>
                      </a:solidFill>
                      <a:prstDash val="solid"/>
                    </a:lnB>
                    <a:solidFill>
                      <a:srgbClr val="EDF3F4"/>
                    </a:solidFill>
                  </a:tcPr>
                </a:tc>
              </a:tr>
              <a:tr h="338138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233746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7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8E1E7"/>
                      </a:solidFill>
                      <a:prstDash val="solid"/>
                    </a:lnL>
                    <a:lnR w="9525">
                      <a:solidFill>
                        <a:srgbClr val="D8E1E7"/>
                      </a:solidFill>
                      <a:prstDash val="solid"/>
                    </a:lnR>
                    <a:lnB w="9525">
                      <a:solidFill>
                        <a:srgbClr val="D8E1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33746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Content expiry and review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8E1E7"/>
                      </a:solidFill>
                      <a:prstDash val="solid"/>
                    </a:lnR>
                    <a:lnB w="9525">
                      <a:solidFill>
                        <a:srgbClr val="D8E1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33746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Control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8E1E7"/>
                      </a:solidFill>
                      <a:prstDash val="solid"/>
                    </a:lnR>
                    <a:lnB w="9525">
                      <a:solidFill>
                        <a:srgbClr val="D8E1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33746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Currency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8E1E7"/>
                      </a:solidFill>
                      <a:prstDash val="solid"/>
                    </a:lnR>
                    <a:lnB w="9525">
                      <a:solidFill>
                        <a:srgbClr val="D8E1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38138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233746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8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8E1E7"/>
                      </a:solidFill>
                      <a:prstDash val="solid"/>
                    </a:lnL>
                    <a:lnR w="9525">
                      <a:solidFill>
                        <a:srgbClr val="D8E1E7"/>
                      </a:solidFill>
                      <a:prstDash val="solid"/>
                    </a:lnR>
                    <a:lnB w="9525">
                      <a:solidFill>
                        <a:srgbClr val="D8E1E7"/>
                      </a:solidFill>
                      <a:prstDash val="solid"/>
                    </a:lnB>
                    <a:solidFill>
                      <a:srgbClr val="EDF3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33746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Accuracy test set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8E1E7"/>
                      </a:solidFill>
                      <a:prstDash val="solid"/>
                    </a:lnR>
                    <a:lnB w="9525">
                      <a:solidFill>
                        <a:srgbClr val="D8E1E7"/>
                      </a:solidFill>
                      <a:prstDash val="solid"/>
                    </a:lnB>
                    <a:solidFill>
                      <a:srgbClr val="EDF3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33746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Discovery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8E1E7"/>
                      </a:solidFill>
                      <a:prstDash val="solid"/>
                    </a:lnR>
                    <a:lnB w="9525">
                      <a:solidFill>
                        <a:srgbClr val="D8E1E7"/>
                      </a:solidFill>
                      <a:prstDash val="solid"/>
                    </a:lnB>
                    <a:solidFill>
                      <a:srgbClr val="EDF3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33746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Learning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8E1E7"/>
                      </a:solidFill>
                      <a:prstDash val="solid"/>
                    </a:lnR>
                    <a:lnB w="9525">
                      <a:solidFill>
                        <a:srgbClr val="D8E1E7"/>
                      </a:solidFill>
                      <a:prstDash val="solid"/>
                    </a:lnB>
                    <a:solidFill>
                      <a:srgbClr val="EDF3F4"/>
                    </a:solidFill>
                  </a:tcPr>
                </a:tc>
              </a:tr>
              <a:tr h="338138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233746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9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8E1E7"/>
                      </a:solidFill>
                      <a:prstDash val="solid"/>
                    </a:lnL>
                    <a:lnR w="9525">
                      <a:solidFill>
                        <a:srgbClr val="D8E1E7"/>
                      </a:solidFill>
                      <a:prstDash val="solid"/>
                    </a:lnR>
                    <a:lnB w="9525">
                      <a:solidFill>
                        <a:srgbClr val="D8E1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33746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Request analytics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8E1E7"/>
                      </a:solidFill>
                      <a:prstDash val="solid"/>
                    </a:lnR>
                    <a:lnB w="9525">
                      <a:solidFill>
                        <a:srgbClr val="D8E1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33746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Technical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8E1E7"/>
                      </a:solidFill>
                      <a:prstDash val="solid"/>
                    </a:lnR>
                    <a:lnB w="9525">
                      <a:solidFill>
                        <a:srgbClr val="D8E1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33746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Measurement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8E1E7"/>
                      </a:solidFill>
                      <a:prstDash val="solid"/>
                    </a:lnR>
                    <a:lnB w="9525">
                      <a:solidFill>
                        <a:srgbClr val="D8E1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38138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233746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10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8E1E7"/>
                      </a:solidFill>
                      <a:prstDash val="solid"/>
                    </a:lnL>
                    <a:lnR w="9525">
                      <a:solidFill>
                        <a:srgbClr val="D8E1E7"/>
                      </a:solidFill>
                      <a:prstDash val="solid"/>
                    </a:lnR>
                    <a:lnB w="9525">
                      <a:solidFill>
                        <a:srgbClr val="D8E1E7"/>
                      </a:solidFill>
                      <a:prstDash val="solid"/>
                    </a:lnB>
                    <a:solidFill>
                      <a:srgbClr val="EDF3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33746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Case status visibility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8E1E7"/>
                      </a:solidFill>
                      <a:prstDash val="solid"/>
                    </a:lnR>
                    <a:lnB w="9525">
                      <a:solidFill>
                        <a:srgbClr val="D8E1E7"/>
                      </a:solidFill>
                      <a:prstDash val="solid"/>
                    </a:lnB>
                    <a:solidFill>
                      <a:srgbClr val="EDF3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33746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User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8E1E7"/>
                      </a:solidFill>
                      <a:prstDash val="solid"/>
                    </a:lnR>
                    <a:lnB w="9525">
                      <a:solidFill>
                        <a:srgbClr val="D8E1E7"/>
                      </a:solidFill>
                      <a:prstDash val="solid"/>
                    </a:lnB>
                    <a:solidFill>
                      <a:srgbClr val="EDF3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33746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Less follow-up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8E1E7"/>
                      </a:solidFill>
                      <a:prstDash val="solid"/>
                    </a:lnR>
                    <a:lnB w="9525">
                      <a:solidFill>
                        <a:srgbClr val="D8E1E7"/>
                      </a:solidFill>
                      <a:prstDash val="solid"/>
                    </a:lnB>
                    <a:solidFill>
                      <a:srgbClr val="EDF3F4"/>
                    </a:solidFill>
                  </a:tcPr>
                </a:tc>
              </a:tr>
              <a:tr h="338138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233746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11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8E1E7"/>
                      </a:solidFill>
                      <a:prstDash val="solid"/>
                    </a:lnL>
                    <a:lnR w="9525">
                      <a:solidFill>
                        <a:srgbClr val="D8E1E7"/>
                      </a:solidFill>
                      <a:prstDash val="solid"/>
                    </a:lnR>
                    <a:lnB w="9525">
                      <a:solidFill>
                        <a:srgbClr val="D8E1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33746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Privacy and retention controls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8E1E7"/>
                      </a:solidFill>
                      <a:prstDash val="solid"/>
                    </a:lnR>
                    <a:lnB w="9525">
                      <a:solidFill>
                        <a:srgbClr val="D8E1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33746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Control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8E1E7"/>
                      </a:solidFill>
                      <a:prstDash val="solid"/>
                    </a:lnR>
                    <a:lnB w="9525">
                      <a:solidFill>
                        <a:srgbClr val="D8E1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33746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Integrity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8E1E7"/>
                      </a:solidFill>
                      <a:prstDash val="solid"/>
                    </a:lnR>
                    <a:lnB w="9525">
                      <a:solidFill>
                        <a:srgbClr val="D8E1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38138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233746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12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8E1E7"/>
                      </a:solidFill>
                      <a:prstDash val="solid"/>
                    </a:lnL>
                    <a:lnR w="9525">
                      <a:solidFill>
                        <a:srgbClr val="D8E1E7"/>
                      </a:solidFill>
                      <a:prstDash val="solid"/>
                    </a:lnR>
                    <a:lnB w="9525">
                      <a:solidFill>
                        <a:srgbClr val="D8E1E7"/>
                      </a:solidFill>
                      <a:prstDash val="solid"/>
                    </a:lnB>
                    <a:solidFill>
                      <a:srgbClr val="EDF3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33746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Conversational AI layer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8E1E7"/>
                      </a:solidFill>
                      <a:prstDash val="solid"/>
                    </a:lnR>
                    <a:lnB w="9525">
                      <a:solidFill>
                        <a:srgbClr val="D8E1E7"/>
                      </a:solidFill>
                      <a:prstDash val="solid"/>
                    </a:lnB>
                    <a:solidFill>
                      <a:srgbClr val="EDF3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33746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Technical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8E1E7"/>
                      </a:solidFill>
                      <a:prstDash val="solid"/>
                    </a:lnR>
                    <a:lnB w="9525">
                      <a:solidFill>
                        <a:srgbClr val="D8E1E7"/>
                      </a:solidFill>
                      <a:prstDash val="solid"/>
                    </a:lnB>
                    <a:solidFill>
                      <a:srgbClr val="EDF3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33746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Later option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8E1E7"/>
                      </a:solidFill>
                      <a:prstDash val="solid"/>
                    </a:lnR>
                    <a:lnB w="9525">
                      <a:solidFill>
                        <a:srgbClr val="D8E1E7"/>
                      </a:solidFill>
                      <a:prstDash val="solid"/>
                    </a:lnB>
                    <a:solidFill>
                      <a:srgbClr val="EDF3F4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61548849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6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CAEB225-544B-44A1-A4F0-979583693A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28600"/>
            <a:ext cx="476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050" b="1">
                <a:solidFill>
                  <a:srgbClr val="16878A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050" b="1">
                <a:solidFill>
                  <a:srgbClr val="16878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16878A"/>
                </a:solidFill>
                <a:latin typeface="Helvetica Neue"/>
                <a:ea typeface="Helvetica Neue"/>
                <a:cs typeface="Helvetica Neue"/>
              </a:rPr>
              <a:t>ACTIVITY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960FEE8-62B3-4F24-85D2-20A74B546B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42925"/>
            <a:ext cx="1109662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850" b="1">
                <a:solidFill>
                  <a:srgbClr val="183449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2850" b="1">
                <a:solidFill>
                  <a:srgbClr val="183449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>
                <a:solidFill>
                  <a:srgbClr val="183449"/>
                </a:solidFill>
                <a:latin typeface="Helvetica Neue"/>
                <a:ea typeface="Helvetica Neue"/>
                <a:cs typeface="Helvetica Neue"/>
              </a:rPr>
              <a:t>Acceptance criteria for the top four items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9E09AF1-39E1-41C9-BB63-7D2BA14302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90625"/>
            <a:ext cx="110966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425" b="0">
                <a:solidFill>
                  <a:srgbClr val="61718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425" b="0">
                <a:solidFill>
                  <a:srgbClr val="61718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617180"/>
                </a:solidFill>
                <a:latin typeface="Helvetica Neue"/>
                <a:ea typeface="Helvetica Neue"/>
                <a:cs typeface="Helvetica Neue"/>
              </a:rPr>
              <a:t>Each item has an observable normal flow and a clear safety boundary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6E70CDB-E3B2-4495-A66D-302A17AAED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10325"/>
            <a:ext cx="11125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E7"/>
          </a:solidFill>
          <a:ln xmlns:a="http://schemas.openxmlformats.org/drawingml/2006/main" w="9525">
            <a:solidFill>
              <a:srgbClr val="D8E1E7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BAD4499-F9C9-4501-BEE6-24689BBF27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477000"/>
            <a:ext cx="47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900" b="0">
                <a:solidFill>
                  <a:srgbClr val="61718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900" b="0">
                <a:solidFill>
                  <a:srgbClr val="617180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617180"/>
                </a:solidFill>
                <a:latin typeface="Helvetica Neue"/>
                <a:ea typeface="Helvetica Neue"/>
                <a:cs typeface="Helvetica Neue"/>
              </a:rPr>
              <a:t>08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18AAF46-85C3-487A-9970-649912DFBF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809750"/>
            <a:ext cx="23812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878A"/>
          </a:solidFill>
          <a:ln xmlns:a="http://schemas.openxmlformats.org/drawingml/2006/main" w="9525">
            <a:solidFill>
              <a:srgbClr val="16878A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67423F5-199B-444B-BEB4-31BF06C5B9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019300"/>
            <a:ext cx="2381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425" b="1">
                <a:solidFill>
                  <a:srgbClr val="183449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425" b="1">
                <a:solidFill>
                  <a:srgbClr val="18344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183449"/>
                </a:solidFill>
                <a:latin typeface="Helvetica Neue"/>
                <a:ea typeface="Helvetica Neue"/>
                <a:cs typeface="Helvetica Neue"/>
              </a:rPr>
              <a:t>01  Approved content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F0EF79A-B056-4E6A-937A-884968302C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619375"/>
            <a:ext cx="2381250" cy="2238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275" b="0">
                <a:solidFill>
                  <a:srgbClr val="233746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23374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233746"/>
                </a:solidFill>
                <a:latin typeface="Helvetica Neue"/>
                <a:ea typeface="Helvetica Neue"/>
                <a:cs typeface="Helvetica Neue"/>
              </a:rPr>
              <a:t>GIVEN a guidance item is proposed</a:t>
            </a:r>
          </a:p>
          <a:p xmlns:a="http://schemas.openxmlformats.org/drawingml/2006/main">
            <a:pPr>
              <a:defRPr sz="1275" b="0">
                <a:solidFill>
                  <a:srgbClr val="23374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233746"/>
                </a:solidFill>
                <a:latin typeface="Helvetica Neue"/>
                <a:ea typeface="Helvetica Neue"/>
                <a:cs typeface="Helvetica Neue"/>
              </a:rPr>
              <a:t>WHEN staff publish it</a:t>
            </a:r>
          </a:p>
          <a:p xmlns:a="http://schemas.openxmlformats.org/drawingml/2006/main">
            <a:pPr>
              <a:defRPr sz="1275" b="0">
                <a:solidFill>
                  <a:srgbClr val="23374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233746"/>
                </a:solidFill>
                <a:latin typeface="Helvetica Neue"/>
                <a:ea typeface="Helvetica Neue"/>
                <a:cs typeface="Helvetica Neue"/>
              </a:rPr>
              <a:t>THEN it has a source, owner, programme and review date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6DB4239-F129-41B6-90FE-46A6E568CE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1809750"/>
            <a:ext cx="23812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458B"/>
          </a:solidFill>
          <a:ln xmlns:a="http://schemas.openxmlformats.org/drawingml/2006/main" w="9525">
            <a:solidFill>
              <a:srgbClr val="35458B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9BF08A3-60AB-4A28-882A-EF74AE206A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2019300"/>
            <a:ext cx="2381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425" b="1">
                <a:solidFill>
                  <a:srgbClr val="183449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425" b="1">
                <a:solidFill>
                  <a:srgbClr val="18344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183449"/>
                </a:solidFill>
                <a:latin typeface="Helvetica Neue"/>
                <a:ea typeface="Helvetica Neue"/>
                <a:cs typeface="Helvetica Neue"/>
              </a:rPr>
              <a:t>02  Request context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164B5A7-F129-45F8-900E-243907E2C8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2619375"/>
            <a:ext cx="2381250" cy="2238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275" b="0">
                <a:solidFill>
                  <a:srgbClr val="233746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23374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233746"/>
                </a:solidFill>
                <a:latin typeface="Helvetica Neue"/>
                <a:ea typeface="Helvetica Neue"/>
                <a:cs typeface="Helvetica Neue"/>
              </a:rPr>
              <a:t>GIVEN a student starts a request</a:t>
            </a:r>
          </a:p>
          <a:p xmlns:a="http://schemas.openxmlformats.org/drawingml/2006/main">
            <a:pPr>
              <a:defRPr sz="1275" b="0">
                <a:solidFill>
                  <a:srgbClr val="23374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233746"/>
                </a:solidFill>
                <a:latin typeface="Helvetica Neue"/>
                <a:ea typeface="Helvetica Neue"/>
                <a:cs typeface="Helvetica Neue"/>
              </a:rPr>
              <a:t>WHEN programme and category are selected</a:t>
            </a:r>
          </a:p>
          <a:p xmlns:a="http://schemas.openxmlformats.org/drawingml/2006/main">
            <a:pPr>
              <a:defRPr sz="1275" b="0">
                <a:solidFill>
                  <a:srgbClr val="23374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233746"/>
                </a:solidFill>
                <a:latin typeface="Helvetica Neue"/>
                <a:ea typeface="Helvetica Neue"/>
                <a:cs typeface="Helvetica Neue"/>
              </a:rPr>
              <a:t>THEN only applicable guidance appears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9DABF30-3618-48E0-BC5D-CCC9C22872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809750"/>
            <a:ext cx="23812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37A25"/>
          </a:solidFill>
          <a:ln xmlns:a="http://schemas.openxmlformats.org/drawingml/2006/main" w="9525">
            <a:solidFill>
              <a:srgbClr val="C37A25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A821A2F-9CCA-4B43-94BD-03C956EC18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019300"/>
            <a:ext cx="2381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425" b="1">
                <a:solidFill>
                  <a:srgbClr val="183449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425" b="1">
                <a:solidFill>
                  <a:srgbClr val="18344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183449"/>
                </a:solidFill>
                <a:latin typeface="Helvetica Neue"/>
                <a:ea typeface="Helvetica Neue"/>
                <a:cs typeface="Helvetica Neue"/>
              </a:rPr>
              <a:t>03  Procedure checklist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22577F5-7366-4F9E-9CA0-96E6107F01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619375"/>
            <a:ext cx="2381250" cy="2238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275" b="0">
                <a:solidFill>
                  <a:srgbClr val="233746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23374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233746"/>
                </a:solidFill>
                <a:latin typeface="Helvetica Neue"/>
                <a:ea typeface="Helvetica Neue"/>
                <a:cs typeface="Helvetica Neue"/>
              </a:rPr>
              <a:t>GIVEN approved guidance matches</a:t>
            </a:r>
          </a:p>
          <a:p xmlns:a="http://schemas.openxmlformats.org/drawingml/2006/main">
            <a:pPr>
              <a:defRPr sz="1275" b="0">
                <a:solidFill>
                  <a:srgbClr val="23374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233746"/>
                </a:solidFill>
                <a:latin typeface="Helvetica Neue"/>
                <a:ea typeface="Helvetica Neue"/>
                <a:cs typeface="Helvetica Neue"/>
              </a:rPr>
              <a:t>WHEN the student opens the result</a:t>
            </a:r>
          </a:p>
          <a:p xmlns:a="http://schemas.openxmlformats.org/drawingml/2006/main">
            <a:pPr>
              <a:defRPr sz="1275" b="0">
                <a:solidFill>
                  <a:srgbClr val="23374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233746"/>
                </a:solidFill>
                <a:latin typeface="Helvetica Neue"/>
                <a:ea typeface="Helvetica Neue"/>
                <a:cs typeface="Helvetica Neue"/>
              </a:rPr>
              <a:t>THEN required steps and documents are visible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4BF155E-3D48-4EE3-BAF9-47F2659D78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1809750"/>
            <a:ext cx="23812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E1537"/>
          </a:solidFill>
          <a:ln xmlns:a="http://schemas.openxmlformats.org/drawingml/2006/main" w="9525">
            <a:solidFill>
              <a:srgbClr val="8E1537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0CF7429-9846-4D64-963B-F10E4688AD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2019300"/>
            <a:ext cx="2381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425" b="1">
                <a:solidFill>
                  <a:srgbClr val="183449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425" b="1">
                <a:solidFill>
                  <a:srgbClr val="18344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183449"/>
                </a:solidFill>
                <a:latin typeface="Helvetica Neue"/>
                <a:ea typeface="Helvetica Neue"/>
                <a:cs typeface="Helvetica Neue"/>
              </a:rPr>
              <a:t>04  Correct routing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42F09A3-0745-4B70-9044-CA39C5E890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2619375"/>
            <a:ext cx="2381250" cy="2238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275" b="0">
                <a:solidFill>
                  <a:srgbClr val="233746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23374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233746"/>
                </a:solidFill>
                <a:latin typeface="Helvetica Neue"/>
                <a:ea typeface="Helvetica Neue"/>
                <a:cs typeface="Helvetica Neue"/>
              </a:rPr>
              <a:t>GIVEN the case needs staff help</a:t>
            </a:r>
          </a:p>
          <a:p xmlns:a="http://schemas.openxmlformats.org/drawingml/2006/main">
            <a:pPr>
              <a:defRPr sz="1275" b="0">
                <a:solidFill>
                  <a:srgbClr val="23374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233746"/>
                </a:solidFill>
                <a:latin typeface="Helvetica Neue"/>
                <a:ea typeface="Helvetica Neue"/>
                <a:cs typeface="Helvetica Neue"/>
              </a:rPr>
              <a:t>WHEN the student submits it</a:t>
            </a:r>
          </a:p>
          <a:p xmlns:a="http://schemas.openxmlformats.org/drawingml/2006/main">
            <a:pPr>
              <a:defRPr sz="1275" b="0">
                <a:solidFill>
                  <a:srgbClr val="23374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233746"/>
                </a:solidFill>
                <a:latin typeface="Helvetica Neue"/>
                <a:ea typeface="Helvetica Neue"/>
                <a:cs typeface="Helvetica Neue"/>
              </a:rPr>
              <a:t>THEN the responsible unit and expected response are shown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5DED988-243E-4E64-8B8F-9E23670759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219700"/>
            <a:ext cx="11125200" cy="733425"/>
          </a:xfrm>
          <a:prstGeom xmlns:a="http://schemas.openxmlformats.org/drawingml/2006/main" prst="roundRect">
            <a:avLst>
              <a:gd name="adj" fmla="val 10390"/>
            </a:avLst>
          </a:prstGeom>
          <a:solidFill xmlns:a="http://schemas.openxmlformats.org/drawingml/2006/main">
            <a:srgbClr val="EAF2F3"/>
          </a:solidFill>
          <a:ln xmlns:a="http://schemas.openxmlformats.org/drawingml/2006/main" w="9525">
            <a:solidFill>
              <a:srgbClr val="16878A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DEBF247-DC1A-4867-9223-97E6580DF6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391150"/>
            <a:ext cx="18573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050" b="1">
                <a:solidFill>
                  <a:srgbClr val="16878A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050" b="1">
                <a:solidFill>
                  <a:srgbClr val="16878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16878A"/>
                </a:solidFill>
                <a:latin typeface="Helvetica Neue"/>
                <a:ea typeface="Helvetica Neue"/>
                <a:cs typeface="Helvetica Neue"/>
              </a:rPr>
              <a:t>Shared safety rule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548B621-EC1A-499F-8C78-5E76459870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9375" y="5314950"/>
            <a:ext cx="87153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500" b="1">
                <a:solidFill>
                  <a:srgbClr val="183449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500" b="1">
                <a:solidFill>
                  <a:srgbClr val="18344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183449"/>
                </a:solidFill>
                <a:latin typeface="Helvetica Neue"/>
                <a:ea typeface="Helvetica Neue"/>
                <a:cs typeface="Helvetica Neue"/>
              </a:rPr>
              <a:t>If approved guidance is missing or conflicting, the product stops and routes the request to staff. It does not infer an academic or financial decision.</a:t>
            </a:r>
          </a:p>
        </p:txBody>
      </p:sp>
    </p:spTree>
    <p:extLst>
      <p:ext uri="{BB962C8B-B14F-4D97-AF65-F5344CB8AC3E}">
        <p14:creationId xmlns:p14="http://schemas.microsoft.com/office/powerpoint/2010/main" val="339772185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6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7E4BEE4-F455-4AC4-9F23-069C2C2FC3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28600"/>
            <a:ext cx="476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050" b="1">
                <a:solidFill>
                  <a:srgbClr val="16878A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050" b="1">
                <a:solidFill>
                  <a:srgbClr val="16878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16878A"/>
                </a:solidFill>
                <a:latin typeface="Helvetica Neue"/>
                <a:ea typeface="Helvetica Neue"/>
                <a:cs typeface="Helvetica Neue"/>
              </a:rPr>
              <a:t>ACTIVITY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A162909-EE7B-4B9D-AFDC-A9EE32E38E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42925"/>
            <a:ext cx="1109662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850" b="1">
                <a:solidFill>
                  <a:srgbClr val="183449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2850" b="1">
                <a:solidFill>
                  <a:srgbClr val="183449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>
                <a:solidFill>
                  <a:srgbClr val="183449"/>
                </a:solidFill>
                <a:latin typeface="Helvetica Neue"/>
                <a:ea typeface="Helvetica Neue"/>
                <a:cs typeface="Helvetica Neue"/>
              </a:rPr>
              <a:t>Sprint Goal and two-week forecast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69B4C9F-FA5A-40D4-A64B-3C0268E872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90625"/>
            <a:ext cx="110966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425" b="0">
                <a:solidFill>
                  <a:srgbClr val="61718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425" b="0">
                <a:solidFill>
                  <a:srgbClr val="61718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617180"/>
                </a:solidFill>
                <a:latin typeface="Helvetica Neue"/>
                <a:ea typeface="Helvetica Neue"/>
                <a:cs typeface="Helvetica Neue"/>
              </a:rPr>
              <a:t>The first Sprint creates a usable guidance and routing slice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8609285-1912-47CD-A3DA-4B80C6DE1F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10325"/>
            <a:ext cx="11125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E7"/>
          </a:solidFill>
          <a:ln xmlns:a="http://schemas.openxmlformats.org/drawingml/2006/main" w="9525">
            <a:solidFill>
              <a:srgbClr val="D8E1E7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7AAC7EC-5F44-4326-AD71-F817F35768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477000"/>
            <a:ext cx="47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900" b="0">
                <a:solidFill>
                  <a:srgbClr val="61718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900" b="0">
                <a:solidFill>
                  <a:srgbClr val="617180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617180"/>
                </a:solidFill>
                <a:latin typeface="Helvetica Neue"/>
                <a:ea typeface="Helvetica Neue"/>
                <a:cs typeface="Helvetica Neue"/>
              </a:rPr>
              <a:t>09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A80AA50-C5A8-4AF6-A5AE-A2C41B162B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638300"/>
            <a:ext cx="11125200" cy="8382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6878A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87CECA6-4EF3-4760-984D-B2095A6A10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809750"/>
            <a:ext cx="1619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050" b="1">
                <a:solidFill>
                  <a:srgbClr val="16878A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050" b="1">
                <a:solidFill>
                  <a:srgbClr val="16878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16878A"/>
                </a:solidFill>
                <a:latin typeface="Helvetica Neue"/>
                <a:ea typeface="Helvetica Neue"/>
                <a:cs typeface="Helvetica Neue"/>
              </a:rPr>
              <a:t>SPRINT GOAL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FB33999-47B7-48E4-8085-21F8D5656E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1724025"/>
            <a:ext cx="88106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725" b="1">
                <a:solidFill>
                  <a:srgbClr val="183449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725" b="1">
                <a:solidFill>
                  <a:srgbClr val="18344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183449"/>
                </a:solidFill>
                <a:latin typeface="Helvetica Neue"/>
                <a:ea typeface="Helvetica Neue"/>
                <a:cs typeface="Helvetica Neue"/>
              </a:rPr>
              <a:t>A student selects a request, sees a verified procedure and reaches the responsible unit when staff help is required.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DE90F21-9CCF-4438-A162-509F393E51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086100"/>
            <a:ext cx="19050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3449"/>
          </a:solidFill>
          <a:ln xmlns:a="http://schemas.openxmlformats.org/drawingml/2006/main" w="9525">
            <a:solidFill>
              <a:srgbClr val="183449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69616B3-9218-4C67-8FDD-7EA711C60E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86125"/>
            <a:ext cx="190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050" b="1">
                <a:solidFill>
                  <a:srgbClr val="183449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050" b="1">
                <a:solidFill>
                  <a:srgbClr val="18344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183449"/>
                </a:solidFill>
                <a:latin typeface="Helvetica Neue"/>
                <a:ea typeface="Helvetica Neue"/>
                <a:cs typeface="Helvetica Neue"/>
              </a:rPr>
              <a:t>DAYS 1-2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AA9135E-5E01-4947-A764-B0CBFE964F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09975"/>
            <a:ext cx="195262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425" b="1">
                <a:solidFill>
                  <a:srgbClr val="233746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425" b="1">
                <a:solidFill>
                  <a:srgbClr val="23374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233746"/>
                </a:solidFill>
                <a:latin typeface="Helvetica Neue"/>
                <a:ea typeface="Helvetica Neue"/>
                <a:cs typeface="Helvetica Neue"/>
              </a:rPr>
              <a:t>Audit enquiries</a:t>
            </a:r>
          </a:p>
          <a:p xmlns:a="http://schemas.openxmlformats.org/drawingml/2006/main">
            <a:pPr>
              <a:defRPr sz="1425" b="1">
                <a:solidFill>
                  <a:srgbClr val="23374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233746"/>
                </a:solidFill>
                <a:latin typeface="Helvetica Neue"/>
                <a:ea typeface="Helvetica Neue"/>
                <a:cs typeface="Helvetica Neue"/>
              </a:rPr>
              <a:t>and confirm taxonomy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E9AD935-EA1F-45F5-A8BD-7199F63BD8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3086100"/>
            <a:ext cx="19050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878A"/>
          </a:solidFill>
          <a:ln xmlns:a="http://schemas.openxmlformats.org/drawingml/2006/main" w="9525">
            <a:solidFill>
              <a:srgbClr val="16878A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C5FA9C4-EF62-40FB-A6F5-A892F1FD4D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3286125"/>
            <a:ext cx="190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050" b="1">
                <a:solidFill>
                  <a:srgbClr val="16878A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050" b="1">
                <a:solidFill>
                  <a:srgbClr val="16878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16878A"/>
                </a:solidFill>
                <a:latin typeface="Helvetica Neue"/>
                <a:ea typeface="Helvetica Neue"/>
                <a:cs typeface="Helvetica Neue"/>
              </a:rPr>
              <a:t>DAYS 3-4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F26450B-678F-4690-8C54-4E7C83AD72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3609975"/>
            <a:ext cx="195262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425" b="1">
                <a:solidFill>
                  <a:srgbClr val="233746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425" b="1">
                <a:solidFill>
                  <a:srgbClr val="23374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233746"/>
                </a:solidFill>
                <a:latin typeface="Helvetica Neue"/>
                <a:ea typeface="Helvetica Neue"/>
                <a:cs typeface="Helvetica Neue"/>
              </a:rPr>
              <a:t>Structure guidance</a:t>
            </a:r>
          </a:p>
          <a:p xmlns:a="http://schemas.openxmlformats.org/drawingml/2006/main">
            <a:pPr>
              <a:defRPr sz="1425" b="1">
                <a:solidFill>
                  <a:srgbClr val="23374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233746"/>
                </a:solidFill>
                <a:latin typeface="Helvetica Neue"/>
                <a:ea typeface="Helvetica Neue"/>
                <a:cs typeface="Helvetica Neue"/>
              </a:rPr>
              <a:t>and content ownership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8722807-7132-486E-A8EB-2ABE040DA0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3086100"/>
            <a:ext cx="19050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458B"/>
          </a:solidFill>
          <a:ln xmlns:a="http://schemas.openxmlformats.org/drawingml/2006/main" w="9525">
            <a:solidFill>
              <a:srgbClr val="35458B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FC35157-F864-4AF7-8259-2949B03194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3286125"/>
            <a:ext cx="190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050" b="1">
                <a:solidFill>
                  <a:srgbClr val="35458B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050" b="1">
                <a:solidFill>
                  <a:srgbClr val="3545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35458B"/>
                </a:solidFill>
                <a:latin typeface="Helvetica Neue"/>
                <a:ea typeface="Helvetica Neue"/>
                <a:cs typeface="Helvetica Neue"/>
              </a:rPr>
              <a:t>DAYS 5-7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847A2D5-8DE6-42C8-AC29-43BD28B7F5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3609975"/>
            <a:ext cx="195262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425" b="1">
                <a:solidFill>
                  <a:srgbClr val="233746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425" b="1">
                <a:solidFill>
                  <a:srgbClr val="23374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233746"/>
                </a:solidFill>
                <a:latin typeface="Helvetica Neue"/>
                <a:ea typeface="Helvetica Neue"/>
                <a:cs typeface="Helvetica Neue"/>
              </a:rPr>
              <a:t>Build the HTML</a:t>
            </a:r>
          </a:p>
          <a:p xmlns:a="http://schemas.openxmlformats.org/drawingml/2006/main">
            <a:pPr>
              <a:defRPr sz="1425" b="1">
                <a:solidFill>
                  <a:srgbClr val="23374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233746"/>
                </a:solidFill>
                <a:latin typeface="Helvetica Neue"/>
                <a:ea typeface="Helvetica Neue"/>
                <a:cs typeface="Helvetica Neue"/>
              </a:rPr>
              <a:t>guidance flow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6CF511E-2A06-4156-8906-60861012BD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3086100"/>
            <a:ext cx="19050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37A25"/>
          </a:solidFill>
          <a:ln xmlns:a="http://schemas.openxmlformats.org/drawingml/2006/main" w="9525">
            <a:solidFill>
              <a:srgbClr val="C37A25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8CC2AC8-B404-41F5-8FD1-A9E4A027E4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3286125"/>
            <a:ext cx="190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050" b="1">
                <a:solidFill>
                  <a:srgbClr val="C37A25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050" b="1">
                <a:solidFill>
                  <a:srgbClr val="C37A2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C37A25"/>
                </a:solidFill>
                <a:latin typeface="Helvetica Neue"/>
                <a:ea typeface="Helvetica Neue"/>
                <a:cs typeface="Helvetica Neue"/>
              </a:rPr>
              <a:t>DAYS 8-9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CBC6FF9-D64C-460B-BC03-418D9429C6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3609975"/>
            <a:ext cx="195262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425" b="1">
                <a:solidFill>
                  <a:srgbClr val="233746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425" b="1">
                <a:solidFill>
                  <a:srgbClr val="23374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233746"/>
                </a:solidFill>
                <a:latin typeface="Helvetica Neue"/>
                <a:ea typeface="Helvetica Neue"/>
                <a:cs typeface="Helvetica Neue"/>
              </a:rPr>
              <a:t>Run QA and</a:t>
            </a:r>
          </a:p>
          <a:p xmlns:a="http://schemas.openxmlformats.org/drawingml/2006/main">
            <a:pPr>
              <a:defRPr sz="1425" b="1">
                <a:solidFill>
                  <a:srgbClr val="23374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233746"/>
                </a:solidFill>
                <a:latin typeface="Helvetica Neue"/>
                <a:ea typeface="Helvetica Neue"/>
                <a:cs typeface="Helvetica Neue"/>
              </a:rPr>
              <a:t>student usability tests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700BFAD-ECA0-412D-929F-4332186140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3086100"/>
            <a:ext cx="19050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E1537"/>
          </a:solidFill>
          <a:ln xmlns:a="http://schemas.openxmlformats.org/drawingml/2006/main" w="9525">
            <a:solidFill>
              <a:srgbClr val="8E1537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7D0A0B9-D216-4F74-8351-EB88C86D09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3286125"/>
            <a:ext cx="190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050" b="1">
                <a:solidFill>
                  <a:srgbClr val="8E1537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050" b="1">
                <a:solidFill>
                  <a:srgbClr val="8E153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8E1537"/>
                </a:solidFill>
                <a:latin typeface="Helvetica Neue"/>
                <a:ea typeface="Helvetica Neue"/>
                <a:cs typeface="Helvetica Neue"/>
              </a:rPr>
              <a:t>DAY 10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7A1BE8D-8A66-4D47-9231-7F42EF102D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3609975"/>
            <a:ext cx="195262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425" b="1">
                <a:solidFill>
                  <a:srgbClr val="233746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425" b="1">
                <a:solidFill>
                  <a:srgbClr val="23374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233746"/>
                </a:solidFill>
                <a:latin typeface="Helvetica Neue"/>
                <a:ea typeface="Helvetica Neue"/>
                <a:cs typeface="Helvetica Neue"/>
              </a:rPr>
              <a:t>Review evidence</a:t>
            </a:r>
          </a:p>
          <a:p xmlns:a="http://schemas.openxmlformats.org/drawingml/2006/main">
            <a:pPr>
              <a:defRPr sz="1425" b="1">
                <a:solidFill>
                  <a:srgbClr val="23374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233746"/>
                </a:solidFill>
                <a:latin typeface="Helvetica Neue"/>
                <a:ea typeface="Helvetica Neue"/>
                <a:cs typeface="Helvetica Neue"/>
              </a:rPr>
              <a:t>and update backlog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CBFFCD9-95F6-4C62-BBB4-B995E932A8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810125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350" b="1">
                <a:solidFill>
                  <a:srgbClr val="183449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350" b="1">
                <a:solidFill>
                  <a:srgbClr val="18344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183449"/>
                </a:solidFill>
                <a:latin typeface="Helvetica Neue"/>
                <a:ea typeface="Helvetica Neue"/>
                <a:cs typeface="Helvetica Neue"/>
              </a:rPr>
              <a:t>Selected backlog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F94CDAA-3E15-49F2-B81D-BB3F76DE50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153025"/>
            <a:ext cx="4381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650" b="0">
                <a:solidFill>
                  <a:srgbClr val="233746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23374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233746"/>
                </a:solidFill>
                <a:latin typeface="Helvetica Neue"/>
                <a:ea typeface="Helvetica Neue"/>
                <a:cs typeface="Helvetica Neue"/>
              </a:rPr>
              <a:t>Items 1-5 plus the initial accuracy test set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5E72385-8A26-4A56-BD64-BAD669C7A2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810125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350" b="1">
                <a:solidFill>
                  <a:srgbClr val="183449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350" b="1">
                <a:solidFill>
                  <a:srgbClr val="18344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183449"/>
                </a:solidFill>
                <a:latin typeface="Helvetica Neue"/>
                <a:ea typeface="Helvetica Neue"/>
                <a:cs typeface="Helvetica Neue"/>
              </a:rPr>
              <a:t>Main dependencies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8BA14B1-FC7D-43E8-844C-FCEFC7B31D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153025"/>
            <a:ext cx="5143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500" b="0">
                <a:solidFill>
                  <a:srgbClr val="233746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23374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233746"/>
                </a:solidFill>
                <a:latin typeface="Helvetica Neue"/>
                <a:ea typeface="Helvetica Neue"/>
                <a:cs typeface="Helvetica Neue"/>
              </a:rPr>
              <a:t>Approved procedures, staff reviewers and access to de-identified enquiry patterns</a:t>
            </a:r>
          </a:p>
        </p:txBody>
      </p:sp>
    </p:spTree>
    <p:extLst>
      <p:ext uri="{BB962C8B-B14F-4D97-AF65-F5344CB8AC3E}">
        <p14:creationId xmlns:p14="http://schemas.microsoft.com/office/powerpoint/2010/main" val="103202297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6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D2213E7-4E9F-4718-AE62-75F02A5291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28600"/>
            <a:ext cx="476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050" b="1">
                <a:solidFill>
                  <a:srgbClr val="16878A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050" b="1">
                <a:solidFill>
                  <a:srgbClr val="16878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16878A"/>
                </a:solidFill>
                <a:latin typeface="Helvetica Neue"/>
                <a:ea typeface="Helvetica Neue"/>
                <a:cs typeface="Helvetica Neue"/>
              </a:rPr>
              <a:t>ACTIVITY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2F60DA0-C7DC-4FB4-BB94-6F6C509D07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42925"/>
            <a:ext cx="1109662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850" b="1">
                <a:solidFill>
                  <a:srgbClr val="183449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2850" b="1">
                <a:solidFill>
                  <a:srgbClr val="183449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>
                <a:solidFill>
                  <a:srgbClr val="183449"/>
                </a:solidFill>
                <a:latin typeface="Helvetica Neue"/>
                <a:ea typeface="Helvetica Neue"/>
                <a:cs typeface="Helvetica Neue"/>
              </a:rPr>
              <a:t>Sprint capacity and roles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C5CB1D9-F64A-4AF6-A855-1A004227AA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90625"/>
            <a:ext cx="110966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425" b="0">
                <a:solidFill>
                  <a:srgbClr val="61718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425" b="0">
                <a:solidFill>
                  <a:srgbClr val="61718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617180"/>
                </a:solidFill>
                <a:latin typeface="Helvetica Neue"/>
                <a:ea typeface="Helvetica Neue"/>
                <a:cs typeface="Helvetica Neue"/>
              </a:rPr>
              <a:t>Four members contribute 40 hours each across a 160-hour forecast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9B6FCF1-27CE-4DFA-BD53-A41220E03D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10325"/>
            <a:ext cx="11125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E7"/>
          </a:solidFill>
          <a:ln xmlns:a="http://schemas.openxmlformats.org/drawingml/2006/main" w="9525">
            <a:solidFill>
              <a:srgbClr val="D8E1E7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7721DD7-7B44-4253-A4E4-B4DD65203A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477000"/>
            <a:ext cx="47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900" b="0">
                <a:solidFill>
                  <a:srgbClr val="61718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900" b="0">
                <a:solidFill>
                  <a:srgbClr val="617180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617180"/>
                </a:solidFill>
                <a:latin typeface="Helvetica Neue"/>
                <a:ea typeface="Helvetica Neue"/>
                <a:cs typeface="Helvetica Neue"/>
              </a:rPr>
              <a:t>10</a:t>
            </a:r>
          </a:p>
        </p:txBody>
      </p:sp>
      <p:graphicFrame>
        <p:nvGraphicFramePr>
          <p:cNvPr id="6" name="Chart">
            <a:extLst xmlns:a="http://schemas.openxmlformats.org/drawingml/2006/main">
              <a:ext uri="{FF2B5EF4-FFF2-40B4-BE49-F238E27FC236}">
                <a16:creationId xmlns:a16="http://schemas.microsoft.com/office/drawing/2014/main" id="{111306EB-6250-4DF5-840D-422F75F85BF6}"/>
              </a:ext>
            </a:extLst>
          </p:cNvPr>
          <p:cNvGraphicFramePr/>
          <p:nvPr/>
        </p:nvGraphicFramePr>
        <p:xfrm>
          <a:off xmlns:a="http://schemas.openxmlformats.org/drawingml/2006/main" x="523875" y="1762125"/>
          <a:ext xmlns:a="http://schemas.openxmlformats.org/drawingml/2006/main" cx="5572125" cy="357187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e14264fcd4134c44"/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31EEA30-9615-42D8-9402-347909ED0A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1790700"/>
            <a:ext cx="4000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3375" b="1">
                <a:solidFill>
                  <a:srgbClr val="183449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3375" b="1">
                <a:solidFill>
                  <a:srgbClr val="183449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75" b="1">
                <a:solidFill>
                  <a:srgbClr val="183449"/>
                </a:solidFill>
                <a:latin typeface="Helvetica Neue"/>
                <a:ea typeface="Helvetica Neue"/>
                <a:cs typeface="Helvetica Neue"/>
              </a:rPr>
              <a:t>160 hours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EAD5E8D-D931-4304-A50F-3ED7A801A7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2362200"/>
            <a:ext cx="4000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500" b="0">
                <a:solidFill>
                  <a:srgbClr val="61718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61718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617180"/>
                </a:solidFill>
                <a:latin typeface="Helvetica Neue"/>
                <a:ea typeface="Helvetica Neue"/>
                <a:cs typeface="Helvetica Neue"/>
              </a:rPr>
              <a:t>4 people × 10 working days × 4 hours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5F1015C-6337-406B-A939-A4D438967B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3086100"/>
            <a:ext cx="180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275" b="1">
                <a:solidFill>
                  <a:srgbClr val="16878A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275" b="1">
                <a:solidFill>
                  <a:srgbClr val="16878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16878A"/>
                </a:solidFill>
                <a:latin typeface="Helvetica Neue"/>
                <a:ea typeface="Helvetica Neue"/>
                <a:cs typeface="Helvetica Neue"/>
              </a:rPr>
              <a:t>Product analytics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F1E8460-7838-48A0-902E-071BB407D5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3086100"/>
            <a:ext cx="271462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200" b="0">
                <a:solidFill>
                  <a:srgbClr val="233746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23374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233746"/>
                </a:solidFill>
                <a:latin typeface="Helvetica Neue"/>
                <a:ea typeface="Helvetica Neue"/>
                <a:cs typeface="Helvetica Neue"/>
              </a:rPr>
              <a:t>Usage audit, enquiry categories and evidence log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469D14D-50FD-420C-9A04-B0A5E44C45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3590925"/>
            <a:ext cx="457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E7"/>
          </a:solidFill>
          <a:ln xmlns:a="http://schemas.openxmlformats.org/drawingml/2006/main" w="9525">
            <a:solidFill>
              <a:srgbClr val="D8E1E7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90C7DDF-BCB3-4600-AA02-960ADC4091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3743325"/>
            <a:ext cx="180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275" b="1">
                <a:solidFill>
                  <a:srgbClr val="35458B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275" b="1">
                <a:solidFill>
                  <a:srgbClr val="3545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35458B"/>
                </a:solidFill>
                <a:latin typeface="Helvetica Neue"/>
                <a:ea typeface="Helvetica Neue"/>
                <a:cs typeface="Helvetica Neue"/>
              </a:rPr>
              <a:t>Development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60E8833-21DD-4413-85F8-AD2DC9EAED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3743325"/>
            <a:ext cx="271462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200" b="0">
                <a:solidFill>
                  <a:srgbClr val="233746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23374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233746"/>
                </a:solidFill>
                <a:latin typeface="Helvetica Neue"/>
                <a:ea typeface="Helvetica Neue"/>
                <a:cs typeface="Helvetica Neue"/>
              </a:rPr>
              <a:t>HTML prototype and technical delivery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313808E-1778-4403-8662-964071DFEE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4248150"/>
            <a:ext cx="457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E7"/>
          </a:solidFill>
          <a:ln xmlns:a="http://schemas.openxmlformats.org/drawingml/2006/main" w="9525">
            <a:solidFill>
              <a:srgbClr val="D8E1E7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8CEBDAF-F887-4169-8B0B-EA43425AF1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4400550"/>
            <a:ext cx="180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275" b="1">
                <a:solidFill>
                  <a:srgbClr val="C37A25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275" b="1">
                <a:solidFill>
                  <a:srgbClr val="C37A2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C37A25"/>
                </a:solidFill>
                <a:latin typeface="Helvetica Neue"/>
                <a:ea typeface="Helvetica Neue"/>
                <a:cs typeface="Helvetica Neue"/>
              </a:rPr>
              <a:t>QA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0200DE7-AB54-4B64-9FA5-3A61DF498E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4400550"/>
            <a:ext cx="271462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200" b="0">
                <a:solidFill>
                  <a:srgbClr val="233746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23374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233746"/>
                </a:solidFill>
                <a:latin typeface="Helvetica Neue"/>
                <a:ea typeface="Helvetica Neue"/>
                <a:cs typeface="Helvetica Neue"/>
              </a:rPr>
              <a:t>Acceptance testing and user-flow improvement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2EA8763-791D-4EC9-B217-91AB1B8488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4905375"/>
            <a:ext cx="457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E7"/>
          </a:solidFill>
          <a:ln xmlns:a="http://schemas.openxmlformats.org/drawingml/2006/main" w="9525">
            <a:solidFill>
              <a:srgbClr val="D8E1E7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7869EEE-85E5-48DE-A391-790E154AB3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5057775"/>
            <a:ext cx="180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275" b="1">
                <a:solidFill>
                  <a:srgbClr val="8E1537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275" b="1">
                <a:solidFill>
                  <a:srgbClr val="8E153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8E1537"/>
                </a:solidFill>
                <a:latin typeface="Helvetica Neue"/>
                <a:ea typeface="Helvetica Neue"/>
                <a:cs typeface="Helvetica Neue"/>
              </a:rPr>
              <a:t>Content and L&amp;D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CCDC375-E39B-4DE1-B619-64EA777908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5057775"/>
            <a:ext cx="271462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200" b="0">
                <a:solidFill>
                  <a:srgbClr val="233746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23374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233746"/>
                </a:solidFill>
                <a:latin typeface="Helvetica Neue"/>
                <a:ea typeface="Helvetica Neue"/>
                <a:cs typeface="Helvetica Neue"/>
              </a:rPr>
              <a:t>Knowledge inputs and onboarding material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7EA6BB9-0AD8-43D2-BE99-35DA40D2A2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5562600"/>
            <a:ext cx="457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E7"/>
          </a:solidFill>
          <a:ln xmlns:a="http://schemas.openxmlformats.org/drawingml/2006/main" w="9525">
            <a:solidFill>
              <a:srgbClr val="D8E1E7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2373275-6CA1-411B-A5C9-7458E2843A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5867400"/>
            <a:ext cx="4476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050" b="0">
                <a:solidFill>
                  <a:srgbClr val="61718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050" b="0">
                <a:solidFill>
                  <a:srgbClr val="61718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617180"/>
                </a:solidFill>
                <a:latin typeface="Helvetica Neue"/>
                <a:ea typeface="Helvetica Neue"/>
                <a:cs typeface="Helvetica Neue"/>
              </a:rPr>
              <a:t>Forecast risk: staff review or missing procedures may reduce the number of finished backlog items.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414EA02-3403-45A2-825D-51F9A245FA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190500"/>
            <a:ext cx="114300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16878A"/>
          </a:solidFill>
          <a:ln xmlns:a="http://schemas.openxmlformats.org/drawingml/2006/main" w="9525">
            <a:solidFill>
              <a:srgbClr val="16878A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AEE12AE-C719-4C96-A0B1-0417C22C36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209550"/>
            <a:ext cx="990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0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0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SPRINT 1</a:t>
            </a:r>
          </a:p>
        </p:txBody>
      </p:sp>
    </p:spTree>
    <p:extLst>
      <p:ext uri="{BB962C8B-B14F-4D97-AF65-F5344CB8AC3E}">
        <p14:creationId xmlns:p14="http://schemas.microsoft.com/office/powerpoint/2010/main" val="1558468252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6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ECEC1B15-C0C7-4892-A1A4-0D9544AC83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28600"/>
            <a:ext cx="476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050" b="1">
                <a:solidFill>
                  <a:srgbClr val="16878A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050" b="1">
                <a:solidFill>
                  <a:srgbClr val="16878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16878A"/>
                </a:solidFill>
                <a:latin typeface="Helvetica Neue"/>
                <a:ea typeface="Helvetica Neue"/>
                <a:cs typeface="Helvetica Neue"/>
              </a:rPr>
              <a:t>CHECKPOINT SUMMARY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60F4F70-60BC-4ACF-8B87-11DCE84A94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42925"/>
            <a:ext cx="1109662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850" b="1">
                <a:solidFill>
                  <a:srgbClr val="183449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2850" b="1">
                <a:solidFill>
                  <a:srgbClr val="183449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>
                <a:solidFill>
                  <a:srgbClr val="183449"/>
                </a:solidFill>
                <a:latin typeface="Helvetica Neue"/>
                <a:ea typeface="Helvetica Neue"/>
                <a:cs typeface="Helvetica Neue"/>
              </a:rPr>
              <a:t>Five activities produce one testable product plan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DDF7FB0-643A-4C93-B732-E7C095280A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90625"/>
            <a:ext cx="110966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425" b="0">
                <a:solidFill>
                  <a:srgbClr val="61718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425" b="0">
                <a:solidFill>
                  <a:srgbClr val="61718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617180"/>
                </a:solidFill>
                <a:latin typeface="Helvetica Neue"/>
                <a:ea typeface="Helvetica Neue"/>
                <a:cs typeface="Helvetica Neue"/>
              </a:rPr>
              <a:t>The team enters the pilot with explicit ownership, evidence needs and decision rules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DA6CFDC-81E1-4E5D-9285-2AD18659F4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10325"/>
            <a:ext cx="11125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E7"/>
          </a:solidFill>
          <a:ln xmlns:a="http://schemas.openxmlformats.org/drawingml/2006/main" w="9525">
            <a:solidFill>
              <a:srgbClr val="D8E1E7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E3DC2F5-592F-4008-94E1-D3F9A366E7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477000"/>
            <a:ext cx="47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900" b="0">
                <a:solidFill>
                  <a:srgbClr val="61718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900" b="0">
                <a:solidFill>
                  <a:srgbClr val="617180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617180"/>
                </a:solidFill>
                <a:latin typeface="Helvetica Neue"/>
                <a:ea typeface="Helvetica Neue"/>
                <a:cs typeface="Helvetica Neue"/>
              </a:rPr>
              <a:t>11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9AA9395-978F-4409-A9B1-71A6A39E12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809750"/>
            <a:ext cx="52387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700" b="1">
                <a:solidFill>
                  <a:srgbClr val="183449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2700" b="1">
                <a:solidFill>
                  <a:srgbClr val="183449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00" b="1">
                <a:solidFill>
                  <a:srgbClr val="183449"/>
                </a:solidFill>
                <a:latin typeface="Helvetica Neue"/>
                <a:ea typeface="Helvetica Neue"/>
                <a:cs typeface="Helvetica Neue"/>
              </a:rPr>
              <a:t>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0537E91-FA45-4F91-BD06-CDFBEEDC32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1819275"/>
            <a:ext cx="1428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975" b="1">
                <a:solidFill>
                  <a:srgbClr val="183449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975" b="1">
                <a:solidFill>
                  <a:srgbClr val="183449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183449"/>
                </a:solidFill>
                <a:latin typeface="Helvetica Neue"/>
                <a:ea typeface="Helvetica Neue"/>
                <a:cs typeface="Helvetica Neue"/>
              </a:rPr>
              <a:t>PRODUCT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3B907AD-B30B-449B-B147-271D1BF3CF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133600"/>
            <a:ext cx="1476375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350" b="1">
                <a:solidFill>
                  <a:srgbClr val="233746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350" b="1">
                <a:solidFill>
                  <a:srgbClr val="23374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233746"/>
                </a:solidFill>
                <a:latin typeface="Helvetica Neue"/>
                <a:ea typeface="Helvetica Neue"/>
                <a:cs typeface="Helvetica Neue"/>
              </a:rPr>
              <a:t>Continuing support service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01F84C1-A936-48FA-9087-E37A57588F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05075" y="2076450"/>
            <a:ext cx="23812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E7"/>
          </a:solidFill>
          <a:ln xmlns:a="http://schemas.openxmlformats.org/drawingml/2006/main" w="9525">
            <a:solidFill>
              <a:srgbClr val="D8E1E7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D3E1123-2BB4-449A-BE1A-14C02D5ED6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1809750"/>
            <a:ext cx="52387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700" b="1">
                <a:solidFill>
                  <a:srgbClr val="16878A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2700" b="1">
                <a:solidFill>
                  <a:srgbClr val="16878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00" b="1">
                <a:solidFill>
                  <a:srgbClr val="16878A"/>
                </a:solidFill>
                <a:latin typeface="Helvetica Neue"/>
                <a:ea typeface="Helvetica Neue"/>
                <a:cs typeface="Helvetica Neue"/>
              </a:rPr>
              <a:t>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FB73CEA-ADC1-41BC-8728-6349CA08DB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1819275"/>
            <a:ext cx="1428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975" b="1">
                <a:solidFill>
                  <a:srgbClr val="16878A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975" b="1">
                <a:solidFill>
                  <a:srgbClr val="16878A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16878A"/>
                </a:solidFill>
                <a:latin typeface="Helvetica Neue"/>
                <a:ea typeface="Helvetica Neue"/>
                <a:cs typeface="Helvetica Neue"/>
              </a:rPr>
              <a:t>GOAL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FBC125D-7D29-4302-A1DB-03A3E61C3B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2133600"/>
            <a:ext cx="1476375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350" b="1">
                <a:solidFill>
                  <a:srgbClr val="233746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350" b="1">
                <a:solidFill>
                  <a:srgbClr val="23374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233746"/>
                </a:solidFill>
                <a:latin typeface="Helvetica Neue"/>
                <a:ea typeface="Helvetica Neue"/>
                <a:cs typeface="Helvetica Neue"/>
              </a:rPr>
              <a:t>Better completion with less follow-up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D80912F-B232-451A-8BF3-B2A010A742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2076450"/>
            <a:ext cx="23812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E7"/>
          </a:solidFill>
          <a:ln xmlns:a="http://schemas.openxmlformats.org/drawingml/2006/main" w="9525">
            <a:solidFill>
              <a:srgbClr val="D8E1E7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30605AD-F5ED-4A1B-8BD6-6A5F410268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809750"/>
            <a:ext cx="52387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700" b="1">
                <a:solidFill>
                  <a:srgbClr val="35458B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2700" b="1">
                <a:solidFill>
                  <a:srgbClr val="3545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00" b="1">
                <a:solidFill>
                  <a:srgbClr val="35458B"/>
                </a:solidFill>
                <a:latin typeface="Helvetica Neue"/>
                <a:ea typeface="Helvetica Neue"/>
                <a:cs typeface="Helvetica Neue"/>
              </a:rPr>
              <a:t>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7A5157D-559A-44A8-B197-C529040CA5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1819275"/>
            <a:ext cx="1428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975" b="1">
                <a:solidFill>
                  <a:srgbClr val="35458B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975" b="1">
                <a:solidFill>
                  <a:srgbClr val="3545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35458B"/>
                </a:solidFill>
                <a:latin typeface="Helvetica Neue"/>
                <a:ea typeface="Helvetica Neue"/>
                <a:cs typeface="Helvetica Neue"/>
              </a:rPr>
              <a:t>MVP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3B18762-BCB9-4825-A9BD-D3637CBE07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2133600"/>
            <a:ext cx="1476375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350" b="1">
                <a:solidFill>
                  <a:srgbClr val="233746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350" b="1">
                <a:solidFill>
                  <a:srgbClr val="23374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233746"/>
                </a:solidFill>
                <a:latin typeface="Helvetica Neue"/>
                <a:ea typeface="Helvetica Neue"/>
                <a:cs typeface="Helvetica Neue"/>
              </a:rPr>
              <a:t>30 students, three programmes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F712FB0-B261-4E18-823E-1EAB18AB9C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24675" y="2076450"/>
            <a:ext cx="23812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E7"/>
          </a:solidFill>
          <a:ln xmlns:a="http://schemas.openxmlformats.org/drawingml/2006/main" w="9525">
            <a:solidFill>
              <a:srgbClr val="D8E1E7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9295F83-91E4-4134-B53F-8589C5E7AC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1809750"/>
            <a:ext cx="52387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700" b="1">
                <a:solidFill>
                  <a:srgbClr val="C37A25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2700" b="1">
                <a:solidFill>
                  <a:srgbClr val="C37A25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00" b="1">
                <a:solidFill>
                  <a:srgbClr val="C37A25"/>
                </a:solidFill>
                <a:latin typeface="Helvetica Neue"/>
                <a:ea typeface="Helvetica Neue"/>
                <a:cs typeface="Helvetica Neue"/>
              </a:rPr>
              <a:t>4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0DCF84E-F223-41E5-AE61-2449AA8E95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1819275"/>
            <a:ext cx="1428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975" b="1">
                <a:solidFill>
                  <a:srgbClr val="C37A25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975" b="1">
                <a:solidFill>
                  <a:srgbClr val="C37A25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C37A25"/>
                </a:solidFill>
                <a:latin typeface="Helvetica Neue"/>
                <a:ea typeface="Helvetica Neue"/>
                <a:cs typeface="Helvetica Neue"/>
              </a:rPr>
              <a:t>BACKLOG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6936211-581A-48A9-B51C-9D331A6114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2133600"/>
            <a:ext cx="1476375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350" b="1">
                <a:solidFill>
                  <a:srgbClr val="233746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350" b="1">
                <a:solidFill>
                  <a:srgbClr val="23374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233746"/>
                </a:solidFill>
                <a:latin typeface="Helvetica Neue"/>
                <a:ea typeface="Helvetica Neue"/>
                <a:cs typeface="Helvetica Neue"/>
              </a:rPr>
              <a:t>Trusted content before AI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C153D30-8CCF-495D-B2E2-04F1AA933C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34475" y="2076450"/>
            <a:ext cx="23812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E7"/>
          </a:solidFill>
          <a:ln xmlns:a="http://schemas.openxmlformats.org/drawingml/2006/main" w="9525">
            <a:solidFill>
              <a:srgbClr val="D8E1E7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E1221F9-B81E-4E46-BA29-1456B91A2B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1809750"/>
            <a:ext cx="52387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700" b="1">
                <a:solidFill>
                  <a:srgbClr val="8E1537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2700" b="1">
                <a:solidFill>
                  <a:srgbClr val="8E1537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00" b="1">
                <a:solidFill>
                  <a:srgbClr val="8E1537"/>
                </a:solidFill>
                <a:latin typeface="Helvetica Neue"/>
                <a:ea typeface="Helvetica Neue"/>
                <a:cs typeface="Helvetica Neue"/>
              </a:rPr>
              <a:t>5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645D374-1F92-4B9F-B97A-DFC2D28BD2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5050" y="1819275"/>
            <a:ext cx="1428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975" b="1">
                <a:solidFill>
                  <a:srgbClr val="8E1537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975" b="1">
                <a:solidFill>
                  <a:srgbClr val="8E1537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8E1537"/>
                </a:solidFill>
                <a:latin typeface="Helvetica Neue"/>
                <a:ea typeface="Helvetica Neue"/>
                <a:cs typeface="Helvetica Neue"/>
              </a:rPr>
              <a:t>SPRINT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DB8E785-E697-486D-AF88-4DDF904393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5050" y="2133600"/>
            <a:ext cx="1476375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350" b="1">
                <a:solidFill>
                  <a:srgbClr val="233746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350" b="1">
                <a:solidFill>
                  <a:srgbClr val="23374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233746"/>
                </a:solidFill>
                <a:latin typeface="Helvetica Neue"/>
                <a:ea typeface="Helvetica Neue"/>
                <a:cs typeface="Helvetica Neue"/>
              </a:rPr>
              <a:t>160-hour two-week forecast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78DF9A5-0156-4C55-A3C9-E724E0601D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381375"/>
            <a:ext cx="11125200" cy="12192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7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8871850-50CF-4ED5-90F7-2CCCE3F9A0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590925"/>
            <a:ext cx="2190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050" b="1">
                <a:solidFill>
                  <a:srgbClr val="8E1537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050" b="1">
                <a:solidFill>
                  <a:srgbClr val="8E153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8E1537"/>
                </a:solidFill>
                <a:latin typeface="Helvetica Neue"/>
                <a:ea typeface="Helvetica Neue"/>
                <a:cs typeface="Helvetica Neue"/>
              </a:rPr>
              <a:t>DECISION REQUEST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B9A4FFC-6162-4F31-A2DB-EB08422534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933825"/>
            <a:ext cx="10477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950" b="1">
                <a:solidFill>
                  <a:srgbClr val="183449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950" b="1">
                <a:solidFill>
                  <a:srgbClr val="18344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183449"/>
                </a:solidFill>
                <a:latin typeface="Helvetica Neue"/>
                <a:ea typeface="Helvetica Neue"/>
                <a:cs typeface="Helvetica Neue"/>
              </a:rPr>
              <a:t>Approve a three-month HTML pilot that measures demand, routing quality, repeat contact and staff effort before any investment in live integration or autonomous AI.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91011CD-FAC1-4047-A099-5E37170196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095875"/>
            <a:ext cx="1571625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569C81"/>
          </a:solidFill>
          <a:ln xmlns:a="http://schemas.openxmlformats.org/drawingml/2006/main" w="9525">
            <a:solidFill>
              <a:srgbClr val="569C81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451EAFB-075F-43A7-91D1-6EA8C136CF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5114925"/>
            <a:ext cx="14192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0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0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CONTINUE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A80B4F9-98A5-471A-AEC7-540C589530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8875" y="5048250"/>
            <a:ext cx="16668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200" b="1">
                <a:solidFill>
                  <a:srgbClr val="233746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23374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233746"/>
                </a:solidFill>
                <a:latin typeface="Helvetica Neue"/>
                <a:ea typeface="Helvetica Neue"/>
                <a:cs typeface="Helvetica Neue"/>
              </a:rPr>
              <a:t>Evidence thresholds met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72AD529-5E21-4366-B5ED-12AA7F76C8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5095875"/>
            <a:ext cx="1571625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C37A25"/>
          </a:solidFill>
          <a:ln xmlns:a="http://schemas.openxmlformats.org/drawingml/2006/main" w="9525">
            <a:solidFill>
              <a:srgbClr val="C37A25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E65F9D0-53B6-481C-A345-84CDEDBA46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0075" y="5114925"/>
            <a:ext cx="14192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0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0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ADAPT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CF6203B-2D47-4FEC-925C-4CA4814C04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5048250"/>
            <a:ext cx="16668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200" b="1">
                <a:solidFill>
                  <a:srgbClr val="233746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23374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233746"/>
                </a:solidFill>
                <a:latin typeface="Helvetica Neue"/>
                <a:ea typeface="Helvetica Neue"/>
                <a:cs typeface="Helvetica Neue"/>
              </a:rPr>
              <a:t>Workflow or content needs repair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6432F140-7786-41E9-9A2F-89769B5FAA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5095875"/>
            <a:ext cx="1571625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8E1537"/>
          </a:solidFill>
          <a:ln xmlns:a="http://schemas.openxmlformats.org/drawingml/2006/main" w="9525">
            <a:solidFill>
              <a:srgbClr val="8E1537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551AB0F5-691D-4BDF-9281-EA2EDA1E1A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9575" y="5114925"/>
            <a:ext cx="14192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0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0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STOP AI LAYER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CCB3F27C-0472-4C19-9A28-744F5A648D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5048250"/>
            <a:ext cx="16668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200" b="1">
                <a:solidFill>
                  <a:srgbClr val="233746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23374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233746"/>
                </a:solidFill>
                <a:latin typeface="Helvetica Neue"/>
                <a:ea typeface="Helvetica Neue"/>
                <a:cs typeface="Helvetica Neue"/>
              </a:rPr>
              <a:t>Simpler guidance hub performs as well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39E67187-63BB-46E3-97C2-205A4B2F06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000750"/>
            <a:ext cx="10763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050" b="0">
                <a:solidFill>
                  <a:srgbClr val="61718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050" b="0">
                <a:solidFill>
                  <a:srgbClr val="61718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617180"/>
                </a:solidFill>
                <a:latin typeface="Helvetica Neue"/>
                <a:ea typeface="Helvetica Neue"/>
                <a:cs typeface="Helvetica Neue"/>
              </a:rPr>
              <a:t>Next evidence: weekly enquiry volume, routing baseline, repeat-contact baseline and staff handling time.</a:t>
            </a:r>
          </a:p>
        </p:txBody>
      </p:sp>
    </p:spTree>
    <p:extLst>
      <p:ext uri="{BB962C8B-B14F-4D97-AF65-F5344CB8AC3E}">
        <p14:creationId xmlns:p14="http://schemas.microsoft.com/office/powerpoint/2010/main" val="33570447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2026-10-14T06:23:29.1710000Z</dcterms:created>
  <dcterms:modified xsi:type="dcterms:W3CDTF">2026-10-14T06:23:29.1710000Z</dcterms:modified>
</coreProperties>
</file>