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4b143a3a674524" /><Relationship Type="http://schemas.openxmlformats.org/officeDocument/2006/relationships/extended-properties" Target="/docProps/app.xml" Id="R5ad17dd6f6e94c02" /><Relationship Type="http://schemas.openxmlformats.org/officeDocument/2006/relationships/officeDocument" Target="/ppt/presentation.xml" Id="R5a88dbece37a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9b44b95784a41"/>
  </p:sldMasterIdLst>
  <p:notesMasterIdLst>
    <p:notesMasterId xmlns:r="http://schemas.openxmlformats.org/officeDocument/2006/relationships" r:id="R6e68fa28a5e04ce9"/>
  </p:notesMasterIdLst>
  <p:sldIdLst>
    <p:sldId xmlns:r="http://schemas.openxmlformats.org/officeDocument/2006/relationships" id="256" r:id="R9281398a3c0c4722"/>
    <p:sldId xmlns:r="http://schemas.openxmlformats.org/officeDocument/2006/relationships" id="257" r:id="Reb778afbd0d5487b"/>
    <p:sldId xmlns:r="http://schemas.openxmlformats.org/officeDocument/2006/relationships" id="258" r:id="R7eca109f9b09483f"/>
    <p:sldId xmlns:r="http://schemas.openxmlformats.org/officeDocument/2006/relationships" id="259" r:id="R585529cad0df4d29"/>
    <p:sldId xmlns:r="http://schemas.openxmlformats.org/officeDocument/2006/relationships" id="260" r:id="R0c7d85fe254444e1"/>
    <p:sldId xmlns:r="http://schemas.openxmlformats.org/officeDocument/2006/relationships" id="261" r:id="R74e5d69436464092"/>
    <p:sldId xmlns:r="http://schemas.openxmlformats.org/officeDocument/2006/relationships" id="262" r:id="Rda2f84b585b148f4"/>
    <p:sldId xmlns:r="http://schemas.openxmlformats.org/officeDocument/2006/relationships" id="263" r:id="R1a6fedafe43742da"/>
    <p:sldId xmlns:r="http://schemas.openxmlformats.org/officeDocument/2006/relationships" id="264" r:id="R0ddba2eb6dc4486a"/>
    <p:sldId xmlns:r="http://schemas.openxmlformats.org/officeDocument/2006/relationships" id="265" r:id="R3fd0a2eac81940ed"/>
    <p:sldId xmlns:r="http://schemas.openxmlformats.org/officeDocument/2006/relationships" id="266" r:id="R22846888135140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cfce22c3d441b" /><Relationship Type="http://schemas.openxmlformats.org/officeDocument/2006/relationships/slideMaster" Target="/ppt/slideMasters/slideMaster1.xml" Id="R1bd9b44b95784a41" /><Relationship Type="http://schemas.openxmlformats.org/officeDocument/2006/relationships/notesMaster" Target="/ppt/notesMasters/notesMaster1.xml" Id="R6e68fa28a5e04ce9" /><Relationship Type="http://schemas.openxmlformats.org/officeDocument/2006/relationships/presProps" Target="/ppt/presProps.xml" Id="R834c741b804d4477" /><Relationship Type="http://schemas.openxmlformats.org/officeDocument/2006/relationships/tableStyles" Target="/ppt/tableStyles.xml" Id="Rfadb38c133a24abc" /><Relationship Type="http://schemas.openxmlformats.org/officeDocument/2006/relationships/slide" Target="/ppt/slides/slide1.xml" Id="R9281398a3c0c4722" /><Relationship Type="http://schemas.openxmlformats.org/officeDocument/2006/relationships/slide" Target="/ppt/slides/slide2.xml" Id="Reb778afbd0d5487b" /><Relationship Type="http://schemas.openxmlformats.org/officeDocument/2006/relationships/slide" Target="/ppt/slides/slide3.xml" Id="R7eca109f9b09483f" /><Relationship Type="http://schemas.openxmlformats.org/officeDocument/2006/relationships/slide" Target="/ppt/slides/slide4.xml" Id="R585529cad0df4d29" /><Relationship Type="http://schemas.openxmlformats.org/officeDocument/2006/relationships/slide" Target="/ppt/slides/slide5.xml" Id="R0c7d85fe254444e1" /><Relationship Type="http://schemas.openxmlformats.org/officeDocument/2006/relationships/slide" Target="/ppt/slides/slide6.xml" Id="R74e5d69436464092" /><Relationship Type="http://schemas.openxmlformats.org/officeDocument/2006/relationships/slide" Target="/ppt/slides/slide7.xml" Id="Rda2f84b585b148f4" /><Relationship Type="http://schemas.openxmlformats.org/officeDocument/2006/relationships/slide" Target="/ppt/slides/slide8.xml" Id="R1a6fedafe43742da" /><Relationship Type="http://schemas.openxmlformats.org/officeDocument/2006/relationships/slide" Target="/ppt/slides/slide9.xml" Id="R0ddba2eb6dc4486a" /><Relationship Type="http://schemas.openxmlformats.org/officeDocument/2006/relationships/slide" Target="/ppt/slides/slide10.xml" Id="R3fd0a2eac81940ed" /><Relationship Type="http://schemas.openxmlformats.org/officeDocument/2006/relationships/slide" Target="/ppt/slides/slide11.xml" Id="R22846888135140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346200f43246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2fa73a27464152" /><Relationship Type="http://schemas.openxmlformats.org/officeDocument/2006/relationships/notesMaster" Target="/ppt/notesMasters/notesMaster1.xml" Id="Rebae8342c2c444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407be3dcc04e47" /><Relationship Type="http://schemas.openxmlformats.org/officeDocument/2006/relationships/notesMaster" Target="/ppt/notesMasters/notesMaster1.xml" Id="R7f0d3f9bbc5948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9be1ba86a64c4b" /><Relationship Type="http://schemas.openxmlformats.org/officeDocument/2006/relationships/notesMaster" Target="/ppt/notesMasters/notesMaster1.xml" Id="R107d1bc38737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e5af2c03ec4a99" /><Relationship Type="http://schemas.openxmlformats.org/officeDocument/2006/relationships/notesMaster" Target="/ppt/notesMasters/notesMaster1.xml" Id="R040a9074355349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0543c73764ad5" /><Relationship Type="http://schemas.openxmlformats.org/officeDocument/2006/relationships/notesMaster" Target="/ppt/notesMasters/notesMaster1.xml" Id="R65fc1977981142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c0cb164a134fcf" /><Relationship Type="http://schemas.openxmlformats.org/officeDocument/2006/relationships/notesMaster" Target="/ppt/notesMasters/notesMaster1.xml" Id="Rb73488128e1a49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cf32a88cff463b" /><Relationship Type="http://schemas.openxmlformats.org/officeDocument/2006/relationships/notesMaster" Target="/ppt/notesMasters/notesMaster1.xml" Id="R287eabfe7b6c46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47932355504dac" /><Relationship Type="http://schemas.openxmlformats.org/officeDocument/2006/relationships/notesMaster" Target="/ppt/notesMasters/notesMaster1.xml" Id="R7fccfdc1699942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3d726e47564f48" /><Relationship Type="http://schemas.openxmlformats.org/officeDocument/2006/relationships/notesMaster" Target="/ppt/notesMasters/notesMaster1.xml" Id="Rd47576ec38d748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34961a6b44d5d" /><Relationship Type="http://schemas.openxmlformats.org/officeDocument/2006/relationships/notesMaster" Target="/ppt/notesMasters/notesMaster1.xml" Id="R9ba10f8992264f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02e48a43754f51" /><Relationship Type="http://schemas.openxmlformats.org/officeDocument/2006/relationships/notesMaster" Target="/ppt/notesMasters/notesMaster1.xml" Id="Rd05f6892cc88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Introduce the Week 5 checkpoint. The long-term product serves all programmes, while the MVP uses a 30-student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product scope is university-wide, while the pilot remains deliberately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Contrast a temporary chatbot project with a continuing student-support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Read the goal once, then explain how the measures avoid treating launch as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riskiest assumption: VNUK can maintain reliable guidance and route requests consistently.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Show that the MVP produces evidence for a decision rather than a feature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top five using value, risk, learning and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Use the four examples to show that the backlog is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what the team can finish with 160 hours and which dependencies could reduce the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allocation creates ownership but does not prevent collaboration.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Close by linking the five activities and asking for approval to validate the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369d2f4b04c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031b8405244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612e5241240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00fd5d54841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cebc3ec1841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cbd6074354e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001E8D-17E0-4C26-863B-354808A70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791A90-3674-4CEC-9443-5A6D13C125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4CE084-D5AD-4CB2-B2CE-81BE06353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165792-0B82-4097-840F-306F67B6B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73ACFE-378A-439E-9101-C317EC26FF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629720-CC16-4CF3-8467-F4EF9CA477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E37120-07E2-46B1-824F-6F2AACBCB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23EC95-6F8C-44DE-8563-94AF466746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17D12A-EFA6-4FD2-8912-3D014F7F5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E8FC80-5DF7-47F0-A3A3-DD7816E95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c5048a620b4dc4" /><Relationship Type="http://schemas.openxmlformats.org/officeDocument/2006/relationships/slideLayout" Target="/ppt/slideLayouts/slideLayout1.xml" Id="Rb5319e45700b4200" /><Relationship Type="http://schemas.openxmlformats.org/officeDocument/2006/relationships/slideLayout" Target="/ppt/slideLayouts/slideLayout2.xml" Id="Rf8c7dedec12441db" /><Relationship Type="http://schemas.openxmlformats.org/officeDocument/2006/relationships/slideLayout" Target="/ppt/slideLayouts/slideLayout3.xml" Id="Rf7f81bdc15a04ae0" /><Relationship Type="http://schemas.openxmlformats.org/officeDocument/2006/relationships/slideLayout" Target="/ppt/slideLayouts/slideLayout4.xml" Id="Rf4477dc9a1ea41b7" /><Relationship Type="http://schemas.openxmlformats.org/officeDocument/2006/relationships/slideLayout" Target="/ppt/slideLayouts/slideLayout5.xml" Id="R4eefbaa33bdc4263" /><Relationship Type="http://schemas.openxmlformats.org/officeDocument/2006/relationships/slideLayout" Target="/ppt/slideLayouts/slideLayout6.xml" Id="Rf8b99e717cc4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319e45700b4200"/>
    <p:sldLayoutId xmlns:r="http://schemas.openxmlformats.org/officeDocument/2006/relationships" id="2147483650" r:id="Rf8c7dedec12441db"/>
    <p:sldLayoutId xmlns:r="http://schemas.openxmlformats.org/officeDocument/2006/relationships" id="2147483651" r:id="Rf7f81bdc15a04ae0"/>
    <p:sldLayoutId xmlns:r="http://schemas.openxmlformats.org/officeDocument/2006/relationships" id="2147483652" r:id="Rf4477dc9a1ea41b7"/>
    <p:sldLayoutId xmlns:r="http://schemas.openxmlformats.org/officeDocument/2006/relationships" id="2147483653" r:id="R4eefbaa33bdc4263"/>
    <p:sldLayoutId xmlns:r="http://schemas.openxmlformats.org/officeDocument/2006/relationships" id="2147483654" r:id="Rf8b99e717cc4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313b1ba724adc" /><Relationship Type="http://schemas.openxmlformats.org/officeDocument/2006/relationships/notesSlide" Target="/ppt/notesSlides/notesSlide1.xml" Id="R241a7fa557bb40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266a78d9a451b" /><Relationship Type="http://schemas.openxmlformats.org/officeDocument/2006/relationships/chart" Target="/ppt/slides/charts/chart1.xml" Id="Rbe2bc4bfd98d4936" /><Relationship Type="http://schemas.openxmlformats.org/officeDocument/2006/relationships/notesSlide" Target="/ppt/notesSlides/notesSlide2.xml" Id="R84edb996160d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3862732f146e1" /><Relationship Type="http://schemas.openxmlformats.org/officeDocument/2006/relationships/notesSlide" Target="/ppt/notesSlides/notesSlide3.xml" Id="Rd2e6dd1ba84649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934dd386e44a1" /><Relationship Type="http://schemas.openxmlformats.org/officeDocument/2006/relationships/notesSlide" Target="/ppt/notesSlides/notesSlide4.xml" Id="Rc5105c66b83948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8d579fb98450d" /><Relationship Type="http://schemas.openxmlformats.org/officeDocument/2006/relationships/notesSlide" Target="/ppt/notesSlides/notesSlide5.xml" Id="Re47eb4db813146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184ce44fd4b78" /><Relationship Type="http://schemas.openxmlformats.org/officeDocument/2006/relationships/chart" Target="/ppt/slides/charts/chart2.xml" Id="Rf85e7fcab1844302" /><Relationship Type="http://schemas.openxmlformats.org/officeDocument/2006/relationships/notesSlide" Target="/ppt/notesSlides/notesSlide6.xml" Id="R556ed631d76048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ccd99dbef4408" /><Relationship Type="http://schemas.openxmlformats.org/officeDocument/2006/relationships/notesSlide" Target="/ppt/notesSlides/notesSlide7.xml" Id="R3e40dcbdd425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14d8921c64b13" /><Relationship Type="http://schemas.openxmlformats.org/officeDocument/2006/relationships/notesSlide" Target="/ppt/notesSlides/notesSlide8.xml" Id="R13bfa3c9781747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7f74a585544f0" /><Relationship Type="http://schemas.openxmlformats.org/officeDocument/2006/relationships/notesSlide" Target="/ppt/notesSlides/notesSlide9.xml" Id="Rcff7b98c68c34d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a0dc1f2d549e4" /><Relationship Type="http://schemas.openxmlformats.org/officeDocument/2006/relationships/chart" Target="/ppt/slides/charts/chart3.xml" Id="R9727eec3f5ee4b79" /><Relationship Type="http://schemas.openxmlformats.org/officeDocument/2006/relationships/notesSlide" Target="/ppt/notesSlides/notesSlide10.xml" Id="Rab24520b38cc4e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a1d58d88fa452f" /><Relationship Type="http://schemas.openxmlformats.org/officeDocument/2006/relationships/notesSlide" Target="/ppt/notesSlides/notesSlide11.xml" Id="Re3e71d56747543b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Relative demand index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Normal period</c:v>
                </c:pt>
                <c:pt idx="1">
                  <c:v>Peak period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175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Pilot students</c:v>
          </c:tx>
          <c:cat>
            <c:strRef>
              <c:f>'Chart Data'!$A$2:$A$4</c:f>
              <c:strCache>
                <c:ptCount val="3"/>
                <c:pt idx="0">
                  <c:v>CSE</c:v>
                </c:pt>
                <c:pt idx="1">
                  <c:v>IBM</c:v>
                </c:pt>
                <c:pt idx="2">
                  <c:v>BMS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Analytics and audit</c:v>
                </c:pt>
                <c:pt idx="1">
                  <c:v>Development</c:v>
                </c:pt>
                <c:pt idx="2">
                  <c:v>QA and user improvement</c:v>
                </c:pt>
                <c:pt idx="3">
                  <c:v>Content and learning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52448-47F2-44CE-8DF8-231C0B1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05021-7BF1-4BB9-84E0-7288608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DBB43005  DIGITAL INNOVATION AND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5D1D0-7787-478D-8C8F-D53E882C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Agile Product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D8674-0369-41A9-9B83-9481E3FE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Week 5 activities applied to the VNUK Student Support 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D7FA0-BB42-4EEA-993A-9C847774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E8C92-6117-4B7A-81FE-DBAE527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ACTIVITIES 1-5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C6B59-368A-4382-AAC1-2FF5332E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Backlog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Sprint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C2787-E41D-4D98-A6F5-523826B7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E8C33-A0D3-4869-AAC7-50EAF5DC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VNUK students in the long-term product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BD6D8-BF84-47DF-884C-B446FF2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75347-8882-47C0-9C54-D3B105B2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in the proposed MVP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C5D69-4235-481D-A8B6-A508DEA5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GROUP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50AA1-2DBB-4625-ABD4-A953665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1150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Liu Yu Han, Le Nguyen Thanh Hang, Tamás Pieskó, Zsombi Mester</a:t>
            </a:r>
          </a:p>
        </p:txBody>
      </p:sp>
    </p:spTree>
    <p:extLst>
      <p:ext uri="{BB962C8B-B14F-4D97-AF65-F5344CB8AC3E}">
        <p14:creationId xmlns:p14="http://schemas.microsoft.com/office/powerpoint/2010/main" val="1129346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F78893-CA6D-45A4-8BB3-6843E68A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EVIDENCE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C8089-320D-4C1C-8379-778300D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One university-wide product, tested with a small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2E79F-DD54-4D18-9AE4-7F3C1F80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Recorded evidence and team estimates define the first learning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C8984-F669-46C5-9A2F-F145C92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D9E9F-7A0D-40D4-854A-D297A88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E0B55-963E-4A01-AB6D-4E57C35F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3E001-5679-484A-A1A7-E97CDE25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across IBM, BMS and CSE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55686-FFF7-4427-A5B2-FED933DA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70-80%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CEA1B-8E9B-4E83-A767-6D6E8726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estimated rise in enquiries during peak periods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0D19C-5C4F-415D-BDA0-5BD05C3D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3A579-34C6-48BA-913B-2DCC124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usual administrative response expectation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B0980-EEDC-451E-8F7D-C8808A92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&gt;5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565AD-A761-4FAD-9ACA-8934CBE6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follow-up emails in some complex credit cases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79665-1B16-4BD8-A64F-6C2BD7A5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E3008-1415-493C-98E5-8E09A582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pilot students: 10 per programme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Product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05F13-71FB-44A0-9FAB-307AA95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Demand pattern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1C863CAF-AB90-4312-BCDF-CCF4FE1972B4}"/>
              </a:ext>
            </a:extLst>
          </p:cNvPr>
          <p:cNvGraphicFramePr/>
          <p:nvPr/>
        </p:nvGraphicFramePr>
        <p:xfrm>
          <a:off xmlns:a="http://schemas.openxmlformats.org/drawingml/2006/main" x="533400" y="4095750"/>
          <a:ext xmlns:a="http://schemas.openxmlformats.org/drawingml/2006/main" cx="5334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2bc4bfd98d4936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0442D-18F0-4445-BC6F-F92CC4D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Index uses the midpoint of the estimated 70-80% uplift.</a:t>
            </a:r>
          </a:p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Absolute enquiries per week remain to be measured.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C22FC-05F8-451A-BD7B-6F67D3F0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Priority request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0F578-12FE-48FA-83A7-C504C6D8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47DB5-FCAF-42A0-AF3D-DC3BF669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Credit registration and class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AA0B9-9E21-4A36-AAE5-17B18DAD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522BF-CB76-442A-A427-46A0A008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F5B5A-B095-4BD4-ABFF-EE24BEA7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Graduation and scholarship processes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FE9AA-3C55-43EF-B6D6-D59F998A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9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672A7-FF6C-4497-9235-23627DA8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2596E-4228-4008-AE8C-DAE5FA2D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57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Tuition, admission and enrolment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82203-73FC-4785-A0E7-C21C9D6E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00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0E709-B5EB-45D6-A2E2-F64960A6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BA36C-CBDB-4B3D-8C4D-36E0C56B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CSE project topics and supervisors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8C5EFE-93F0-4170-902B-D87C1D68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81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A2FCB-0800-4305-A119-F52FF355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3281D0-FBD3-4E3F-85CF-B78B3F89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19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department and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92C560-36EC-4A29-8A2A-7ED846E4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962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9584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488EEE-7867-4127-9F0E-7129840E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38B91-1C4F-4585-9846-17F52E98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The Student Support Hub as a digital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0B6D9-D662-4976-894E-77BAB6BE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Success depends on student outcomes and continuous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9B44C-DBE3-4382-A728-34F8DE4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09271-7587-4506-96A5-C6CA8340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7E808-CF66-4BDE-931E-F893BF27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D6E31-036E-434E-BABD-38931775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C553D-C0EB-4D05-BDFE-954DC151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an HTML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2C975-4BEF-42B1-8469-013AD38C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9DCA7-27F8-40C2-8759-4B9AC090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Deliver a fixed feature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F99A9-8815-4EE6-A637-08274E74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10A1A-BD0C-4E53-88B6-3B7C7ADD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Close after 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AD4A9-0DAE-4AED-A997-B1245E4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03F7B-0134-47AF-9E26-B5811E8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time and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D1588-351F-47DA-B873-62E12032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89D88-8967-4084-8A35-21643F60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Improve task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710C2-DD8E-4FF6-9740-ABD18DA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54C84-9AD1-4601-939F-52AD04C3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Adapt the backlog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7C769-2423-43A1-95AD-036EC405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1ED69-8519-4A04-B3C2-DFF6035E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Continue while the need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C65AC-5A97-42D0-ADCB-049DFCFC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F02DF-D7F7-4E6B-894A-225D6444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adoption and service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02A21-6476-4D58-996B-10743AA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5B0F0-FBF7-4985-9B95-BAE3D707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4000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C746E-A400-4476-8C2B-D45631D7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C1363-8077-4F74-A9BB-DEE75675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continuing VNUK service that helps students find the correct procedure, prepare a complete request and reach the responsible department.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971E20-A2CA-4A7F-A755-F5CB0BB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9FF2C-368A-4FEE-BE89-797E3907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939D4-44B8-4A0D-AB48-EF482D5A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IBM, BMS and CSE students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F0CA1-F195-47CB-8B7A-F424477B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6FC10F-A800-4DD7-B507-B390BBAB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7E043-9B07-4ED3-85C5-5DCCE456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Guidance, routing and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FA44AF-4FB1-4D25-B441-B7678518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2C0B9A-ADCF-44BC-9E88-6C9516F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A62929-8B1B-4209-BDBA-2D6E201F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Administration with IT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786623-57AD-4BF2-B28A-35E13132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526DAC-845E-4791-9DD5-6B957FDB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99F357-4CD3-4F21-91F9-6E34FE09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completion with less follow-up</a:t>
            </a:r>
          </a:p>
        </p:txBody>
      </p:sp>
    </p:spTree>
    <p:extLst>
      <p:ext uri="{BB962C8B-B14F-4D97-AF65-F5344CB8AC3E}">
        <p14:creationId xmlns:p14="http://schemas.microsoft.com/office/powerpoint/2010/main" val="258421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5BD35D-472D-4194-BC0F-2514F51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4986-BE76-4224-9CD5-6DDC577B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5C959-B9A8-4B24-82FC-FC25883D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 four-part goal connects the user need to measurable pilot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DADA6-14E6-4F35-B5A2-8A3E2785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16FDF-9313-407F-A37B-821E7702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20C12-BC63-4C80-9D82-3D573B76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611DE-6948-4CB4-B8FF-88856159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36995-9FF5-45A3-AA6A-389FDDE7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students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across IBM, BMS and CSE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309FF-4F51-44D0-B2B5-6DB2CC56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50CE1-9206-4863-9EB8-A80FE5F1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279AB-016A-40FD-8F3F-1DFAAC38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Access to correct procedures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responsible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24AF0-0698-4907-91C3-3F1F4AF1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BY ENABLING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FEBFD-683A-473C-B936-72941368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BC166-612A-4813-A287-187DB0AF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Central guidance, checklists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structured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1A013-65C7-457C-BD52-A41F6163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1AA36-29EB-45B7-A44F-F8C63F42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BE40B-AF42-4085-B55F-1BF5163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three-month pilot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with 30 students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5BE0A-B2BF-4065-9F7B-6B6B7CF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818BF8-868C-4086-A923-9BC3AC69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0E903-7923-4BDC-80FD-0EB09C5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Improve students’ ability to identify the correct procedure and complete the next action, while reducing avoidable follow-up and keeping staff effort sustainable.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E2969-EC39-4C29-98AC-99832769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≥95%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49AE6-578D-4385-B7FD-EA6FF581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65789-4233-48D4-96E9-7156B961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4FB40-8027-477C-A17A-72245588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critical wrong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74806-F105-4A76-9BB9-CCEF0C3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≥80%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98F22-1471-4685-8EE0-62BAFD0A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830C8-6559-4935-AD5B-293E0959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-20%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9DF6A-DE6A-4030-A5CA-9152B576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repeat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D411CF-C63B-478A-B624-1ACE97BD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E497A7-4A9A-4731-94FE-703A17C6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content with owner and review 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F63DE2-365F-4AE8-8422-DBB3A19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Targets require institutional agreement. Current repeat-contact and routing baselines remain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1132029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23F0A-811B-4F3A-8B37-F751E108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5EDEE-4D57-4EF5-AA0F-05E02858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ED568-F8C2-4E93-83BC-A731A83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test focuses on guidance and routing, with no live record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DDB85-F4D7-4436-84A8-8F7574B1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CEB02-7311-40F6-9887-91F261A2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54188-4196-4DCD-B6C9-C613AC1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RISKIEST ASSUMPTION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1E411-D8F7-4C85-823B-29DCF0F7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can turn dispersed email knowledge into approved guidance that staff can maintain.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6EE70-BA4E-4772-A83B-8519BC56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TARGET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DC48A-D5D5-4620-B197-604747B4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10 CSE, 10 IBM and 10 BMS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1AD59-2DBF-476B-98DD-7EB97EB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FD666-2D34-4735-A21B-94CF085F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JOURNEY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3AADD-795C-416C-BB54-EC69E44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Select request, see procedure, prepare request, reach the right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08165-41F4-44D8-A41B-9FD741B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1A5B8-4EF0-4ACC-AF66-017DB3B9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MVP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61F57-2ABF-4606-BEF3-475FD0CD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Wizard of Oz plus a process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EB755-B2E1-45D9-8A58-7A5289BB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EBFA0-03B7-49D4-A411-A5932A75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MINIMUM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F88C6-F768-4D05-B3F9-4766B4D9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Request categories, checklists, contacts, escalation and basic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C1DF3-2831-4019-8950-FE749CF5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63FB3-9FBC-47E5-BE3E-F9EC951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2DF31-21B0-43C5-92BC-1FC57A4F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Accuracy, routing, follow-up, task completion and staff effort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53125-9508-4A2A-8171-0428AA4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8115C-A4E1-4C52-92B2-6BF05C88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EXCLUSIONS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1022F-1274-446F-9925-CFC05FF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Live EMS changes, grades, tuition calculation and automated eligibility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9DCE4-434E-43F8-99FB-76525E95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9546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44888-1905-4F1F-B713-10A9E3E1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88E61-5912-4E7A-898C-0EF75BCE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evidence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0784F-457A-4528-8325-BE5CDD2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pilot combines a balanced student sample with three decision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6EE10-1563-4A9D-83AC-BA329877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D62F2-86DB-47D1-8095-7932B931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B6DD8AC-3D39-4AC6-BEA5-80B0E43464E5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3714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5e7fcab184430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CD751-5113-4090-84C8-1A7BC734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30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7C45B-BD12-4266-B0C7-EFB25B39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49315-F5E1-4FEC-85AC-F7BE078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204FB-2F10-4C1B-B583-51792957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621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F2784-0CEF-475D-A83B-8B3C70BC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240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Targets met and staff can maintain the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81E55-F07B-49C8-9C3A-2C12E612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3008F-1087-44E1-9F13-4F0B279D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004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E6F74-BBCC-4484-A89D-125C64A6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194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9BBA0-E102-437E-9BB0-5235CC8E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Value appears, but workflow or quality needs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B081E-268B-472B-BFE6-85177E86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933CE-8588-42B9-B199-C7BD8895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577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90E32-7DB6-41BE-8CC2-A0BF79E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767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0F6DD-28DC-4547-BBD3-5AE34EDC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simpler hub performs as well with less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4900C-F51B-42C7-B00C-D091D233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1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Three-month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EF56A-19CB-4F54-A4D5-834D3161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4360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8901B-3DFA-42D8-AB2E-00E79097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Month 1  Baseline and content     Month 2  Guided use     Month 3  Compare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4BD06-188B-45CF-928E-6E6AC126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623286-2A77-4178-ADDD-BDEC060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</p:spTree>
    <p:extLst>
      <p:ext uri="{BB962C8B-B14F-4D97-AF65-F5344CB8AC3E}">
        <p14:creationId xmlns:p14="http://schemas.microsoft.com/office/powerpoint/2010/main" val="2022546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B67DD-0CD5-47CA-A7F6-6C7EC498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7B597-36D4-4EDA-A37A-BBCE137B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Ordered Product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9EE4F-DE9B-4E85-93C0-E114D569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items establish trusted content before advanced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FA75F-966F-438A-AD51-E6EC983F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7A2C3-E281-4591-9CEE-C171ECAF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CE8F9-E39B-42E8-BD7A-BFEDA013F764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5286375"/>
                <a:gridCol w="2000250"/>
                <a:gridCol w="3076575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Backlog item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now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content model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Programme and request context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Procedure and next-step checklist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department and contact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escalation and case owner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request template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Content expiry and 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 test 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 analytics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 status visibility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Less follow-up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Privacy and retention controls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Conversational AI layer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option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23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9E68F-47E4-4E61-96FA-19F959DA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976C7-834A-403A-AB38-2419014C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Acceptance criteria for the top four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2C352-90DA-4694-8C46-E19307DC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Each item has an observable normal flow and a clear safety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903B1-A8EB-4461-8321-EC55BEF1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8D87C-5AF4-45DC-B631-5699A30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F51C6-33F2-414C-82B8-F76B39F2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48045-9036-4BD8-873D-A8916CEA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01  Approved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A30D3-DCA5-44C0-9F6A-15475AB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guidance item is proposed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staff publish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it has a source, owner, programme and review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34E5E-2B8D-41D7-9383-F06BF80E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6B964-800C-47BA-9739-E39A7AEA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02  Request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8DCB4-D0F7-4D5A-B1E5-D2AB41A2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student starts a request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programme and category are selected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only applicable guidance appears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FBFD4-AA15-4B4D-8FE1-45169390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4E0BE-1B03-4D90-951C-6EC294A5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03  Procedure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ADF5B-86C1-4297-A7FA-898E9557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approved guidance matches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opens the result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required steps and documents are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D5F14-7571-4354-AC1D-95EE927D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1AAFE-73A8-471E-A364-8AF3EA6C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04  Correct routing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44A26-90C6-4AAA-A798-C955025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the case needs staff help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submits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the responsible unit and expected response are shown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A4AC8-F6D2-4206-BE67-F111B8F4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D1108-6DD3-49C1-AD88-EA05F4B4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Shared safety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6BC8B-AD94-4151-A365-1452936E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14950"/>
            <a:ext cx="871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If approved guidance is missing or conflicting, the product stops and routes the request to staff. It does not infer an academic or financial decision.</a:t>
            </a:r>
          </a:p>
        </p:txBody>
      </p:sp>
    </p:spTree>
    <p:extLst>
      <p:ext uri="{BB962C8B-B14F-4D97-AF65-F5344CB8AC3E}">
        <p14:creationId xmlns:p14="http://schemas.microsoft.com/office/powerpoint/2010/main" val="613102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3EBDE-EE25-4429-A57A-91836978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98AC2-D54A-4F7C-81CD-A32FF37C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Goal and two-week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F6E26-37C0-4C14-8449-1466ADDD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Sprint creates a usable guidance and routing slice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ECA94-64B3-4AAE-979A-346632E0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240CE-C24C-476F-9F04-E2136004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DF543-EB32-498F-B7DE-0B80BADA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4D215-24D9-4EFF-9284-2A23155B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SPRINT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A76A5-9870-4A69-89BB-9C737FA5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24025"/>
            <a:ext cx="881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student selects a request, sees a verified procedure and reaches the responsible unit when staff help is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284D1-671A-4CF0-9A81-6BFB6140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9525">
            <a:solidFill>
              <a:srgbClr val="18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BCD15-3D87-42B0-87BB-E54A8857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DAYS 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9EE52-A4E7-4FB6-92D2-2A4204F7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Audit enquiries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confirm taxonomy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BEAEE-490F-49FB-B35A-99FAAB5F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4F904-3251-4A61-B92E-44C27A5D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DAYS 3-4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3EA61-AB54-4B86-8A00-E504BE1F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Structure guidance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content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9D9D7-EA78-4630-8EB6-98E2CAC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06488-E966-49B7-A95C-BCF8A5B8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DAYS 5-7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401B1-D4BB-4915-85C9-66EDF60E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the HTML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53B25-2B19-48AC-B69B-37D49741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2410A-4FBF-4868-AE10-B084D386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DAYS 8-9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69FA4-5424-4897-AA43-972B1F0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Run QA and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student usability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2703E-654C-4E89-9628-D1A29A2F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EE723-8092-4D46-8675-7CAC68EF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DAY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6A979-6675-48EC-912E-4680708B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update backlog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95516-BA40-4A93-9612-903B5066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Selected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E2FC4-4168-4FB5-8301-AD4E3C9C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Items 1-5 plus the initial accuracy test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F986D-A638-4398-A72B-46000D35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Main dependencies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163F81-6627-486A-9A6C-4A0D8C61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Approved procedures, staff reviewers and access to de-identified enquiry patterns</a:t>
            </a:r>
          </a:p>
        </p:txBody>
      </p:sp>
    </p:spTree>
    <p:extLst>
      <p:ext uri="{BB962C8B-B14F-4D97-AF65-F5344CB8AC3E}">
        <p14:creationId xmlns:p14="http://schemas.microsoft.com/office/powerpoint/2010/main" val="183145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91ED9-14C9-4877-B610-5C85107E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97738-6F13-4798-A8EB-F8793EF5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capacity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1076D-7FA1-44EC-9B65-83845A93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Four members contribute 40 hours each across a 160-hour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F8E87-926C-4053-A2CC-82687B12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C9058-C915-47D0-8C34-664124E2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9814151-CB4E-4B14-A480-ACA8F32D68F3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557212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27eec3f5ee4b7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8489A-0690-426C-B0C9-D8D2E8E5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160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7E68C-D1AF-4F13-B8E5-AF8D62AB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4 people × 10 working days × 4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4BA62-F913-41E8-B10D-55814CED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B4A94-51E9-4126-8A80-01F3F14B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Usage audit, enquiry categories and evidence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43855-3F0C-4204-A716-3E2A95EA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E8E4E-85DC-46A1-8542-E9C28B8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Development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50B26-B926-467F-B0C7-DD9B6570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433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prototype and technical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D1D3A-A6D1-4E41-8529-1022D89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9CBD4-FA65-4E15-86FE-4000719C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5FB0D-C197-420A-A80B-E18F95B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005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Acceptance testing and user-flow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D2FD4-5BA9-41C8-851B-E960CD23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F3B90-8A54-4050-9690-CF3FE760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Content and L&amp;D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4937D-4C62-47F1-909D-A75C2E07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5777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Knowledge inputs and onboarding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6CE2C-047B-407C-B707-A4E43F5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30D3D-7035-4BA6-AD33-BD23C1B4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67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Forecast risk: staff review or missing procedures may reduce the number of finished backlog items.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D0C9D-E2B5-4F34-8B89-6A08EB5B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05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5FEC2-8044-43F8-8727-C7D18435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9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SPRINT 1</a:t>
            </a:r>
          </a:p>
        </p:txBody>
      </p:sp>
    </p:spTree>
    <p:extLst>
      <p:ext uri="{BB962C8B-B14F-4D97-AF65-F5344CB8AC3E}">
        <p14:creationId xmlns:p14="http://schemas.microsoft.com/office/powerpoint/2010/main" val="4731577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8A01D9-2920-46D2-BC3C-6E4B955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CHECKPOINT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F993D-2794-449E-A6FD-E1EC1C41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Five activities produce one testable product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5BD1B-A94B-4AC0-8334-FC6B669D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team enters the pilot with explicit ownership, evidence needs and decision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CB9BF-38D9-4FB8-849B-16B98AD0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43F0-C7D2-4AEF-841F-F926CC90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C4DE9-2FD4-45EE-AA5B-199859B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741F9-33A7-4724-8286-7A36F7D5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B60D1-4AB7-4C08-9416-D591528B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Continuing support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483F8-5631-4FE2-A402-3BABE02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52DE9-2F15-4112-910E-B1F04B94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9B19C-611F-48CE-B937-2C319DD8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571BC-DAD8-4FE0-BA88-EAFED677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Better completion with less follow-up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5A643-4C67-4C11-AAA9-31EEE096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A024E-A034-479E-9648-E6BF94F2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F987A-A619-4C85-ABE2-DB7B2807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E29D5-B999-4244-9140-9A12CDED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30 students, three programmes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61DDE-53D1-485A-B6A4-E43B1EDA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D39F9-62E6-48C7-9F1D-0B66BB60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2CA51-0491-4EE1-AC9F-16AC38A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FDB94-A800-4F5D-91F0-605E8B94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Trusted content before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123B0-0987-4482-A1F5-885698E3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A0B37-125F-4AA7-B0F3-D34C10D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2C6C9-C3CD-47BE-984E-9D2B6253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SPRINT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D49EC-7734-4387-929D-37FB124A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160-hour two-week forecast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F79CD-B54D-465A-9447-03940FB9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ED861F-0912-4DE6-9763-8A2B7B3F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DECISION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31AC5B-F92B-4A45-A860-60F2393F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Approve a three-month HTML pilot that measures demand, routing quality, repeat contact and staff effort before any investment in live integration or autonomous AI.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7EA14-24D2-4A4C-B565-01C68B07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77E1C-CDAF-499D-B05E-E2879CB1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359921-7031-42EA-9C21-25030BEC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Evidence thresholds met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EB41FF-9CAE-4A0F-B95C-00C6A93F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1386D-0E25-419B-9337-CA5EFBF5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041FB-EC1F-44C7-85D5-30C9C65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Workflow or content needs repair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3C3A66-B3FC-409F-85CC-FC7212F7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A82DD0-3CF6-470A-87C6-76AF98DF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E94215-2A7E-451D-931A-9F9F0D4F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Simpler guidance hub performs as well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0DF936-4F2C-4FB0-BF51-905FCCC6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Next evidence: weekly enquiry volume, routing baseline, repeat-contact baseline and staff handling time.</a:t>
            </a:r>
          </a:p>
        </p:txBody>
      </p:sp>
    </p:spTree>
    <p:extLst>
      <p:ext uri="{BB962C8B-B14F-4D97-AF65-F5344CB8AC3E}">
        <p14:creationId xmlns:p14="http://schemas.microsoft.com/office/powerpoint/2010/main" val="196221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2026-10-14T06:22:05.7020000Z</dcterms:created>
  <dcterms:modified xsi:type="dcterms:W3CDTF">2026-10-14T06:22:05.7020000Z</dcterms:modified>
</coreProperties>
</file>