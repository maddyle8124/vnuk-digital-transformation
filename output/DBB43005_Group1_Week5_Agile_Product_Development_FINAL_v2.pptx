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e729cc1a6e4b4e" /><Relationship Type="http://schemas.openxmlformats.org/officeDocument/2006/relationships/extended-properties" Target="/docProps/app.xml" Id="Rcfa728d8fd4b4c44" /><Relationship Type="http://schemas.openxmlformats.org/officeDocument/2006/relationships/officeDocument" Target="/ppt/presentation.xml" Id="R11d05f6e258248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384cc013144475"/>
  </p:sldMasterIdLst>
  <p:notesMasterIdLst>
    <p:notesMasterId xmlns:r="http://schemas.openxmlformats.org/officeDocument/2006/relationships" r:id="Raf11180bc10042c6"/>
  </p:notesMasterIdLst>
  <p:sldIdLst>
    <p:sldId xmlns:r="http://schemas.openxmlformats.org/officeDocument/2006/relationships" id="256" r:id="Rfac71fa205204b27"/>
    <p:sldId xmlns:r="http://schemas.openxmlformats.org/officeDocument/2006/relationships" id="257" r:id="Rf7c8d33d519248ef"/>
    <p:sldId xmlns:r="http://schemas.openxmlformats.org/officeDocument/2006/relationships" id="258" r:id="R72ff47c70b65481b"/>
    <p:sldId xmlns:r="http://schemas.openxmlformats.org/officeDocument/2006/relationships" id="259" r:id="R0be1d59b35f6441c"/>
    <p:sldId xmlns:r="http://schemas.openxmlformats.org/officeDocument/2006/relationships" id="260" r:id="R38f8121f3b29471b"/>
    <p:sldId xmlns:r="http://schemas.openxmlformats.org/officeDocument/2006/relationships" id="261" r:id="Rf2e0e38a0708466d"/>
    <p:sldId xmlns:r="http://schemas.openxmlformats.org/officeDocument/2006/relationships" id="262" r:id="R734a2274c1be48a6"/>
    <p:sldId xmlns:r="http://schemas.openxmlformats.org/officeDocument/2006/relationships" id="263" r:id="R0f0ddd814ac54be5"/>
    <p:sldId xmlns:r="http://schemas.openxmlformats.org/officeDocument/2006/relationships" id="264" r:id="R3361b199b41347dd"/>
    <p:sldId xmlns:r="http://schemas.openxmlformats.org/officeDocument/2006/relationships" id="265" r:id="R591b1895c4594b98"/>
    <p:sldId xmlns:r="http://schemas.openxmlformats.org/officeDocument/2006/relationships" id="266" r:id="Rb4923aafdc6d49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caac1839194495" /><Relationship Type="http://schemas.openxmlformats.org/officeDocument/2006/relationships/slideMaster" Target="/ppt/slideMasters/slideMaster1.xml" Id="Rc3384cc013144475" /><Relationship Type="http://schemas.openxmlformats.org/officeDocument/2006/relationships/notesMaster" Target="/ppt/notesMasters/notesMaster1.xml" Id="Raf11180bc10042c6" /><Relationship Type="http://schemas.openxmlformats.org/officeDocument/2006/relationships/presProps" Target="/ppt/presProps.xml" Id="Rac10f4aef0b2451b" /><Relationship Type="http://schemas.openxmlformats.org/officeDocument/2006/relationships/tableStyles" Target="/ppt/tableStyles.xml" Id="R7f069213d198499d" /><Relationship Type="http://schemas.openxmlformats.org/officeDocument/2006/relationships/slide" Target="/ppt/slides/slide1.xml" Id="Rfac71fa205204b27" /><Relationship Type="http://schemas.openxmlformats.org/officeDocument/2006/relationships/slide" Target="/ppt/slides/slide2.xml" Id="Rf7c8d33d519248ef" /><Relationship Type="http://schemas.openxmlformats.org/officeDocument/2006/relationships/slide" Target="/ppt/slides/slide3.xml" Id="R72ff47c70b65481b" /><Relationship Type="http://schemas.openxmlformats.org/officeDocument/2006/relationships/slide" Target="/ppt/slides/slide4.xml" Id="R0be1d59b35f6441c" /><Relationship Type="http://schemas.openxmlformats.org/officeDocument/2006/relationships/slide" Target="/ppt/slides/slide5.xml" Id="R38f8121f3b29471b" /><Relationship Type="http://schemas.openxmlformats.org/officeDocument/2006/relationships/slide" Target="/ppt/slides/slide6.xml" Id="Rf2e0e38a0708466d" /><Relationship Type="http://schemas.openxmlformats.org/officeDocument/2006/relationships/slide" Target="/ppt/slides/slide7.xml" Id="R734a2274c1be48a6" /><Relationship Type="http://schemas.openxmlformats.org/officeDocument/2006/relationships/slide" Target="/ppt/slides/slide8.xml" Id="R0f0ddd814ac54be5" /><Relationship Type="http://schemas.openxmlformats.org/officeDocument/2006/relationships/slide" Target="/ppt/slides/slide9.xml" Id="R3361b199b41347dd" /><Relationship Type="http://schemas.openxmlformats.org/officeDocument/2006/relationships/slide" Target="/ppt/slides/slide10.xml" Id="R591b1895c4594b98" /><Relationship Type="http://schemas.openxmlformats.org/officeDocument/2006/relationships/slide" Target="/ppt/slides/slide11.xml" Id="Rb4923aafdc6d49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c610cadd974c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f4281fdd5d4bf1" /><Relationship Type="http://schemas.openxmlformats.org/officeDocument/2006/relationships/notesMaster" Target="/ppt/notesMasters/notesMaster1.xml" Id="Ra0249286fbd04c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4ff32a6acb4122" /><Relationship Type="http://schemas.openxmlformats.org/officeDocument/2006/relationships/notesMaster" Target="/ppt/notesMasters/notesMaster1.xml" Id="Rf2b66dc589da4b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8f446900e94d34" /><Relationship Type="http://schemas.openxmlformats.org/officeDocument/2006/relationships/notesMaster" Target="/ppt/notesMasters/notesMaster1.xml" Id="Ra62cdb883f5f49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afc4a24ee8487d" /><Relationship Type="http://schemas.openxmlformats.org/officeDocument/2006/relationships/notesMaster" Target="/ppt/notesMasters/notesMaster1.xml" Id="R66f298fdfe054a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03f3f5653642c7" /><Relationship Type="http://schemas.openxmlformats.org/officeDocument/2006/relationships/notesMaster" Target="/ppt/notesMasters/notesMaster1.xml" Id="R0979c1b09e0f4b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78425dd417423c" /><Relationship Type="http://schemas.openxmlformats.org/officeDocument/2006/relationships/notesMaster" Target="/ppt/notesMasters/notesMaster1.xml" Id="Re58c79ab58cf43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f6f19720c24067" /><Relationship Type="http://schemas.openxmlformats.org/officeDocument/2006/relationships/notesMaster" Target="/ppt/notesMasters/notesMaster1.xml" Id="Rb20894b3c0f74b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fcbceca8b645d7" /><Relationship Type="http://schemas.openxmlformats.org/officeDocument/2006/relationships/notesMaster" Target="/ppt/notesMasters/notesMaster1.xml" Id="R53dd21256f4743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310079113e4797" /><Relationship Type="http://schemas.openxmlformats.org/officeDocument/2006/relationships/notesMaster" Target="/ppt/notesMasters/notesMaster1.xml" Id="Rb97388ecfeb040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4634cc6ac745c0" /><Relationship Type="http://schemas.openxmlformats.org/officeDocument/2006/relationships/notesMaster" Target="/ppt/notesMasters/notesMaster1.xml" Id="Ra377902c92ce43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4f2a6dd9ca4789" /><Relationship Type="http://schemas.openxmlformats.org/officeDocument/2006/relationships/notesMaster" Target="/ppt/notesMasters/notesMaster1.xml" Id="Rd3a0ae43cba04e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Introduce the Week 5 checkpoint. The long-term product serves all programmes, while the MVP uses a 30-student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that the product scope is university-wide, while the pilot remains deliberately small.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Contrast a temporary chatbot project with a continuing student-support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Read the goal once, then explain how the measures avoid treating launch as success.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the riskiest assumption: VNUK can maintain reliable guidance and route requests consistently.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Show that the MVP produces evidence for a decision rather than a feature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the top five using value, risk, learning and dependency.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Use the four examples to show that the backlog is testable.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what the team can finish with 160 hours and which dependencies could reduce the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that the allocation creates ownership but does not prevent collaboration.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Close by linking the five activities and asking for approval to validate the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9d16dc5c647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c15e903b54b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76d70f4c548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58cd68e154f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32eef9e3149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bac8660a446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DEDC46-2AC6-4603-AF75-7A74FD6D96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2932C06-3FBE-4568-A4AE-1F4058A297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76E0A7-14C1-4027-B686-7A3703302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90D074-E0DB-446A-961A-E52A162564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23F3812-86F4-4CEB-92C2-0B0497D4C4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7585EC-CE5D-4245-93F8-F4B348A457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68417E-4202-43B0-A95C-0910AD16DD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7ABD6F-66CF-46A4-A916-D421C75479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9A493B-B5E5-4447-B3DB-3FF3B37B3D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AFF9C3-6AF9-4D12-B53E-81A720B8A6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fb3703928642ad" /><Relationship Type="http://schemas.openxmlformats.org/officeDocument/2006/relationships/slideLayout" Target="/ppt/slideLayouts/slideLayout1.xml" Id="R1b246486181a4181" /><Relationship Type="http://schemas.openxmlformats.org/officeDocument/2006/relationships/slideLayout" Target="/ppt/slideLayouts/slideLayout2.xml" Id="Rb6f135aee4274760" /><Relationship Type="http://schemas.openxmlformats.org/officeDocument/2006/relationships/slideLayout" Target="/ppt/slideLayouts/slideLayout3.xml" Id="R66d5b27412cf4130" /><Relationship Type="http://schemas.openxmlformats.org/officeDocument/2006/relationships/slideLayout" Target="/ppt/slideLayouts/slideLayout4.xml" Id="R33e4dd3ffdf04b78" /><Relationship Type="http://schemas.openxmlformats.org/officeDocument/2006/relationships/slideLayout" Target="/ppt/slideLayouts/slideLayout5.xml" Id="R01acf1ac9db64f63" /><Relationship Type="http://schemas.openxmlformats.org/officeDocument/2006/relationships/slideLayout" Target="/ppt/slideLayouts/slideLayout6.xml" Id="Rb90bb5c1e8ff46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246486181a4181"/>
    <p:sldLayoutId xmlns:r="http://schemas.openxmlformats.org/officeDocument/2006/relationships" id="2147483650" r:id="Rb6f135aee4274760"/>
    <p:sldLayoutId xmlns:r="http://schemas.openxmlformats.org/officeDocument/2006/relationships" id="2147483651" r:id="R66d5b27412cf4130"/>
    <p:sldLayoutId xmlns:r="http://schemas.openxmlformats.org/officeDocument/2006/relationships" id="2147483652" r:id="R33e4dd3ffdf04b78"/>
    <p:sldLayoutId xmlns:r="http://schemas.openxmlformats.org/officeDocument/2006/relationships" id="2147483653" r:id="R01acf1ac9db64f63"/>
    <p:sldLayoutId xmlns:r="http://schemas.openxmlformats.org/officeDocument/2006/relationships" id="2147483654" r:id="Rb90bb5c1e8ff46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e250b84d924148" /><Relationship Type="http://schemas.openxmlformats.org/officeDocument/2006/relationships/notesSlide" Target="/ppt/notesSlides/notesSlide1.xml" Id="R7079a3975ca049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ba852af8b4bce" /><Relationship Type="http://schemas.openxmlformats.org/officeDocument/2006/relationships/chart" Target="/ppt/slides/charts/chart1.xml" Id="R4bb1a4234da94b6f" /><Relationship Type="http://schemas.openxmlformats.org/officeDocument/2006/relationships/notesSlide" Target="/ppt/notesSlides/notesSlide2.xml" Id="R99c8a08af22a40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eeb58dc4144e89" /><Relationship Type="http://schemas.openxmlformats.org/officeDocument/2006/relationships/notesSlide" Target="/ppt/notesSlides/notesSlide3.xml" Id="R89ecbd6cf2364b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6558912984b9f" /><Relationship Type="http://schemas.openxmlformats.org/officeDocument/2006/relationships/notesSlide" Target="/ppt/notesSlides/notesSlide4.xml" Id="Ra782b6bde48640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4b4531cb24c08" /><Relationship Type="http://schemas.openxmlformats.org/officeDocument/2006/relationships/notesSlide" Target="/ppt/notesSlides/notesSlide5.xml" Id="R02a4a354e95b42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7f22208be14b80" /><Relationship Type="http://schemas.openxmlformats.org/officeDocument/2006/relationships/chart" Target="/ppt/slides/charts/chart2.xml" Id="R0389dd5f72244363" /><Relationship Type="http://schemas.openxmlformats.org/officeDocument/2006/relationships/notesSlide" Target="/ppt/notesSlides/notesSlide6.xml" Id="Rdfe4e9f8d76740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07a05b98d54bbe" /><Relationship Type="http://schemas.openxmlformats.org/officeDocument/2006/relationships/notesSlide" Target="/ppt/notesSlides/notesSlide7.xml" Id="R48d43b75c6c64a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8462b5d8ad4137" /><Relationship Type="http://schemas.openxmlformats.org/officeDocument/2006/relationships/notesSlide" Target="/ppt/notesSlides/notesSlide8.xml" Id="R4da2c7f6105b45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4a513395ec4aed" /><Relationship Type="http://schemas.openxmlformats.org/officeDocument/2006/relationships/notesSlide" Target="/ppt/notesSlides/notesSlide9.xml" Id="Rbfb132fb23ed44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9e429513642cf" /><Relationship Type="http://schemas.openxmlformats.org/officeDocument/2006/relationships/chart" Target="/ppt/slides/charts/chart3.xml" Id="Re5270894a26942c6" /><Relationship Type="http://schemas.openxmlformats.org/officeDocument/2006/relationships/notesSlide" Target="/ppt/notesSlides/notesSlide10.xml" Id="R6888b2cf0a3d4a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d1ee2561304fb7" /><Relationship Type="http://schemas.openxmlformats.org/officeDocument/2006/relationships/notesSlide" Target="/ppt/notesSlides/notesSlide11.xml" Id="R69a6bcd4345848e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Relative demand index</c:v>
          </c:tx>
          <c:spPr>
            <a:solidFill xmlns:a="http://schemas.openxmlformats.org/drawingml/2006/main">
              <a:srgbClr val="16878A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Normal period</c:v>
                </c:pt>
                <c:pt idx="1">
                  <c:v>Peak period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100</c:v>
                </c:pt>
                <c:pt idx="1">
                  <c:v>175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Pilot students</c:v>
          </c:tx>
          <c:cat>
            <c:strRef>
              <c:f>'Chart Data'!$A$2:$A$4</c:f>
              <c:strCache>
                <c:ptCount val="3"/>
                <c:pt idx="0">
                  <c:v>CSE</c:v>
                </c:pt>
                <c:pt idx="1">
                  <c:v>IBM</c:v>
                </c:pt>
                <c:pt idx="2">
                  <c:v>BMS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1"/>
          <c:showSerName val="0"/>
          <c:showPercent val="0"/>
          <c:showBubbleSize val="0"/>
          <c:showLeaderLines val="0"/>
        </c:dLbls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Hours</c:v>
          </c:tx>
          <c:spPr>
            <a:solidFill xmlns:a="http://schemas.openxmlformats.org/drawingml/2006/main">
              <a:srgbClr val="16878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Analytics and audit</c:v>
                </c:pt>
                <c:pt idx="1">
                  <c:v>Development</c:v>
                </c:pt>
                <c:pt idx="2">
                  <c:v>QA and user improvement</c:v>
                </c:pt>
                <c:pt idx="3">
                  <c:v>Content and learning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A41CA-89BA-47C6-9250-FD65BCAC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868B7-B60D-4478-ABB1-ADAFA626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DBB43005  DIGITAL INNOVATION AND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C7002-EDE1-407E-93E8-190ACE9F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Agile Product 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B4405-DB2F-41BC-A792-D2753CCF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Week 5 activities applied to the VNUK Student Support 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6FF5C-EECC-4F7A-8C93-C9C24172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EB067-9F3A-498B-AEA1-A994C7C2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ACTIVITIES 1-5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D79A3-8AC9-447B-8529-23785AD4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4762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definition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Backlog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Sprint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C5D42-041C-412A-BE19-F9A87DA0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718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1,200+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1B4B9-1725-4D5F-9E37-A96C4581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VNUK students in the long-term product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F8853-A1CE-406C-A886-BDD40C26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5718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20AD1-04FE-416C-8E33-4EA32EE6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9100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students in the proposed MVP sample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C128D-57DF-4CB9-A21D-609F72EF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GROUP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FB854-74DE-41B1-B9D7-46547643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1150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Liu Yu Han, Le Nguyen Thanh Hang, Tamás Pieskó, Zsombi Mester</a:t>
            </a:r>
          </a:p>
        </p:txBody>
      </p:sp>
    </p:spTree>
    <p:extLst>
      <p:ext uri="{BB962C8B-B14F-4D97-AF65-F5344CB8AC3E}">
        <p14:creationId xmlns:p14="http://schemas.microsoft.com/office/powerpoint/2010/main" val="1032823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5FDB1C-09FD-4E55-972D-033803FE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EVIDENCE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27AED-096B-4374-9B26-90BB2829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One university-wide product, tested with a small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19812-9427-4902-8A1C-21786E77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Recorded evidence and team estimates define the first learning 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EA330-2B92-46DF-BD81-65818CE7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2EC68-E4D0-4038-A681-57B19AB1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AC2D2-9127-4DE6-878E-40AFE7D2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1,200+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9E872-3E07-48B4-9B69-FD2F3957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students across IBM, BMS and CSE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539A8-BF03-41D8-8004-83F342F7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70-80%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262F7-0563-4603-AF72-6119A336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estimated rise in enquiries during peak periods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D75F8-E2AA-4E42-966A-0CAA7C51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1 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F9DED-6E80-41CD-B483-AFBD3339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usual administrative response expectation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1894B-B0C2-4781-838E-08F4D408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&gt;5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44D3C-8525-418F-B4FA-34569BFD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follow-up emails in some complex credit cases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34589-F5FE-4B88-B528-68984517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7D01A-D664-45EE-A6CC-E9A63094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pilot students: 10 per programme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Product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1E2C0-1A95-479C-8198-6BBF8DA2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Demand pattern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8B5A4F81-7087-4C99-8F46-E2D958BCA8E2}"/>
              </a:ext>
            </a:extLst>
          </p:cNvPr>
          <p:cNvGraphicFramePr/>
          <p:nvPr/>
        </p:nvGraphicFramePr>
        <p:xfrm>
          <a:off xmlns:a="http://schemas.openxmlformats.org/drawingml/2006/main" x="533400" y="4095750"/>
          <a:ext xmlns:a="http://schemas.openxmlformats.org/drawingml/2006/main" cx="5334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b1a4234da94b6f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BCACA-C263-4986-AAF9-A0C2636C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Index uses the midpoint of the estimated 70-80% uplift.</a:t>
            </a:r>
          </a:p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Absolute enquiries per week remain to be measured.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C0B19-8A23-4DC3-9368-8CFC339E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Priority request categories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C9C6D3-4941-4936-81ED-DB6E7837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38AC6-1EB6-4F16-B38E-2FF831D2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95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Credit registration and class changes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40CB8-F783-44C2-8171-3974EBDA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2EFF8-4D1E-4EA0-B3BE-CF38EF31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95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1033E-EBFF-4162-A97D-13D441FA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76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Graduation and scholarship processes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0721C1-0A2A-493F-A1A9-7E49899F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19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41C1ED-36D0-4D3E-A661-C5389F9E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A40681-C4DD-4823-AD8C-0FC6B20E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57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Tuition, admission and enrolment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4F8D99-DCA0-48A9-ADB2-B97679FB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00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82ADC6-D3A0-41F0-90E2-964BEE32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9FA353-9B62-41CA-A873-6BB42226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38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CSE project topics and supervisors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C58BA-E5D1-4FB1-8033-202120A9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81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A53CE9-BC98-4756-A787-1F3D97F0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38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B2EBEE-B1CD-4ACE-90D8-6FB9A766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619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Correct department and contact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4CD97A-0625-4F08-B3E5-EE94DCAB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962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2776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AB8465-41E0-45F0-97FD-93CD0504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1314B-1C18-494E-A4C8-A4A1D6BE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The Student Support Hub as a digital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68244-7884-4E04-A2FF-61EBF3B0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Success depends on student outcomes and continuous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6C20E-A19E-41FA-8E40-94B5FCB7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6789F-1E5F-4A11-BAF5-D6343355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605FE-AB56-4946-8EFF-E1BDE3D8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A5325-5B51-4928-B144-39EC91F1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4FE45-BF33-477C-8C19-E522DBC1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Build an HTML portal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65045-FF57-443C-A668-E52B4F17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717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41A33-419F-44B0-BB7A-61AD821F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Deliver a fixed feature 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0A1A8-89E5-4772-975D-5ABFEEFF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242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A59ED-A991-422B-ABD7-AAE5145B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Close after acceptance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9C1FA-698E-42E1-81EE-3AC513CE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766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50739-3FBA-457C-AE9B-5EBCD6CE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909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Measure time and budget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3513F-CF33-4ED7-A662-A0A41D7D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5D808-893D-4C9A-AE61-FA8B49FB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Improve task completion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6E5B7-7296-4792-92DF-920E0BFD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717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1CDA2-28AA-4535-81CD-3C4A119F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86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Adapt the backlog with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22563-A275-484E-A67A-8D1533C7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242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5748D-5FF9-487A-AAF6-5A4D4FD0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38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Continue while the need exists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85260-CC37-490B-B000-C07B1CF4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766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8CB14B-E5A5-423B-8CC4-CE62F0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909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Measure adoption and service outcomes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26BDE-454B-4F93-8F66-F86C80D1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291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316D9-D3A2-4A68-97BF-569DEC06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40005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38B961-4F4A-4F06-94F1-05A430E3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241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DEFINITION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8A23D9-8060-4E99-A88C-4912EA88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00350"/>
            <a:ext cx="3333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continuing VNUK service that helps students find the correct procedure, prepare a complete request and reach the responsible department.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40CC55-BDDC-4F5F-B9A3-C8CA9877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6A39D-B1D3-480B-A096-435406AD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EBBFC0-EE22-4799-8B43-9F526E94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IBM, BMS and CSE students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E6F6E3-3CDF-40A6-8DFC-5BBEAA73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BC846C-0CA4-457F-81BE-069D7AB2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CD006-D04A-4533-86F7-FF56BC29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Guidance, routing and 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FAACCC-F791-48B0-999B-3038D7F5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DF0F1A-157F-4BF3-A137-55664E6F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Owner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69B81B-F84C-4BE9-A299-F2208EFD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Administration with IT support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0DC940-6DCA-45E6-A351-05173776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9160AC-2F92-4BD9-AF0F-ECB1E8E7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Success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855788-C252-4CDA-89A7-C3876B55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Correct completion with less follow-up</a:t>
            </a:r>
          </a:p>
        </p:txBody>
      </p:sp>
    </p:spTree>
    <p:extLst>
      <p:ext uri="{BB962C8B-B14F-4D97-AF65-F5344CB8AC3E}">
        <p14:creationId xmlns:p14="http://schemas.microsoft.com/office/powerpoint/2010/main" val="53542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10FA22-8526-4D65-900E-4109E465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E0700-7CE6-453E-B922-957901C0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DD50A-7E25-41AB-931F-D40E30AA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A four-part goal connects the user need to measurable pilot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549E0-24A9-47B5-A58B-9DBD68CD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C852B-8392-4E9F-A6A3-2896D272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D9D09-5E64-436D-9233-DE7A1C0A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FOR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53BD0-EE87-4765-89CF-7F230026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91FE6-1A0C-4909-A2BA-43C2B301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VNUK students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across IBM, BMS and CSE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4F188-64F6-4EE0-B6EC-0E941BE3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IMPROVE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6BE8A-7085-478D-B3C2-40C0D050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2D30C-9DA0-4C33-A1FD-84A7F449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Access to correct procedures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and responsible contacts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EE032-7D70-42B5-A3DE-881B9984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BY ENABLING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41E6D-A703-45E3-96A4-EB53B968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BBF45-0780-4A34-9C2E-A04F0EBA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Central guidance, checklists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and structured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73340-1C74-4F9D-8607-F6E6D3F0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F6840-5D4F-48AE-B119-858DDE12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ACA04-E447-4287-A895-BC92DE0E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three-month pilot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with 30 students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6F9EA-D144-4917-9D83-DA585C79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111252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56C40-1E23-42B0-8782-FBCEB0D3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42129-B4DC-4A84-8A6C-AC037EB6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Improve students’ ability to identify the correct procedure and complete the next action, while reducing avoidable follow-up and keeping staff effort sustainable.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AC04C-7FC0-4931-AC66-55D9B216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≥95%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9C2E80-9750-4754-A974-21AD4828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correct guidance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2E20D-B8BE-40D0-A303-0B2CF081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53E184-A08C-4173-88AC-D365AFBE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critical wrong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334AA-F877-4C3C-8DF9-A4BE6C22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≥80%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130239-FAAE-40BE-B905-564BA33D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correct routing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867F98-CF43-4B02-A826-08E4A49A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-20%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4BBA92-5466-4677-BF93-F8635792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repeat contacts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E397A-5678-463A-9B0F-40032212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8331C9-1B48-4BB1-A4DF-A6FD0371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content with owner and review 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B0A37F-D0AB-49D8-A20C-435FD5C6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23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Targets require institutional agreement. Current repeat-contact and routing baselines remain to be measured.</a:t>
            </a:r>
          </a:p>
        </p:txBody>
      </p:sp>
    </p:spTree>
    <p:extLst>
      <p:ext uri="{BB962C8B-B14F-4D97-AF65-F5344CB8AC3E}">
        <p14:creationId xmlns:p14="http://schemas.microsoft.com/office/powerpoint/2010/main" val="11312287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734E62-1641-4F69-BC4C-7D6EE4BF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9CB35-431F-4795-A3DE-5131D6CA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MVP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D398E-D983-48A9-BD95-46598A4C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test focuses on guidance and routing, with no live record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3B950-36AE-4D31-AAC5-677CC7C4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024FA-049A-4D80-A3AF-C0AB444F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4BF98-68D7-45AC-88B9-C009D987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RISKIEST ASSUMPTION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3D620-2741-4928-B09C-DAC4880A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VNUK can turn dispersed email knowledge into approved guidance that staff can maintain.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C9696-8A2B-4DEE-BAF5-A81E2DB5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TARGET 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FBA6A-1252-4A04-99C4-24DC24BA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10 CSE, 10 IBM and 10 BMS students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57633-049B-466F-89FA-24D3B43A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242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681E3-A301-42C1-B0B4-9AD000A6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JOURNEY SLICE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0FD19-2089-4740-9D0F-DD71C75E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Select request, see procedure, prepare request, reach the right unit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CB14B-0BA7-48C0-92E8-9679E535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242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A47E3-5DEC-4CC1-A2B2-F2CCFFF1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MVP PATTERN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5A013-6EEB-4EEE-AAC2-ED94D805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62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HTML Wizard of Oz plus a process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66322-3AFE-407F-9FC0-7AC8C01D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958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F1CD8-E077-4D04-A1FB-D24916F8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rPr>
              <a:t>MINIMUM 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8C2E4-37FA-4949-9FDF-9BC8D4F9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Request categories, checklists, contacts, escalation and basic 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A97B1-741A-4696-AF3E-3CA50354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958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9A395-6111-4FE6-8843-1AE17D1D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E88894-190E-4A87-88B7-96FA593B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Accuracy, routing, follow-up, task completion and staff effort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29DA00-8D3F-44B7-B5AB-49052FDE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B7E522-540F-4280-B24E-28F4A7CB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EXCLUSIONS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BA86D-FC22-4B63-A79A-0A03FC0C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577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Live EMS changes, grades, tuition calculation and automated eligibility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9BCF40-6C00-42D9-A491-50453292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673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15721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A03CDF-91AB-4427-98D2-526771B9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ACC88-C246-4679-B14D-8705BD5F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MVP evidence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97F34-31DE-4742-A4B4-1EC1D48A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pilot combines a balanced student sample with three decision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350D3-504A-4AE5-B5F8-33C6B10E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89E0B-D7EE-4D79-8102-9580FD1A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733D30E-8ABC-4BAD-89E4-1402454AD802}"/>
              </a:ext>
            </a:extLst>
          </p:cNvPr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37147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89dd5f7224436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A65F3-582C-4AD4-986D-E3297842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67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30 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D38D3-6183-413A-924B-1AAF600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A7765-17B6-483E-A12F-48A53146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431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69C81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B6CFC-ECBE-4E78-9496-AE213541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1621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CONTINUE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0339A-A30F-4006-B550-71343D73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240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Targets met and staff can maintain the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19E2C-6790-47C4-BB87-61E744C1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99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A7D40-56E9-4467-A731-210D92AF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004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BE15D-338C-494B-BAA8-780AE469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194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ADAPT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BAD0E-22C8-401A-88BE-2681544B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Value appears, but workflow or quality needs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E815CC-BA02-4D94-AC6B-6F92541A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74401-D8BF-42E1-9299-0435F916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577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63255C-4851-42BC-BB92-42C6D1DC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6767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STOP AI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6C3733-2598-4602-A458-E799674D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386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simpler hub performs as well with less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65F66-33D2-4570-9808-9EA28D0E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81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Three-month 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5FD70-342E-4CDE-BA06-AFDAFB5C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943600"/>
            <a:ext cx="438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7BA4F-C779-4C79-97B3-5099D8FF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1505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Month 1  Baseline and content     Month 2  Guided use     Month 3  Compare outcomes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95C71-795D-4193-9819-CCB00A27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32EC5F-4F69-46F4-8676-D2BD8362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ACTIVITY 3</a:t>
            </a:r>
          </a:p>
        </p:txBody>
      </p:sp>
    </p:spTree>
    <p:extLst>
      <p:ext uri="{BB962C8B-B14F-4D97-AF65-F5344CB8AC3E}">
        <p14:creationId xmlns:p14="http://schemas.microsoft.com/office/powerpoint/2010/main" val="2461711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02581-8F25-49E0-B5A8-6842E723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243D5-FFA4-4F6C-A0D5-490D9076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Ordered Product Backlog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18BAF-FE5E-45C7-AE43-4FCD7780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items establish trusted content before advanced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97387-40A5-4B75-9AA9-5BC7C893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A1C28-C06F-467F-A101-F3CFCC50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D9BAB-CA97-41AB-A6AA-A04CE0DAD74E}"/>
              </a:ext>
            </a:extLst>
          </p:cNvPr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111252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5286375"/>
                <a:gridCol w="2000250"/>
                <a:gridCol w="3076575"/>
              </a:tblGrid>
              <a:tr h="419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Backlog item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Type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 now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Approved content model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Foundation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Programme and request context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Procedure and next-step checklist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Core value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department and contact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Safe escalation and case owner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Structured request template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Content expiry and review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Currency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 test set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Discovery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Request analytics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Technical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Case status visibility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Less follow-up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Privacy and retention controls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Integrity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Conversational AI layer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Technical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Later option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8736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FB385-233C-4D4B-AC91-80DCDF9C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B145F-758F-4A93-B006-44687A5C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Acceptance criteria for the top four items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41395-9EAE-44F3-AD3E-112B8EFA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Each item has an observable normal flow and a clear safety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F7570-B819-4F0E-81E2-41F1B512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497C9-2932-4BFD-8509-4FF177CD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5D125-3BE0-4921-B269-90E84854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18DBA-EA48-44F8-A3EF-CB9C588A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01  Approved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99C67-45B0-4CE4-8292-249958E6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 guidance item is proposed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staff publish it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it has a source, owner, programme and review 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2823D-82D6-4F62-9F31-3CBA4A02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3BC1E-54DA-4C9F-9591-E9E73B2D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02  Request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F7664-442F-449D-9ED3-3304419D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 student starts a request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programme and category are selected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only applicable guidance appears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7431A-7298-4358-9836-D51CD101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E9772-4DF5-4269-B395-FD8AF9B2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03  Procedure checklist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7D85C-3741-4F76-9662-6F880024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approved guidance matches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the student opens the result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required steps and documents are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1D63E-1724-41E3-9B18-744688CA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5A1A6-5108-4764-969D-64EAFA5A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04  Correct routing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A0CC3-581B-4077-87F8-7F3EE5AC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the case needs staff help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the student submits it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the responsible unit and expected response are shown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EEE31-BAA1-43AF-9A9F-0126AC10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C9F37E-6C48-4D1C-A1CF-08905DD9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Shared safety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69FB7-DED7-4072-A116-FD0EDE48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14950"/>
            <a:ext cx="871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If approved guidance is missing or conflicting, the product stops and routes the request to staff. It does not infer an academic or financial decision.</a:t>
            </a:r>
          </a:p>
        </p:txBody>
      </p:sp>
    </p:spTree>
    <p:extLst>
      <p:ext uri="{BB962C8B-B14F-4D97-AF65-F5344CB8AC3E}">
        <p14:creationId xmlns:p14="http://schemas.microsoft.com/office/powerpoint/2010/main" val="7304009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56567A-6565-43FC-90CB-CB9C02D2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3B6B3-E3F6-46D7-8742-B05E382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Sprint Goal and two-week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65A64-D815-4B43-A67E-3E923F24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Sprint creates a usable guidance and routing slice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1EB3F-5843-4926-8058-9BC2B037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1F1A8-7CDB-476E-93A9-0F9F857F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60058-479B-4787-BED6-AD4266B7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686F5-9060-452B-BF97-38B8CFB6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SPRINT 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57605-F89D-4BD8-A787-B9AA442C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24025"/>
            <a:ext cx="881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student selects a request, sees a verified procedure and reaches the responsible unit when staff help is required.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27FC9-A5F0-4FAA-99BC-5A99DCD2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9525">
            <a:solidFill>
              <a:srgbClr val="18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62484-AA11-47B4-A782-DF9C4F99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DAYS 1-2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0CDAE-D91E-4E40-A768-4076C259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Audit enquiries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confirm taxonomy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04459-56E0-4E73-B293-B3940001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11E45-D3AB-4AB5-9536-D9D18798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DAYS 3-4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90BC1-5D46-418B-A841-0FC51E25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Structure guidance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content ownership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D1C65-8FE5-4220-9681-CAE283EF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1DEE2-C54A-4B76-A49C-88D38C47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DAYS 5-7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FDD0A-3EE8-40E2-B12B-63CAA30F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Build the HTML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guidance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A08CF-E96C-4386-8BF0-FF210959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701B6E-CC3C-452F-B48F-F907A7C5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DAYS 8-9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4877AD-F818-4A44-91EE-91F2D8D4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Run QA and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student usability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514BF-5BB2-4FF1-9567-545CD518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7E6858-CBBF-482D-9B63-42D59037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DAY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4D2334-CFAA-40F4-9AA1-77871E5B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Review evidence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update backlog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4B293E-0413-48C2-908E-4F2874E6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Selected backlog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12142B-B4F1-4E05-9FA5-B96CECAD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Items 1-5 plus the initial accuracy test 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7BAF7E-D37E-4860-9299-F5A4900E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Main dependencies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1BA0CB-3B81-4875-9B97-6A0C133A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530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Approved procedures, staff reviewers and access to de-identified enquiry patterns</a:t>
            </a:r>
          </a:p>
        </p:txBody>
      </p:sp>
    </p:spTree>
    <p:extLst>
      <p:ext uri="{BB962C8B-B14F-4D97-AF65-F5344CB8AC3E}">
        <p14:creationId xmlns:p14="http://schemas.microsoft.com/office/powerpoint/2010/main" val="11840271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C7C9E9-F8D5-4EF6-B723-87587E0A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D3880-696E-4BB3-8914-EA6DC67F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Sprint capacity and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72DE7-095C-4EE4-B8AA-B2919807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Four members contribute 40 hours each across a 160-hour forecast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D6BFD-ADF0-45EA-AB72-9A49163D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617B1-EF77-4604-9279-EBAB2DE9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B02F879-6B6B-44CF-9437-BE5AA920FE04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5572125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270894a26942c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50EFB-E287-4150-B2C4-95A5980B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160 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1CE0F-7502-4595-9199-D998CFF4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4 people × 10 working days × 4 hours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428B4-784F-4ED2-98C4-EF7A878B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analytics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28B10-3678-4873-9C5E-9C55F54F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8610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Usage audit, enquiry categories and evidence 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089E8-D64E-4002-8839-18A5CE2A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909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03CA0-E50B-4765-BBE5-8491A5C3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43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Development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F83EA-ECFB-4F1A-922A-38FF7BD3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4332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HTML prototype and technical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E156A-026D-4E8D-A1EF-60127601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A0E58-9020-435B-9C6D-80BC4455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QA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A58C4-D1A7-4B26-B4C1-AE9158C0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0055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Acceptance testing and user-flow improvement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42D90-C306-45FB-A2BB-F62C54C1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D3ADD-70DC-44FD-A819-F2596359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57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Content and L&amp;D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25DB5-FFD0-48D2-A29F-FBA2FBF8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5777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Knowledge inputs and onboarding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76688B-C531-4158-B4E2-A8C89828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626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49744-C5AA-43EC-BD52-55A376F4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674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Forecast risk: staff review or missing procedures may reduce the number of finished backlog items.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7F3503-ED3A-4EE3-AEA9-AC24338A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BAF99-26CC-436E-B79A-CBCD3AE2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ACTIVITY 5</a:t>
            </a:r>
          </a:p>
        </p:txBody>
      </p:sp>
    </p:spTree>
    <p:extLst>
      <p:ext uri="{BB962C8B-B14F-4D97-AF65-F5344CB8AC3E}">
        <p14:creationId xmlns:p14="http://schemas.microsoft.com/office/powerpoint/2010/main" val="179491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CB0662-1FB7-4BDC-A09D-424C20F1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CHECKPOINT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854B4-8AEC-4198-B2DB-BEFDED08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Five activities produce one testable product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BA53B-4E3E-4C8A-9F3B-BE3C5EB7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team enters the pilot with explicit ownership, evidence needs and decision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2CD70-744D-4DC5-A4F8-43E9A23F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52E0B-5A08-48EA-9563-40264B47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E0E8D-691C-471C-B47C-D322A1B4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34828-8619-4880-8E79-87B876E0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4DE02-B133-4B0A-B11B-C24740B4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Continuing support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C4946-681B-4C3A-B3B1-301A1148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21A2E-34E0-4BDC-BF48-833DA20F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C96B0-5B71-420E-AF4A-08884148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CDC60-5655-434F-99FC-0F6CB7F9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Better completion with less follow-up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367BF-0536-4871-ABEE-E4BC9F9C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F1B58-1A2F-45F5-A384-A4E1E0DA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ADE1A-B309-4C95-931E-B615FE24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BACCF-5958-4AB2-8C6A-0687C560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30 students, three programmes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18BE2-10AA-4AF1-9C4F-C8401664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83D36E-278C-4325-B9C5-66D9570D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F8C586-BF80-4246-8F45-7A8384AA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BACKLOG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F6C7B6-884D-433C-917D-7E0694C8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Trusted content before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DBF2C-F6B4-4FDB-9812-05281D93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37A339-9C94-4A3D-9027-84BA0452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4EF93B-17C7-41E6-BCB9-1C1065A9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SPRINT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A79434-B344-48C6-B1EB-951110DC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160-hour two-week forecast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9D0541-EEE8-416C-B146-CB6FE46B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111252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87C3B6-BE71-4776-A219-EB3BB347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DECISION REQUEST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358585-165D-4AF6-BF56-B3137A89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Approve a three-month HTML pilot that measures demand, routing quality, repeat contact and staff effort before any investment in live integration or autonomous AI.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B40221-6C0A-49CC-9594-BCE3D514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69C81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99F964-411C-43CF-B879-9AD6B069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14925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CONTINUE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BA46D3-3EE1-461D-89ED-86CF2BC4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482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Evidence thresholds met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D22728-6691-407F-820A-761B8557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95875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181287-8EF5-46E0-AB23-5CC93DF7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114925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ADAPT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0DFF4F-66E6-4CA8-ACEC-ED7418AD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0482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Workflow or content needs repair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57F135-C550-4201-A77C-DAF2C569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CF935D-0A8A-41D1-A3EB-81F79247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114925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STOP AI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16F148-27A3-4C89-AD9B-804FABF6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Simpler guidance hub performs as well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C6BFF8-2485-4622-8E2A-542A8EE7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Next evidence: weekly enquiry volume, routing baseline, repeat-contact baseline and staff handling time.</a:t>
            </a:r>
          </a:p>
        </p:txBody>
      </p:sp>
    </p:spTree>
    <p:extLst>
      <p:ext uri="{BB962C8B-B14F-4D97-AF65-F5344CB8AC3E}">
        <p14:creationId xmlns:p14="http://schemas.microsoft.com/office/powerpoint/2010/main" val="305083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2026-10-14T06:20:59.3720000Z</dcterms:created>
  <dcterms:modified xsi:type="dcterms:W3CDTF">2026-10-14T06:20:59.3720000Z</dcterms:modified>
</coreProperties>
</file>